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64" r:id="rId5"/>
    <p:sldId id="265" r:id="rId6"/>
    <p:sldId id="266" r:id="rId7"/>
    <p:sldId id="283" r:id="rId8"/>
    <p:sldId id="284" r:id="rId9"/>
    <p:sldId id="285" r:id="rId10"/>
    <p:sldId id="268" r:id="rId11"/>
    <p:sldId id="267" r:id="rId12"/>
    <p:sldId id="269" r:id="rId13"/>
    <p:sldId id="271" r:id="rId14"/>
    <p:sldId id="270" r:id="rId15"/>
    <p:sldId id="272" r:id="rId16"/>
    <p:sldId id="273" r:id="rId17"/>
    <p:sldId id="274" r:id="rId18"/>
    <p:sldId id="276" r:id="rId19"/>
    <p:sldId id="278" r:id="rId20"/>
    <p:sldId id="282" r:id="rId21"/>
    <p:sldId id="279" r:id="rId22"/>
    <p:sldId id="280" r:id="rId23"/>
    <p:sldId id="261" r:id="rId24"/>
    <p:sldId id="281" r:id="rId25"/>
    <p:sldId id="262" r:id="rId26"/>
    <p:sldId id="260" r:id="rId27"/>
  </p:sldIdLst>
  <p:sldSz cx="12192000" cy="6858000"/>
  <p:notesSz cx="6858000" cy="9144000"/>
  <p:embeddedFontLst>
    <p:embeddedFont>
      <p:font typeface="Proxima Nova" panose="020B060402020202020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C398C4-33EA-4921-96A3-A8E874C48CE5}" v="1044" dt="2025-11-07T12:22:35.261"/>
    <p1510:client id="{B58B4E6A-5B40-BE6E-1A9C-26E45F1EDF2E}" v="25" dt="2025-11-07T10:28:08.586"/>
    <p1510:client id="{DC6946E6-70DD-42F5-AC9C-A82AA1C76D74}" v="348" dt="2025-11-07T12:31:36.689"/>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22"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9544EA-7C8C-4EAF-8B9F-3D15AC64CBAE}" type="doc">
      <dgm:prSet loTypeId="urn:microsoft.com/office/officeart/2005/8/layout/rings+Icon" loCatId="officeonline" qsTypeId="urn:microsoft.com/office/officeart/2005/8/quickstyle/simple2" qsCatId="simple" csTypeId="urn:microsoft.com/office/officeart/2005/8/colors/colorful5" csCatId="colorful"/>
      <dgm:spPr/>
      <dgm:t>
        <a:bodyPr/>
        <a:lstStyle/>
        <a:p>
          <a:endParaRPr lang="en-IN"/>
        </a:p>
      </dgm:t>
    </dgm:pt>
    <dgm:pt modelId="{C43E1653-7434-4A7D-8D5E-90C37B293829}">
      <dgm:prSet/>
      <dgm:spPr/>
      <dgm:t>
        <a:bodyPr/>
        <a:lstStyle/>
        <a:p>
          <a:r>
            <a:rPr lang="en-IN" b="0" i="0"/>
            <a:t>Small and imbalanced datasets limit model generalizability.</a:t>
          </a:r>
          <a:endParaRPr lang="en-IN"/>
        </a:p>
      </dgm:t>
    </dgm:pt>
    <dgm:pt modelId="{C5BF6E20-3FB8-4B72-8CA3-58924C63213D}" type="parTrans" cxnId="{52728441-8246-4022-B0CE-08F1DFD244A6}">
      <dgm:prSet/>
      <dgm:spPr/>
      <dgm:t>
        <a:bodyPr/>
        <a:lstStyle/>
        <a:p>
          <a:endParaRPr lang="en-IN"/>
        </a:p>
      </dgm:t>
    </dgm:pt>
    <dgm:pt modelId="{C08BD3A6-0702-4428-9067-6C3FA837DCD5}" type="sibTrans" cxnId="{52728441-8246-4022-B0CE-08F1DFD244A6}">
      <dgm:prSet/>
      <dgm:spPr/>
      <dgm:t>
        <a:bodyPr/>
        <a:lstStyle/>
        <a:p>
          <a:endParaRPr lang="en-IN"/>
        </a:p>
      </dgm:t>
    </dgm:pt>
    <dgm:pt modelId="{B88D81B9-FB16-4401-AFBC-9EE77DB02543}">
      <dgm:prSet/>
      <dgm:spPr/>
      <dgm:t>
        <a:bodyPr/>
        <a:lstStyle/>
        <a:p>
          <a:r>
            <a:rPr lang="en-IN" b="0" i="0"/>
            <a:t>Heavy reliance on single datasets without external validation.</a:t>
          </a:r>
          <a:endParaRPr lang="en-IN"/>
        </a:p>
      </dgm:t>
    </dgm:pt>
    <dgm:pt modelId="{9235B75C-525A-468E-91AE-26590372CAAE}" type="parTrans" cxnId="{067C105B-EE83-46E9-AD46-5DF033EAF59D}">
      <dgm:prSet/>
      <dgm:spPr/>
      <dgm:t>
        <a:bodyPr/>
        <a:lstStyle/>
        <a:p>
          <a:endParaRPr lang="en-IN"/>
        </a:p>
      </dgm:t>
    </dgm:pt>
    <dgm:pt modelId="{2D953451-6EBE-49FD-980C-CD82DF4D39CC}" type="sibTrans" cxnId="{067C105B-EE83-46E9-AD46-5DF033EAF59D}">
      <dgm:prSet/>
      <dgm:spPr/>
      <dgm:t>
        <a:bodyPr/>
        <a:lstStyle/>
        <a:p>
          <a:endParaRPr lang="en-IN"/>
        </a:p>
      </dgm:t>
    </dgm:pt>
    <dgm:pt modelId="{004ACBF8-CDEE-4CAD-B7EC-C1C7FF9F9A25}">
      <dgm:prSet/>
      <dgm:spPr/>
      <dgm:t>
        <a:bodyPr/>
        <a:lstStyle/>
        <a:p>
          <a:r>
            <a:rPr lang="en-IN" b="0" i="0"/>
            <a:t>Gender and regional bias reduce model fairness and transferability.</a:t>
          </a:r>
          <a:endParaRPr lang="en-IN"/>
        </a:p>
      </dgm:t>
    </dgm:pt>
    <dgm:pt modelId="{EB9612A9-F377-4A27-94C7-E6A6AB84C7B1}" type="parTrans" cxnId="{5A7E768A-0827-4940-8BC4-99D3151BEA29}">
      <dgm:prSet/>
      <dgm:spPr/>
      <dgm:t>
        <a:bodyPr/>
        <a:lstStyle/>
        <a:p>
          <a:endParaRPr lang="en-IN"/>
        </a:p>
      </dgm:t>
    </dgm:pt>
    <dgm:pt modelId="{B0B74F6A-420A-4C86-AD92-AD7C52728BF3}" type="sibTrans" cxnId="{5A7E768A-0827-4940-8BC4-99D3151BEA29}">
      <dgm:prSet/>
      <dgm:spPr/>
      <dgm:t>
        <a:bodyPr/>
        <a:lstStyle/>
        <a:p>
          <a:endParaRPr lang="en-IN"/>
        </a:p>
      </dgm:t>
    </dgm:pt>
    <dgm:pt modelId="{5F30A4F9-601A-4907-A638-0D3BA5DA07EB}">
      <dgm:prSet/>
      <dgm:spPr/>
      <dgm:t>
        <a:bodyPr/>
        <a:lstStyle/>
        <a:p>
          <a:r>
            <a:rPr lang="en-IN" b="0" i="0"/>
            <a:t>Missing lifestyle, genetic, medication, and socioeconomic data weaken predictions.</a:t>
          </a:r>
          <a:endParaRPr lang="en-IN"/>
        </a:p>
      </dgm:t>
    </dgm:pt>
    <dgm:pt modelId="{F82604B1-C2D2-48AF-8ACB-62CA888EAB63}" type="parTrans" cxnId="{201153D3-84A6-41EF-87AA-2F17234A2F7B}">
      <dgm:prSet/>
      <dgm:spPr/>
      <dgm:t>
        <a:bodyPr/>
        <a:lstStyle/>
        <a:p>
          <a:endParaRPr lang="en-IN"/>
        </a:p>
      </dgm:t>
    </dgm:pt>
    <dgm:pt modelId="{FD6D75A9-42B3-4CDE-BEF3-12E9F8A0E3D4}" type="sibTrans" cxnId="{201153D3-84A6-41EF-87AA-2F17234A2F7B}">
      <dgm:prSet/>
      <dgm:spPr/>
      <dgm:t>
        <a:bodyPr/>
        <a:lstStyle/>
        <a:p>
          <a:endParaRPr lang="en-IN"/>
        </a:p>
      </dgm:t>
    </dgm:pt>
    <dgm:pt modelId="{BCD8DC4E-5AA5-410F-B04B-659EDEEC9D9B}">
      <dgm:prSet/>
      <dgm:spPr/>
      <dgm:t>
        <a:bodyPr/>
        <a:lstStyle/>
        <a:p>
          <a:r>
            <a:rPr lang="en-IN" b="0" i="0"/>
            <a:t>Narrow feature sets and limited data diversity restrict model performance.</a:t>
          </a:r>
          <a:endParaRPr lang="en-IN"/>
        </a:p>
      </dgm:t>
    </dgm:pt>
    <dgm:pt modelId="{48492282-4BB7-4D3B-9031-7D2DAF97DCE6}" type="parTrans" cxnId="{BD4A80E1-DEA9-408A-A2CC-909F23CE0E92}">
      <dgm:prSet/>
      <dgm:spPr/>
      <dgm:t>
        <a:bodyPr/>
        <a:lstStyle/>
        <a:p>
          <a:endParaRPr lang="en-IN"/>
        </a:p>
      </dgm:t>
    </dgm:pt>
    <dgm:pt modelId="{28ACE369-99BC-481F-B4CD-846EE7CC9021}" type="sibTrans" cxnId="{BD4A80E1-DEA9-408A-A2CC-909F23CE0E92}">
      <dgm:prSet/>
      <dgm:spPr/>
      <dgm:t>
        <a:bodyPr/>
        <a:lstStyle/>
        <a:p>
          <a:endParaRPr lang="en-IN"/>
        </a:p>
      </dgm:t>
    </dgm:pt>
    <dgm:pt modelId="{5E7B5F13-F01D-4A44-84C7-69E0DE743338}">
      <dgm:prSet/>
      <dgm:spPr/>
      <dgm:t>
        <a:bodyPr/>
        <a:lstStyle/>
        <a:p>
          <a:r>
            <a:rPr lang="en-IN" b="0" i="0"/>
            <a:t>Data quality issues such as missing or duplicate records affect reliability.</a:t>
          </a:r>
          <a:endParaRPr lang="en-IN"/>
        </a:p>
      </dgm:t>
    </dgm:pt>
    <dgm:pt modelId="{C1B96AB6-0E3B-4E38-BD3F-10FBF7E107EC}" type="parTrans" cxnId="{FA0AD45D-0413-4251-BB4D-23CB77C02634}">
      <dgm:prSet/>
      <dgm:spPr/>
      <dgm:t>
        <a:bodyPr/>
        <a:lstStyle/>
        <a:p>
          <a:endParaRPr lang="en-IN"/>
        </a:p>
      </dgm:t>
    </dgm:pt>
    <dgm:pt modelId="{5DEBD890-5DFB-4B05-8AF5-7B606AB21F05}" type="sibTrans" cxnId="{FA0AD45D-0413-4251-BB4D-23CB77C02634}">
      <dgm:prSet/>
      <dgm:spPr/>
      <dgm:t>
        <a:bodyPr/>
        <a:lstStyle/>
        <a:p>
          <a:endParaRPr lang="en-IN"/>
        </a:p>
      </dgm:t>
    </dgm:pt>
    <dgm:pt modelId="{2E7F722F-3EDA-484A-A986-430F41B6297E}">
      <dgm:prSet/>
      <dgm:spPr/>
      <dgm:t>
        <a:bodyPr/>
        <a:lstStyle/>
        <a:p>
          <a:r>
            <a:rPr lang="en-IN" b="0" i="0"/>
            <a:t>Black-box models lack interpretability for clinical decision-making.</a:t>
          </a:r>
          <a:endParaRPr lang="en-IN"/>
        </a:p>
      </dgm:t>
    </dgm:pt>
    <dgm:pt modelId="{21FA4234-A8D2-4B51-9616-7372F255C896}" type="parTrans" cxnId="{F58B516B-24BF-4EB8-A29B-05F28A8A0BB6}">
      <dgm:prSet/>
      <dgm:spPr/>
      <dgm:t>
        <a:bodyPr/>
        <a:lstStyle/>
        <a:p>
          <a:endParaRPr lang="en-IN"/>
        </a:p>
      </dgm:t>
    </dgm:pt>
    <dgm:pt modelId="{04D73E4D-1DEE-4477-87F9-321162DE1E5A}" type="sibTrans" cxnId="{F58B516B-24BF-4EB8-A29B-05F28A8A0BB6}">
      <dgm:prSet/>
      <dgm:spPr/>
      <dgm:t>
        <a:bodyPr/>
        <a:lstStyle/>
        <a:p>
          <a:endParaRPr lang="en-IN"/>
        </a:p>
      </dgm:t>
    </dgm:pt>
    <dgm:pt modelId="{70AACE01-9352-4FA7-827E-2A5EDBF5FD26}">
      <dgm:prSet/>
      <dgm:spPr/>
      <dgm:t>
        <a:bodyPr/>
        <a:lstStyle/>
        <a:p>
          <a:endParaRPr lang="en-IN"/>
        </a:p>
      </dgm:t>
    </dgm:pt>
    <dgm:pt modelId="{EBC74858-CED2-44B1-8AA8-08B47A044580}" type="parTrans" cxnId="{08CE2B6E-7BF4-4135-AF86-D0CA425975EE}">
      <dgm:prSet/>
      <dgm:spPr/>
      <dgm:t>
        <a:bodyPr/>
        <a:lstStyle/>
        <a:p>
          <a:endParaRPr lang="en-IN"/>
        </a:p>
      </dgm:t>
    </dgm:pt>
    <dgm:pt modelId="{DC42D254-3830-472F-9AF2-325921505CC9}" type="sibTrans" cxnId="{08CE2B6E-7BF4-4135-AF86-D0CA425975EE}">
      <dgm:prSet/>
      <dgm:spPr/>
      <dgm:t>
        <a:bodyPr/>
        <a:lstStyle/>
        <a:p>
          <a:endParaRPr lang="en-IN"/>
        </a:p>
      </dgm:t>
    </dgm:pt>
    <dgm:pt modelId="{E499017B-F8A2-4D68-8C1B-27F089266518}" type="pres">
      <dgm:prSet presAssocID="{B09544EA-7C8C-4EAF-8B9F-3D15AC64CBAE}" presName="Name0" presStyleCnt="0">
        <dgm:presLayoutVars>
          <dgm:chMax val="7"/>
          <dgm:dir/>
          <dgm:resizeHandles val="exact"/>
        </dgm:presLayoutVars>
      </dgm:prSet>
      <dgm:spPr/>
    </dgm:pt>
    <dgm:pt modelId="{B87F8CA2-510F-4A23-8FD8-422E9A6F1AA3}" type="pres">
      <dgm:prSet presAssocID="{B09544EA-7C8C-4EAF-8B9F-3D15AC64CBAE}" presName="ellipse1" presStyleLbl="vennNode1" presStyleIdx="0" presStyleCnt="7">
        <dgm:presLayoutVars>
          <dgm:bulletEnabled val="1"/>
        </dgm:presLayoutVars>
      </dgm:prSet>
      <dgm:spPr/>
    </dgm:pt>
    <dgm:pt modelId="{256C6B31-802A-4A13-AA76-44D51AD06E88}" type="pres">
      <dgm:prSet presAssocID="{B09544EA-7C8C-4EAF-8B9F-3D15AC64CBAE}" presName="ellipse2" presStyleLbl="vennNode1" presStyleIdx="1" presStyleCnt="7">
        <dgm:presLayoutVars>
          <dgm:bulletEnabled val="1"/>
        </dgm:presLayoutVars>
      </dgm:prSet>
      <dgm:spPr/>
    </dgm:pt>
    <dgm:pt modelId="{193F56F6-EAE4-43C2-AF5E-1F9C941B4588}" type="pres">
      <dgm:prSet presAssocID="{B09544EA-7C8C-4EAF-8B9F-3D15AC64CBAE}" presName="ellipse3" presStyleLbl="vennNode1" presStyleIdx="2" presStyleCnt="7">
        <dgm:presLayoutVars>
          <dgm:bulletEnabled val="1"/>
        </dgm:presLayoutVars>
      </dgm:prSet>
      <dgm:spPr/>
    </dgm:pt>
    <dgm:pt modelId="{58847C8A-B334-45D0-B0B3-8E6A5E694B84}" type="pres">
      <dgm:prSet presAssocID="{B09544EA-7C8C-4EAF-8B9F-3D15AC64CBAE}" presName="ellipse4" presStyleLbl="vennNode1" presStyleIdx="3" presStyleCnt="7">
        <dgm:presLayoutVars>
          <dgm:bulletEnabled val="1"/>
        </dgm:presLayoutVars>
      </dgm:prSet>
      <dgm:spPr/>
    </dgm:pt>
    <dgm:pt modelId="{103BD8B0-CC86-41DC-BC88-A85E466EFCF1}" type="pres">
      <dgm:prSet presAssocID="{B09544EA-7C8C-4EAF-8B9F-3D15AC64CBAE}" presName="ellipse5" presStyleLbl="vennNode1" presStyleIdx="4" presStyleCnt="7">
        <dgm:presLayoutVars>
          <dgm:bulletEnabled val="1"/>
        </dgm:presLayoutVars>
      </dgm:prSet>
      <dgm:spPr/>
    </dgm:pt>
    <dgm:pt modelId="{7FD4EBCE-D4CC-4244-91C3-4643A51D7A18}" type="pres">
      <dgm:prSet presAssocID="{B09544EA-7C8C-4EAF-8B9F-3D15AC64CBAE}" presName="ellipse6" presStyleLbl="vennNode1" presStyleIdx="5" presStyleCnt="7">
        <dgm:presLayoutVars>
          <dgm:bulletEnabled val="1"/>
        </dgm:presLayoutVars>
      </dgm:prSet>
      <dgm:spPr/>
    </dgm:pt>
    <dgm:pt modelId="{072AAAFD-480E-486D-A829-B5A2AFB0F2AD}" type="pres">
      <dgm:prSet presAssocID="{B09544EA-7C8C-4EAF-8B9F-3D15AC64CBAE}" presName="ellipse7" presStyleLbl="vennNode1" presStyleIdx="6" presStyleCnt="7">
        <dgm:presLayoutVars>
          <dgm:bulletEnabled val="1"/>
        </dgm:presLayoutVars>
      </dgm:prSet>
      <dgm:spPr/>
    </dgm:pt>
  </dgm:ptLst>
  <dgm:cxnLst>
    <dgm:cxn modelId="{002A7B2D-5CBC-4052-BB58-40B73E615187}" type="presOf" srcId="{BCD8DC4E-5AA5-410F-B04B-659EDEEC9D9B}" destId="{103BD8B0-CC86-41DC-BC88-A85E466EFCF1}" srcOrd="0" destOrd="0" presId="urn:microsoft.com/office/officeart/2005/8/layout/rings+Icon"/>
    <dgm:cxn modelId="{067C105B-EE83-46E9-AD46-5DF033EAF59D}" srcId="{B09544EA-7C8C-4EAF-8B9F-3D15AC64CBAE}" destId="{B88D81B9-FB16-4401-AFBC-9EE77DB02543}" srcOrd="1" destOrd="0" parTransId="{9235B75C-525A-468E-91AE-26590372CAAE}" sibTransId="{2D953451-6EBE-49FD-980C-CD82DF4D39CC}"/>
    <dgm:cxn modelId="{FA0AD45D-0413-4251-BB4D-23CB77C02634}" srcId="{B09544EA-7C8C-4EAF-8B9F-3D15AC64CBAE}" destId="{5E7B5F13-F01D-4A44-84C7-69E0DE743338}" srcOrd="5" destOrd="0" parTransId="{C1B96AB6-0E3B-4E38-BD3F-10FBF7E107EC}" sibTransId="{5DEBD890-5DFB-4B05-8AF5-7B606AB21F05}"/>
    <dgm:cxn modelId="{52728441-8246-4022-B0CE-08F1DFD244A6}" srcId="{B09544EA-7C8C-4EAF-8B9F-3D15AC64CBAE}" destId="{C43E1653-7434-4A7D-8D5E-90C37B293829}" srcOrd="0" destOrd="0" parTransId="{C5BF6E20-3FB8-4B72-8CA3-58924C63213D}" sibTransId="{C08BD3A6-0702-4428-9067-6C3FA837DCD5}"/>
    <dgm:cxn modelId="{F58B516B-24BF-4EB8-A29B-05F28A8A0BB6}" srcId="{B09544EA-7C8C-4EAF-8B9F-3D15AC64CBAE}" destId="{2E7F722F-3EDA-484A-A986-430F41B6297E}" srcOrd="6" destOrd="0" parTransId="{21FA4234-A8D2-4B51-9616-7372F255C896}" sibTransId="{04D73E4D-1DEE-4477-87F9-321162DE1E5A}"/>
    <dgm:cxn modelId="{4E2D5E6C-819A-4D85-ADFE-8F0669E572E1}" type="presOf" srcId="{B09544EA-7C8C-4EAF-8B9F-3D15AC64CBAE}" destId="{E499017B-F8A2-4D68-8C1B-27F089266518}" srcOrd="0" destOrd="0" presId="urn:microsoft.com/office/officeart/2005/8/layout/rings+Icon"/>
    <dgm:cxn modelId="{08CE2B6E-7BF4-4135-AF86-D0CA425975EE}" srcId="{B09544EA-7C8C-4EAF-8B9F-3D15AC64CBAE}" destId="{70AACE01-9352-4FA7-827E-2A5EDBF5FD26}" srcOrd="7" destOrd="0" parTransId="{EBC74858-CED2-44B1-8AA8-08B47A044580}" sibTransId="{DC42D254-3830-472F-9AF2-325921505CC9}"/>
    <dgm:cxn modelId="{5A7E768A-0827-4940-8BC4-99D3151BEA29}" srcId="{B09544EA-7C8C-4EAF-8B9F-3D15AC64CBAE}" destId="{004ACBF8-CDEE-4CAD-B7EC-C1C7FF9F9A25}" srcOrd="2" destOrd="0" parTransId="{EB9612A9-F377-4A27-94C7-E6A6AB84C7B1}" sibTransId="{B0B74F6A-420A-4C86-AD92-AD7C52728BF3}"/>
    <dgm:cxn modelId="{9E4128B0-6231-43B2-A7B9-260484026459}" type="presOf" srcId="{C43E1653-7434-4A7D-8D5E-90C37B293829}" destId="{B87F8CA2-510F-4A23-8FD8-422E9A6F1AA3}" srcOrd="0" destOrd="0" presId="urn:microsoft.com/office/officeart/2005/8/layout/rings+Icon"/>
    <dgm:cxn modelId="{EC0522C3-F621-40FE-A8C5-41666B05C279}" type="presOf" srcId="{004ACBF8-CDEE-4CAD-B7EC-C1C7FF9F9A25}" destId="{193F56F6-EAE4-43C2-AF5E-1F9C941B4588}" srcOrd="0" destOrd="0" presId="urn:microsoft.com/office/officeart/2005/8/layout/rings+Icon"/>
    <dgm:cxn modelId="{201153D3-84A6-41EF-87AA-2F17234A2F7B}" srcId="{B09544EA-7C8C-4EAF-8B9F-3D15AC64CBAE}" destId="{5F30A4F9-601A-4907-A638-0D3BA5DA07EB}" srcOrd="3" destOrd="0" parTransId="{F82604B1-C2D2-48AF-8ACB-62CA888EAB63}" sibTransId="{FD6D75A9-42B3-4CDE-BEF3-12E9F8A0E3D4}"/>
    <dgm:cxn modelId="{BD4A80E1-DEA9-408A-A2CC-909F23CE0E92}" srcId="{B09544EA-7C8C-4EAF-8B9F-3D15AC64CBAE}" destId="{BCD8DC4E-5AA5-410F-B04B-659EDEEC9D9B}" srcOrd="4" destOrd="0" parTransId="{48492282-4BB7-4D3B-9031-7D2DAF97DCE6}" sibTransId="{28ACE369-99BC-481F-B4CD-846EE7CC9021}"/>
    <dgm:cxn modelId="{579929E9-8582-41C9-8943-BCC93D544DF0}" type="presOf" srcId="{B88D81B9-FB16-4401-AFBC-9EE77DB02543}" destId="{256C6B31-802A-4A13-AA76-44D51AD06E88}" srcOrd="0" destOrd="0" presId="urn:microsoft.com/office/officeart/2005/8/layout/rings+Icon"/>
    <dgm:cxn modelId="{D07E5DF7-0D21-43FA-A53C-56DE60ADDB52}" type="presOf" srcId="{5F30A4F9-601A-4907-A638-0D3BA5DA07EB}" destId="{58847C8A-B334-45D0-B0B3-8E6A5E694B84}" srcOrd="0" destOrd="0" presId="urn:microsoft.com/office/officeart/2005/8/layout/rings+Icon"/>
    <dgm:cxn modelId="{F4D753F7-4EBF-4305-BF85-4953E253A907}" type="presOf" srcId="{5E7B5F13-F01D-4A44-84C7-69E0DE743338}" destId="{7FD4EBCE-D4CC-4244-91C3-4643A51D7A18}" srcOrd="0" destOrd="0" presId="urn:microsoft.com/office/officeart/2005/8/layout/rings+Icon"/>
    <dgm:cxn modelId="{310769F8-5B31-417F-ACBB-9EE8F99C17C4}" type="presOf" srcId="{2E7F722F-3EDA-484A-A986-430F41B6297E}" destId="{072AAAFD-480E-486D-A829-B5A2AFB0F2AD}" srcOrd="0" destOrd="0" presId="urn:microsoft.com/office/officeart/2005/8/layout/rings+Icon"/>
    <dgm:cxn modelId="{5AA957C5-7EB4-45F6-B891-A0EDB7411792}" type="presParOf" srcId="{E499017B-F8A2-4D68-8C1B-27F089266518}" destId="{B87F8CA2-510F-4A23-8FD8-422E9A6F1AA3}" srcOrd="0" destOrd="0" presId="urn:microsoft.com/office/officeart/2005/8/layout/rings+Icon"/>
    <dgm:cxn modelId="{099EF10C-7C5B-4570-A74A-AA903273749D}" type="presParOf" srcId="{E499017B-F8A2-4D68-8C1B-27F089266518}" destId="{256C6B31-802A-4A13-AA76-44D51AD06E88}" srcOrd="1" destOrd="0" presId="urn:microsoft.com/office/officeart/2005/8/layout/rings+Icon"/>
    <dgm:cxn modelId="{08D22A1C-5FCB-4363-AAD2-DDB8AF5426FE}" type="presParOf" srcId="{E499017B-F8A2-4D68-8C1B-27F089266518}" destId="{193F56F6-EAE4-43C2-AF5E-1F9C941B4588}" srcOrd="2" destOrd="0" presId="urn:microsoft.com/office/officeart/2005/8/layout/rings+Icon"/>
    <dgm:cxn modelId="{5D92A34F-D3EC-41F2-A0E5-33B6AF6E7F8F}" type="presParOf" srcId="{E499017B-F8A2-4D68-8C1B-27F089266518}" destId="{58847C8A-B334-45D0-B0B3-8E6A5E694B84}" srcOrd="3" destOrd="0" presId="urn:microsoft.com/office/officeart/2005/8/layout/rings+Icon"/>
    <dgm:cxn modelId="{14AD245F-DD79-4733-B706-CFB841AA1164}" type="presParOf" srcId="{E499017B-F8A2-4D68-8C1B-27F089266518}" destId="{103BD8B0-CC86-41DC-BC88-A85E466EFCF1}" srcOrd="4" destOrd="0" presId="urn:microsoft.com/office/officeart/2005/8/layout/rings+Icon"/>
    <dgm:cxn modelId="{E3B1F2FD-99B4-4BAF-87B3-AF7BA2FC6053}" type="presParOf" srcId="{E499017B-F8A2-4D68-8C1B-27F089266518}" destId="{7FD4EBCE-D4CC-4244-91C3-4643A51D7A18}" srcOrd="5" destOrd="0" presId="urn:microsoft.com/office/officeart/2005/8/layout/rings+Icon"/>
    <dgm:cxn modelId="{87CB1503-0D4E-46FB-AA0A-88DE4F1837EA}" type="presParOf" srcId="{E499017B-F8A2-4D68-8C1B-27F089266518}" destId="{072AAAFD-480E-486D-A829-B5A2AFB0F2AD}" srcOrd="6" destOrd="0" presId="urn:microsoft.com/office/officeart/2005/8/layout/rings+Icon"/>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7A3155-A71F-4D7A-AA88-6155F77E2FBE}" type="doc">
      <dgm:prSet loTypeId="urn:microsoft.com/office/officeart/2008/layout/VerticalCurvedList" loCatId="list" qsTypeId="urn:microsoft.com/office/officeart/2005/8/quickstyle/simple1" qsCatId="simple" csTypeId="urn:microsoft.com/office/officeart/2005/8/colors/colorful5" csCatId="colorful" phldr="1"/>
      <dgm:spPr/>
      <dgm:t>
        <a:bodyPr/>
        <a:lstStyle/>
        <a:p>
          <a:endParaRPr lang="en-IN"/>
        </a:p>
      </dgm:t>
    </dgm:pt>
    <dgm:pt modelId="{9BE474E0-9D7F-42B0-959A-B220D96F4D01}">
      <dgm:prSet/>
      <dgm:spPr/>
      <dgm:t>
        <a:bodyPr/>
        <a:lstStyle/>
        <a:p>
          <a:r>
            <a:rPr lang="en-IN" b="0" i="0"/>
            <a:t>Programming Language: Python</a:t>
          </a:r>
          <a:endParaRPr lang="en-IN"/>
        </a:p>
      </dgm:t>
    </dgm:pt>
    <dgm:pt modelId="{F74C6B49-70C9-4520-9BAE-1748D18CCD30}" type="parTrans" cxnId="{7C63C7DA-ADE2-4669-BD5E-D47108989835}">
      <dgm:prSet/>
      <dgm:spPr/>
      <dgm:t>
        <a:bodyPr/>
        <a:lstStyle/>
        <a:p>
          <a:endParaRPr lang="en-IN"/>
        </a:p>
      </dgm:t>
    </dgm:pt>
    <dgm:pt modelId="{1AEEC45E-A76A-405A-AFA8-F608FCB7C948}" type="sibTrans" cxnId="{7C63C7DA-ADE2-4669-BD5E-D47108989835}">
      <dgm:prSet/>
      <dgm:spPr/>
      <dgm:t>
        <a:bodyPr/>
        <a:lstStyle/>
        <a:p>
          <a:endParaRPr lang="en-IN"/>
        </a:p>
      </dgm:t>
    </dgm:pt>
    <dgm:pt modelId="{BBE58F06-9882-4D06-9E9B-CBBF96954053}">
      <dgm:prSet/>
      <dgm:spPr/>
      <dgm:t>
        <a:bodyPr/>
        <a:lstStyle/>
        <a:p>
          <a:r>
            <a:rPr lang="en-IN" b="0" i="0"/>
            <a:t>Scikit-learn: For machine learning model development and evaluation</a:t>
          </a:r>
          <a:endParaRPr lang="en-IN"/>
        </a:p>
      </dgm:t>
    </dgm:pt>
    <dgm:pt modelId="{6C46F10B-2A34-45D6-B66A-1B8F962BC0E1}" type="parTrans" cxnId="{3BA1FEBD-9DD2-4C61-922C-ACE3A1C503EA}">
      <dgm:prSet/>
      <dgm:spPr/>
      <dgm:t>
        <a:bodyPr/>
        <a:lstStyle/>
        <a:p>
          <a:endParaRPr lang="en-IN"/>
        </a:p>
      </dgm:t>
    </dgm:pt>
    <dgm:pt modelId="{F9EB8CC7-43B7-4A07-8119-EC2A039A1778}" type="sibTrans" cxnId="{3BA1FEBD-9DD2-4C61-922C-ACE3A1C503EA}">
      <dgm:prSet/>
      <dgm:spPr/>
      <dgm:t>
        <a:bodyPr/>
        <a:lstStyle/>
        <a:p>
          <a:endParaRPr lang="en-IN"/>
        </a:p>
      </dgm:t>
    </dgm:pt>
    <dgm:pt modelId="{BCAC04A4-507A-47B4-9610-2B7224628A2C}">
      <dgm:prSet/>
      <dgm:spPr/>
      <dgm:t>
        <a:bodyPr/>
        <a:lstStyle/>
        <a:p>
          <a:r>
            <a:rPr lang="en-IN" b="0" i="0"/>
            <a:t>Pandas, NumPy: For data preprocessing and manipulation</a:t>
          </a:r>
          <a:endParaRPr lang="en-IN"/>
        </a:p>
      </dgm:t>
    </dgm:pt>
    <dgm:pt modelId="{A6161FC4-534B-4E62-9B8C-187BADB45B19}" type="parTrans" cxnId="{8B1580AF-754D-4A92-A1A5-4929894D3DA8}">
      <dgm:prSet/>
      <dgm:spPr/>
      <dgm:t>
        <a:bodyPr/>
        <a:lstStyle/>
        <a:p>
          <a:endParaRPr lang="en-IN"/>
        </a:p>
      </dgm:t>
    </dgm:pt>
    <dgm:pt modelId="{6AE1E325-5E42-43B8-BED9-9868128D08ED}" type="sibTrans" cxnId="{8B1580AF-754D-4A92-A1A5-4929894D3DA8}">
      <dgm:prSet/>
      <dgm:spPr/>
      <dgm:t>
        <a:bodyPr/>
        <a:lstStyle/>
        <a:p>
          <a:endParaRPr lang="en-IN"/>
        </a:p>
      </dgm:t>
    </dgm:pt>
    <dgm:pt modelId="{2C3C8124-8231-41E7-81D6-93246DEA2737}">
      <dgm:prSet/>
      <dgm:spPr/>
      <dgm:t>
        <a:bodyPr/>
        <a:lstStyle/>
        <a:p>
          <a:r>
            <a:rPr lang="en-IN" b="0" i="0"/>
            <a:t>Matplotlib, Seaborn: For data visualization and performance analysis</a:t>
          </a:r>
          <a:endParaRPr lang="en-IN"/>
        </a:p>
      </dgm:t>
    </dgm:pt>
    <dgm:pt modelId="{88D77977-C715-4077-A5F6-B015D71FEF59}" type="parTrans" cxnId="{8C57BA10-0900-46AC-AB67-380250A68C91}">
      <dgm:prSet/>
      <dgm:spPr/>
      <dgm:t>
        <a:bodyPr/>
        <a:lstStyle/>
        <a:p>
          <a:endParaRPr lang="en-IN"/>
        </a:p>
      </dgm:t>
    </dgm:pt>
    <dgm:pt modelId="{47BE6160-E61A-4592-916A-B0469FCD77B4}" type="sibTrans" cxnId="{8C57BA10-0900-46AC-AB67-380250A68C91}">
      <dgm:prSet/>
      <dgm:spPr/>
      <dgm:t>
        <a:bodyPr/>
        <a:lstStyle/>
        <a:p>
          <a:endParaRPr lang="en-IN"/>
        </a:p>
      </dgm:t>
    </dgm:pt>
    <dgm:pt modelId="{99651EEA-D361-45CA-B606-BA8301ECC1E6}">
      <dgm:prSet/>
      <dgm:spPr/>
      <dgm:t>
        <a:bodyPr/>
        <a:lstStyle/>
        <a:p>
          <a:r>
            <a:rPr lang="en-IN" b="0" i="0"/>
            <a:t>Development Environment: </a:t>
          </a:r>
          <a:r>
            <a:rPr lang="en-IN" b="0" i="0" err="1"/>
            <a:t>Jupyter</a:t>
          </a:r>
          <a:r>
            <a:rPr lang="en-IN" b="0" i="0"/>
            <a:t> Notebook / Google Colab / Kaggle</a:t>
          </a:r>
          <a:endParaRPr lang="en-IN"/>
        </a:p>
      </dgm:t>
    </dgm:pt>
    <dgm:pt modelId="{0A67D57C-E702-4041-853A-284F4B70D444}" type="parTrans" cxnId="{AA073360-DA43-470B-AC0E-5F04523AD9F6}">
      <dgm:prSet/>
      <dgm:spPr/>
      <dgm:t>
        <a:bodyPr/>
        <a:lstStyle/>
        <a:p>
          <a:endParaRPr lang="en-IN"/>
        </a:p>
      </dgm:t>
    </dgm:pt>
    <dgm:pt modelId="{0960EEF6-A6FE-42FB-9200-BDFC50D32A95}" type="sibTrans" cxnId="{AA073360-DA43-470B-AC0E-5F04523AD9F6}">
      <dgm:prSet/>
      <dgm:spPr/>
      <dgm:t>
        <a:bodyPr/>
        <a:lstStyle/>
        <a:p>
          <a:endParaRPr lang="en-IN"/>
        </a:p>
      </dgm:t>
    </dgm:pt>
    <dgm:pt modelId="{94A09D2A-49F4-48B0-B050-7770AF1CD044}">
      <dgm:prSet/>
      <dgm:spPr/>
      <dgm:t>
        <a:bodyPr/>
        <a:lstStyle/>
        <a:p>
          <a:r>
            <a:rPr lang="en-IN" b="0" i="0"/>
            <a:t>Database &amp; Storage: CSV datasets (clinical data)</a:t>
          </a:r>
          <a:endParaRPr lang="en-IN"/>
        </a:p>
      </dgm:t>
    </dgm:pt>
    <dgm:pt modelId="{E4612DA5-47BB-4022-8B03-2C455B0DDEBB}" type="parTrans" cxnId="{E6094EEA-C273-4337-9CD5-A3BC0EDDDC78}">
      <dgm:prSet/>
      <dgm:spPr/>
      <dgm:t>
        <a:bodyPr/>
        <a:lstStyle/>
        <a:p>
          <a:endParaRPr lang="en-IN"/>
        </a:p>
      </dgm:t>
    </dgm:pt>
    <dgm:pt modelId="{9805C7AA-BB39-4221-AD2F-39EFAB39A6EB}" type="sibTrans" cxnId="{E6094EEA-C273-4337-9CD5-A3BC0EDDDC78}">
      <dgm:prSet/>
      <dgm:spPr/>
      <dgm:t>
        <a:bodyPr/>
        <a:lstStyle/>
        <a:p>
          <a:endParaRPr lang="en-IN"/>
        </a:p>
      </dgm:t>
    </dgm:pt>
    <dgm:pt modelId="{212B7DE0-7E5B-479D-87FF-4A5802A7C73C}">
      <dgm:prSet/>
      <dgm:spPr/>
      <dgm:t>
        <a:bodyPr/>
        <a:lstStyle/>
        <a:p>
          <a:endParaRPr lang="en-IN"/>
        </a:p>
      </dgm:t>
    </dgm:pt>
    <dgm:pt modelId="{B3AD580A-4BDF-4345-8994-D49A9AF2C34C}" type="parTrans" cxnId="{1FBB3793-54B0-45B6-B381-C68ED3F10909}">
      <dgm:prSet/>
      <dgm:spPr/>
      <dgm:t>
        <a:bodyPr/>
        <a:lstStyle/>
        <a:p>
          <a:endParaRPr lang="en-IN"/>
        </a:p>
      </dgm:t>
    </dgm:pt>
    <dgm:pt modelId="{A8B0E121-7C0C-4B79-9C29-63CD4670E404}" type="sibTrans" cxnId="{1FBB3793-54B0-45B6-B381-C68ED3F10909}">
      <dgm:prSet/>
      <dgm:spPr/>
      <dgm:t>
        <a:bodyPr/>
        <a:lstStyle/>
        <a:p>
          <a:endParaRPr lang="en-IN"/>
        </a:p>
      </dgm:t>
    </dgm:pt>
    <dgm:pt modelId="{A0E9A7EA-9CAF-4D50-9D8A-F7177A798DA2}">
      <dgm:prSet/>
      <dgm:spPr/>
      <dgm:t>
        <a:bodyPr/>
        <a:lstStyle/>
        <a:p>
          <a:endParaRPr lang="en-IN"/>
        </a:p>
      </dgm:t>
    </dgm:pt>
    <dgm:pt modelId="{38C64FFA-64CF-45E7-A075-FC034C78BDFD}" type="parTrans" cxnId="{0599AA37-1853-4939-8FB7-A8CAA86A4B23}">
      <dgm:prSet/>
      <dgm:spPr/>
      <dgm:t>
        <a:bodyPr/>
        <a:lstStyle/>
        <a:p>
          <a:endParaRPr lang="en-IN"/>
        </a:p>
      </dgm:t>
    </dgm:pt>
    <dgm:pt modelId="{F2884AEF-F022-42CF-87BB-AC730FB976E1}" type="sibTrans" cxnId="{0599AA37-1853-4939-8FB7-A8CAA86A4B23}">
      <dgm:prSet/>
      <dgm:spPr/>
      <dgm:t>
        <a:bodyPr/>
        <a:lstStyle/>
        <a:p>
          <a:endParaRPr lang="en-IN"/>
        </a:p>
      </dgm:t>
    </dgm:pt>
    <dgm:pt modelId="{217098E8-C861-41A5-B457-626B4EC868FD}">
      <dgm:prSet/>
      <dgm:spPr/>
      <dgm:t>
        <a:bodyPr/>
        <a:lstStyle/>
        <a:p>
          <a:r>
            <a:rPr lang="en-IN" b="0" i="0"/>
            <a:t>XGBoost, LightGBM, CatBoost: For gradient boosting algorithms</a:t>
          </a:r>
          <a:endParaRPr lang="en-IN"/>
        </a:p>
      </dgm:t>
    </dgm:pt>
    <dgm:pt modelId="{3BFF312C-9195-4B42-A4EA-83DBE167EB6C}" type="parTrans" cxnId="{EB121DE2-3D5C-4EB9-965E-5BC754C4F81B}">
      <dgm:prSet/>
      <dgm:spPr/>
      <dgm:t>
        <a:bodyPr/>
        <a:lstStyle/>
        <a:p>
          <a:endParaRPr lang="en-IN"/>
        </a:p>
      </dgm:t>
    </dgm:pt>
    <dgm:pt modelId="{D4BD55DC-9ACA-4223-B8CF-173ECF78127B}" type="sibTrans" cxnId="{EB121DE2-3D5C-4EB9-965E-5BC754C4F81B}">
      <dgm:prSet/>
      <dgm:spPr/>
      <dgm:t>
        <a:bodyPr/>
        <a:lstStyle/>
        <a:p>
          <a:endParaRPr lang="en-IN"/>
        </a:p>
      </dgm:t>
    </dgm:pt>
    <dgm:pt modelId="{319FA0AA-AC8B-42E4-9C43-67EEBCE08CEF}" type="pres">
      <dgm:prSet presAssocID="{F77A3155-A71F-4D7A-AA88-6155F77E2FBE}" presName="Name0" presStyleCnt="0">
        <dgm:presLayoutVars>
          <dgm:chMax val="7"/>
          <dgm:chPref val="7"/>
          <dgm:dir/>
        </dgm:presLayoutVars>
      </dgm:prSet>
      <dgm:spPr/>
    </dgm:pt>
    <dgm:pt modelId="{D0EF2483-CB6B-42E0-8918-039A6721B476}" type="pres">
      <dgm:prSet presAssocID="{F77A3155-A71F-4D7A-AA88-6155F77E2FBE}" presName="Name1" presStyleCnt="0"/>
      <dgm:spPr/>
    </dgm:pt>
    <dgm:pt modelId="{EE42B8D9-4AA6-4D59-9CC7-8811C0989B93}" type="pres">
      <dgm:prSet presAssocID="{F77A3155-A71F-4D7A-AA88-6155F77E2FBE}" presName="cycle" presStyleCnt="0"/>
      <dgm:spPr/>
    </dgm:pt>
    <dgm:pt modelId="{AA6B0D77-1D42-443B-A194-866844B2EECC}" type="pres">
      <dgm:prSet presAssocID="{F77A3155-A71F-4D7A-AA88-6155F77E2FBE}" presName="srcNode" presStyleLbl="node1" presStyleIdx="0" presStyleCnt="7"/>
      <dgm:spPr/>
    </dgm:pt>
    <dgm:pt modelId="{C43A88E2-8B25-4B6A-BF21-C1C97C869717}" type="pres">
      <dgm:prSet presAssocID="{F77A3155-A71F-4D7A-AA88-6155F77E2FBE}" presName="conn" presStyleLbl="parChTrans1D2" presStyleIdx="0" presStyleCnt="1"/>
      <dgm:spPr/>
    </dgm:pt>
    <dgm:pt modelId="{FABA9A9B-F6F0-436E-BA5B-0C6E117B9BD7}" type="pres">
      <dgm:prSet presAssocID="{F77A3155-A71F-4D7A-AA88-6155F77E2FBE}" presName="extraNode" presStyleLbl="node1" presStyleIdx="0" presStyleCnt="7"/>
      <dgm:spPr/>
    </dgm:pt>
    <dgm:pt modelId="{6D824689-DB96-4696-8914-6D347D9B5C5F}" type="pres">
      <dgm:prSet presAssocID="{F77A3155-A71F-4D7A-AA88-6155F77E2FBE}" presName="dstNode" presStyleLbl="node1" presStyleIdx="0" presStyleCnt="7"/>
      <dgm:spPr/>
    </dgm:pt>
    <dgm:pt modelId="{0B061D68-B3AF-479E-AA30-35FD5E83147C}" type="pres">
      <dgm:prSet presAssocID="{9BE474E0-9D7F-42B0-959A-B220D96F4D01}" presName="text_1" presStyleLbl="node1" presStyleIdx="0" presStyleCnt="7">
        <dgm:presLayoutVars>
          <dgm:bulletEnabled val="1"/>
        </dgm:presLayoutVars>
      </dgm:prSet>
      <dgm:spPr/>
    </dgm:pt>
    <dgm:pt modelId="{4C21B2DA-F049-4B2B-9D7E-9D3788FBFFA1}" type="pres">
      <dgm:prSet presAssocID="{9BE474E0-9D7F-42B0-959A-B220D96F4D01}" presName="accent_1" presStyleCnt="0"/>
      <dgm:spPr/>
    </dgm:pt>
    <dgm:pt modelId="{AC87B9CB-AB9A-48FC-9AFD-7D06757C2EBA}" type="pres">
      <dgm:prSet presAssocID="{9BE474E0-9D7F-42B0-959A-B220D96F4D01}" presName="accentRepeatNode" presStyleLbl="solidFgAcc1" presStyleIdx="0" presStyleCnt="7"/>
      <dgm:spPr/>
    </dgm:pt>
    <dgm:pt modelId="{A5283706-6694-4059-85B7-EC6EF6530AEB}" type="pres">
      <dgm:prSet presAssocID="{BBE58F06-9882-4D06-9E9B-CBBF96954053}" presName="text_2" presStyleLbl="node1" presStyleIdx="1" presStyleCnt="7">
        <dgm:presLayoutVars>
          <dgm:bulletEnabled val="1"/>
        </dgm:presLayoutVars>
      </dgm:prSet>
      <dgm:spPr/>
    </dgm:pt>
    <dgm:pt modelId="{BBC518D5-43D0-4728-89DB-D6877A11C591}" type="pres">
      <dgm:prSet presAssocID="{BBE58F06-9882-4D06-9E9B-CBBF96954053}" presName="accent_2" presStyleCnt="0"/>
      <dgm:spPr/>
    </dgm:pt>
    <dgm:pt modelId="{66E6C396-60C4-489A-A529-4350777466A9}" type="pres">
      <dgm:prSet presAssocID="{BBE58F06-9882-4D06-9E9B-CBBF96954053}" presName="accentRepeatNode" presStyleLbl="solidFgAcc1" presStyleIdx="1" presStyleCnt="7"/>
      <dgm:spPr/>
    </dgm:pt>
    <dgm:pt modelId="{AF32F265-C746-4BFB-A9DF-4D5C0A79E49B}" type="pres">
      <dgm:prSet presAssocID="{217098E8-C861-41A5-B457-626B4EC868FD}" presName="text_3" presStyleLbl="node1" presStyleIdx="2" presStyleCnt="7">
        <dgm:presLayoutVars>
          <dgm:bulletEnabled val="1"/>
        </dgm:presLayoutVars>
      </dgm:prSet>
      <dgm:spPr/>
    </dgm:pt>
    <dgm:pt modelId="{F5318F66-BC01-4C2D-9907-244B56D3C6A9}" type="pres">
      <dgm:prSet presAssocID="{217098E8-C861-41A5-B457-626B4EC868FD}" presName="accent_3" presStyleCnt="0"/>
      <dgm:spPr/>
    </dgm:pt>
    <dgm:pt modelId="{4CA9011A-5AC8-49FC-810B-9212F1B8AFD5}" type="pres">
      <dgm:prSet presAssocID="{217098E8-C861-41A5-B457-626B4EC868FD}" presName="accentRepeatNode" presStyleLbl="solidFgAcc1" presStyleIdx="2" presStyleCnt="7"/>
      <dgm:spPr/>
    </dgm:pt>
    <dgm:pt modelId="{A9F5289F-422F-482E-BBC8-B6C6463070C8}" type="pres">
      <dgm:prSet presAssocID="{BCAC04A4-507A-47B4-9610-2B7224628A2C}" presName="text_4" presStyleLbl="node1" presStyleIdx="3" presStyleCnt="7">
        <dgm:presLayoutVars>
          <dgm:bulletEnabled val="1"/>
        </dgm:presLayoutVars>
      </dgm:prSet>
      <dgm:spPr/>
    </dgm:pt>
    <dgm:pt modelId="{A99E6CA6-5D95-46FA-BBDE-1068D761A6A8}" type="pres">
      <dgm:prSet presAssocID="{BCAC04A4-507A-47B4-9610-2B7224628A2C}" presName="accent_4" presStyleCnt="0"/>
      <dgm:spPr/>
    </dgm:pt>
    <dgm:pt modelId="{5845709B-FC4A-4C43-AD1A-4BF86107C5E5}" type="pres">
      <dgm:prSet presAssocID="{BCAC04A4-507A-47B4-9610-2B7224628A2C}" presName="accentRepeatNode" presStyleLbl="solidFgAcc1" presStyleIdx="3" presStyleCnt="7"/>
      <dgm:spPr/>
    </dgm:pt>
    <dgm:pt modelId="{A219A944-3416-4B9A-BB62-8EF7EF55A0C4}" type="pres">
      <dgm:prSet presAssocID="{2C3C8124-8231-41E7-81D6-93246DEA2737}" presName="text_5" presStyleLbl="node1" presStyleIdx="4" presStyleCnt="7">
        <dgm:presLayoutVars>
          <dgm:bulletEnabled val="1"/>
        </dgm:presLayoutVars>
      </dgm:prSet>
      <dgm:spPr/>
    </dgm:pt>
    <dgm:pt modelId="{BC22F5AF-EE6F-4F8E-BC1B-22CB26032A77}" type="pres">
      <dgm:prSet presAssocID="{2C3C8124-8231-41E7-81D6-93246DEA2737}" presName="accent_5" presStyleCnt="0"/>
      <dgm:spPr/>
    </dgm:pt>
    <dgm:pt modelId="{9E7299E5-5308-4DD1-9DB1-D913A9BE108C}" type="pres">
      <dgm:prSet presAssocID="{2C3C8124-8231-41E7-81D6-93246DEA2737}" presName="accentRepeatNode" presStyleLbl="solidFgAcc1" presStyleIdx="4" presStyleCnt="7"/>
      <dgm:spPr/>
    </dgm:pt>
    <dgm:pt modelId="{30D01A6E-D51F-47B9-8584-B6FA636CF2CC}" type="pres">
      <dgm:prSet presAssocID="{99651EEA-D361-45CA-B606-BA8301ECC1E6}" presName="text_6" presStyleLbl="node1" presStyleIdx="5" presStyleCnt="7">
        <dgm:presLayoutVars>
          <dgm:bulletEnabled val="1"/>
        </dgm:presLayoutVars>
      </dgm:prSet>
      <dgm:spPr/>
    </dgm:pt>
    <dgm:pt modelId="{D3404621-1108-4972-BF4D-C4CC82A9EEC2}" type="pres">
      <dgm:prSet presAssocID="{99651EEA-D361-45CA-B606-BA8301ECC1E6}" presName="accent_6" presStyleCnt="0"/>
      <dgm:spPr/>
    </dgm:pt>
    <dgm:pt modelId="{9281EAAD-9590-4968-8885-67330E5FCE43}" type="pres">
      <dgm:prSet presAssocID="{99651EEA-D361-45CA-B606-BA8301ECC1E6}" presName="accentRepeatNode" presStyleLbl="solidFgAcc1" presStyleIdx="5" presStyleCnt="7"/>
      <dgm:spPr/>
    </dgm:pt>
    <dgm:pt modelId="{122DF0E2-E878-4CA7-984C-B11DC1A9BFE0}" type="pres">
      <dgm:prSet presAssocID="{94A09D2A-49F4-48B0-B050-7770AF1CD044}" presName="text_7" presStyleLbl="node1" presStyleIdx="6" presStyleCnt="7">
        <dgm:presLayoutVars>
          <dgm:bulletEnabled val="1"/>
        </dgm:presLayoutVars>
      </dgm:prSet>
      <dgm:spPr/>
    </dgm:pt>
    <dgm:pt modelId="{214065BC-6445-4338-9BE2-BC7CE1970337}" type="pres">
      <dgm:prSet presAssocID="{94A09D2A-49F4-48B0-B050-7770AF1CD044}" presName="accent_7" presStyleCnt="0"/>
      <dgm:spPr/>
    </dgm:pt>
    <dgm:pt modelId="{53C490CD-4497-4A4D-9555-7A420A0DA161}" type="pres">
      <dgm:prSet presAssocID="{94A09D2A-49F4-48B0-B050-7770AF1CD044}" presName="accentRepeatNode" presStyleLbl="solidFgAcc1" presStyleIdx="6" presStyleCnt="7"/>
      <dgm:spPr/>
    </dgm:pt>
  </dgm:ptLst>
  <dgm:cxnLst>
    <dgm:cxn modelId="{B1DB5807-B416-4CB8-BD29-8BC6D89262B8}" type="presOf" srcId="{BBE58F06-9882-4D06-9E9B-CBBF96954053}" destId="{A5283706-6694-4059-85B7-EC6EF6530AEB}" srcOrd="0" destOrd="0" presId="urn:microsoft.com/office/officeart/2008/layout/VerticalCurvedList"/>
    <dgm:cxn modelId="{8C57BA10-0900-46AC-AB67-380250A68C91}" srcId="{F77A3155-A71F-4D7A-AA88-6155F77E2FBE}" destId="{2C3C8124-8231-41E7-81D6-93246DEA2737}" srcOrd="4" destOrd="0" parTransId="{88D77977-C715-4077-A5F6-B015D71FEF59}" sibTransId="{47BE6160-E61A-4592-916A-B0469FCD77B4}"/>
    <dgm:cxn modelId="{B201F51A-A593-4D7B-83A0-2B091494542B}" type="presOf" srcId="{94A09D2A-49F4-48B0-B050-7770AF1CD044}" destId="{122DF0E2-E878-4CA7-984C-B11DC1A9BFE0}" srcOrd="0" destOrd="0" presId="urn:microsoft.com/office/officeart/2008/layout/VerticalCurvedList"/>
    <dgm:cxn modelId="{0599AA37-1853-4939-8FB7-A8CAA86A4B23}" srcId="{F77A3155-A71F-4D7A-AA88-6155F77E2FBE}" destId="{A0E9A7EA-9CAF-4D50-9D8A-F7177A798DA2}" srcOrd="8" destOrd="0" parTransId="{38C64FFA-64CF-45E7-A075-FC034C78BDFD}" sibTransId="{F2884AEF-F022-42CF-87BB-AC730FB976E1}"/>
    <dgm:cxn modelId="{AA073360-DA43-470B-AC0E-5F04523AD9F6}" srcId="{F77A3155-A71F-4D7A-AA88-6155F77E2FBE}" destId="{99651EEA-D361-45CA-B606-BA8301ECC1E6}" srcOrd="5" destOrd="0" parTransId="{0A67D57C-E702-4041-853A-284F4B70D444}" sibTransId="{0960EEF6-A6FE-42FB-9200-BDFC50D32A95}"/>
    <dgm:cxn modelId="{F4037B66-5AB0-44CF-A691-149CAA1BCB56}" type="presOf" srcId="{F77A3155-A71F-4D7A-AA88-6155F77E2FBE}" destId="{319FA0AA-AC8B-42E4-9C43-67EEBCE08CEF}" srcOrd="0" destOrd="0" presId="urn:microsoft.com/office/officeart/2008/layout/VerticalCurvedList"/>
    <dgm:cxn modelId="{00DAD96A-028F-4077-AD38-78830625D5A1}" type="presOf" srcId="{1AEEC45E-A76A-405A-AFA8-F608FCB7C948}" destId="{C43A88E2-8B25-4B6A-BF21-C1C97C869717}" srcOrd="0" destOrd="0" presId="urn:microsoft.com/office/officeart/2008/layout/VerticalCurvedList"/>
    <dgm:cxn modelId="{1F95277D-93A8-4580-9903-2A2FD8239476}" type="presOf" srcId="{BCAC04A4-507A-47B4-9610-2B7224628A2C}" destId="{A9F5289F-422F-482E-BBC8-B6C6463070C8}" srcOrd="0" destOrd="0" presId="urn:microsoft.com/office/officeart/2008/layout/VerticalCurvedList"/>
    <dgm:cxn modelId="{1FBB3793-54B0-45B6-B381-C68ED3F10909}" srcId="{F77A3155-A71F-4D7A-AA88-6155F77E2FBE}" destId="{212B7DE0-7E5B-479D-87FF-4A5802A7C73C}" srcOrd="7" destOrd="0" parTransId="{B3AD580A-4BDF-4345-8994-D49A9AF2C34C}" sibTransId="{A8B0E121-7C0C-4B79-9C29-63CD4670E404}"/>
    <dgm:cxn modelId="{5AC5D298-7BBB-4EB8-9EEF-732806DFEC78}" type="presOf" srcId="{99651EEA-D361-45CA-B606-BA8301ECC1E6}" destId="{30D01A6E-D51F-47B9-8584-B6FA636CF2CC}" srcOrd="0" destOrd="0" presId="urn:microsoft.com/office/officeart/2008/layout/VerticalCurvedList"/>
    <dgm:cxn modelId="{8B1580AF-754D-4A92-A1A5-4929894D3DA8}" srcId="{F77A3155-A71F-4D7A-AA88-6155F77E2FBE}" destId="{BCAC04A4-507A-47B4-9610-2B7224628A2C}" srcOrd="3" destOrd="0" parTransId="{A6161FC4-534B-4E62-9B8C-187BADB45B19}" sibTransId="{6AE1E325-5E42-43B8-BED9-9868128D08ED}"/>
    <dgm:cxn modelId="{72D9EFB2-FC7F-4AB0-BDF0-309D4DAD7E5A}" type="presOf" srcId="{9BE474E0-9D7F-42B0-959A-B220D96F4D01}" destId="{0B061D68-B3AF-479E-AA30-35FD5E83147C}" srcOrd="0" destOrd="0" presId="urn:microsoft.com/office/officeart/2008/layout/VerticalCurvedList"/>
    <dgm:cxn modelId="{3BA1FEBD-9DD2-4C61-922C-ACE3A1C503EA}" srcId="{F77A3155-A71F-4D7A-AA88-6155F77E2FBE}" destId="{BBE58F06-9882-4D06-9E9B-CBBF96954053}" srcOrd="1" destOrd="0" parTransId="{6C46F10B-2A34-45D6-B66A-1B8F962BC0E1}" sibTransId="{F9EB8CC7-43B7-4A07-8119-EC2A039A1778}"/>
    <dgm:cxn modelId="{CFEB00DA-70EC-4867-BF88-1B5B93A8935D}" type="presOf" srcId="{2C3C8124-8231-41E7-81D6-93246DEA2737}" destId="{A219A944-3416-4B9A-BB62-8EF7EF55A0C4}" srcOrd="0" destOrd="0" presId="urn:microsoft.com/office/officeart/2008/layout/VerticalCurvedList"/>
    <dgm:cxn modelId="{7C63C7DA-ADE2-4669-BD5E-D47108989835}" srcId="{F77A3155-A71F-4D7A-AA88-6155F77E2FBE}" destId="{9BE474E0-9D7F-42B0-959A-B220D96F4D01}" srcOrd="0" destOrd="0" parTransId="{F74C6B49-70C9-4520-9BAE-1748D18CCD30}" sibTransId="{1AEEC45E-A76A-405A-AFA8-F608FCB7C948}"/>
    <dgm:cxn modelId="{EB121DE2-3D5C-4EB9-965E-5BC754C4F81B}" srcId="{F77A3155-A71F-4D7A-AA88-6155F77E2FBE}" destId="{217098E8-C861-41A5-B457-626B4EC868FD}" srcOrd="2" destOrd="0" parTransId="{3BFF312C-9195-4B42-A4EA-83DBE167EB6C}" sibTransId="{D4BD55DC-9ACA-4223-B8CF-173ECF78127B}"/>
    <dgm:cxn modelId="{E6094EEA-C273-4337-9CD5-A3BC0EDDDC78}" srcId="{F77A3155-A71F-4D7A-AA88-6155F77E2FBE}" destId="{94A09D2A-49F4-48B0-B050-7770AF1CD044}" srcOrd="6" destOrd="0" parTransId="{E4612DA5-47BB-4022-8B03-2C455B0DDEBB}" sibTransId="{9805C7AA-BB39-4221-AD2F-39EFAB39A6EB}"/>
    <dgm:cxn modelId="{E3BA14F4-5209-4AE3-9B70-C0030B694C9E}" type="presOf" srcId="{217098E8-C861-41A5-B457-626B4EC868FD}" destId="{AF32F265-C746-4BFB-A9DF-4D5C0A79E49B}" srcOrd="0" destOrd="0" presId="urn:microsoft.com/office/officeart/2008/layout/VerticalCurvedList"/>
    <dgm:cxn modelId="{416AFCF1-4B0C-428C-8239-C5543A03E4B5}" type="presParOf" srcId="{319FA0AA-AC8B-42E4-9C43-67EEBCE08CEF}" destId="{D0EF2483-CB6B-42E0-8918-039A6721B476}" srcOrd="0" destOrd="0" presId="urn:microsoft.com/office/officeart/2008/layout/VerticalCurvedList"/>
    <dgm:cxn modelId="{C09F1B8B-F16B-43F9-9474-1D5CB3252E6E}" type="presParOf" srcId="{D0EF2483-CB6B-42E0-8918-039A6721B476}" destId="{EE42B8D9-4AA6-4D59-9CC7-8811C0989B93}" srcOrd="0" destOrd="0" presId="urn:microsoft.com/office/officeart/2008/layout/VerticalCurvedList"/>
    <dgm:cxn modelId="{EC851FBB-56CF-4A70-A467-C37B887C6B86}" type="presParOf" srcId="{EE42B8D9-4AA6-4D59-9CC7-8811C0989B93}" destId="{AA6B0D77-1D42-443B-A194-866844B2EECC}" srcOrd="0" destOrd="0" presId="urn:microsoft.com/office/officeart/2008/layout/VerticalCurvedList"/>
    <dgm:cxn modelId="{E0CA4B22-8264-4016-A4DD-377943BD9244}" type="presParOf" srcId="{EE42B8D9-4AA6-4D59-9CC7-8811C0989B93}" destId="{C43A88E2-8B25-4B6A-BF21-C1C97C869717}" srcOrd="1" destOrd="0" presId="urn:microsoft.com/office/officeart/2008/layout/VerticalCurvedList"/>
    <dgm:cxn modelId="{16F2C621-394A-43E5-87A0-884335971DDE}" type="presParOf" srcId="{EE42B8D9-4AA6-4D59-9CC7-8811C0989B93}" destId="{FABA9A9B-F6F0-436E-BA5B-0C6E117B9BD7}" srcOrd="2" destOrd="0" presId="urn:microsoft.com/office/officeart/2008/layout/VerticalCurvedList"/>
    <dgm:cxn modelId="{925C28F5-0AA7-4AD6-9D3B-5CCD57008173}" type="presParOf" srcId="{EE42B8D9-4AA6-4D59-9CC7-8811C0989B93}" destId="{6D824689-DB96-4696-8914-6D347D9B5C5F}" srcOrd="3" destOrd="0" presId="urn:microsoft.com/office/officeart/2008/layout/VerticalCurvedList"/>
    <dgm:cxn modelId="{B3EC2647-67B5-4810-A4F9-5C78E6B9A8A0}" type="presParOf" srcId="{D0EF2483-CB6B-42E0-8918-039A6721B476}" destId="{0B061D68-B3AF-479E-AA30-35FD5E83147C}" srcOrd="1" destOrd="0" presId="urn:microsoft.com/office/officeart/2008/layout/VerticalCurvedList"/>
    <dgm:cxn modelId="{B1A53498-365D-4D30-91C9-77D362ECDEC8}" type="presParOf" srcId="{D0EF2483-CB6B-42E0-8918-039A6721B476}" destId="{4C21B2DA-F049-4B2B-9D7E-9D3788FBFFA1}" srcOrd="2" destOrd="0" presId="urn:microsoft.com/office/officeart/2008/layout/VerticalCurvedList"/>
    <dgm:cxn modelId="{CED950FD-DE81-43D4-9C6D-B5BE20E89FEC}" type="presParOf" srcId="{4C21B2DA-F049-4B2B-9D7E-9D3788FBFFA1}" destId="{AC87B9CB-AB9A-48FC-9AFD-7D06757C2EBA}" srcOrd="0" destOrd="0" presId="urn:microsoft.com/office/officeart/2008/layout/VerticalCurvedList"/>
    <dgm:cxn modelId="{F1D31301-1F36-4D4F-8D83-4B2F75698955}" type="presParOf" srcId="{D0EF2483-CB6B-42E0-8918-039A6721B476}" destId="{A5283706-6694-4059-85B7-EC6EF6530AEB}" srcOrd="3" destOrd="0" presId="urn:microsoft.com/office/officeart/2008/layout/VerticalCurvedList"/>
    <dgm:cxn modelId="{D8D186EF-4981-4F1E-8223-29DF1A710D66}" type="presParOf" srcId="{D0EF2483-CB6B-42E0-8918-039A6721B476}" destId="{BBC518D5-43D0-4728-89DB-D6877A11C591}" srcOrd="4" destOrd="0" presId="urn:microsoft.com/office/officeart/2008/layout/VerticalCurvedList"/>
    <dgm:cxn modelId="{D4EEE823-6DAE-4B87-A1E7-5C0AAEB169ED}" type="presParOf" srcId="{BBC518D5-43D0-4728-89DB-D6877A11C591}" destId="{66E6C396-60C4-489A-A529-4350777466A9}" srcOrd="0" destOrd="0" presId="urn:microsoft.com/office/officeart/2008/layout/VerticalCurvedList"/>
    <dgm:cxn modelId="{96C6C76D-BB1E-4448-A8A2-53DDC95518A0}" type="presParOf" srcId="{D0EF2483-CB6B-42E0-8918-039A6721B476}" destId="{AF32F265-C746-4BFB-A9DF-4D5C0A79E49B}" srcOrd="5" destOrd="0" presId="urn:microsoft.com/office/officeart/2008/layout/VerticalCurvedList"/>
    <dgm:cxn modelId="{D34EC8D6-DCD2-45E9-AEEA-11109D830BC4}" type="presParOf" srcId="{D0EF2483-CB6B-42E0-8918-039A6721B476}" destId="{F5318F66-BC01-4C2D-9907-244B56D3C6A9}" srcOrd="6" destOrd="0" presId="urn:microsoft.com/office/officeart/2008/layout/VerticalCurvedList"/>
    <dgm:cxn modelId="{F19400AA-F995-4B61-B770-7C15C109B2F9}" type="presParOf" srcId="{F5318F66-BC01-4C2D-9907-244B56D3C6A9}" destId="{4CA9011A-5AC8-49FC-810B-9212F1B8AFD5}" srcOrd="0" destOrd="0" presId="urn:microsoft.com/office/officeart/2008/layout/VerticalCurvedList"/>
    <dgm:cxn modelId="{67F29C60-364D-4ED4-B83B-07F51F73AB81}" type="presParOf" srcId="{D0EF2483-CB6B-42E0-8918-039A6721B476}" destId="{A9F5289F-422F-482E-BBC8-B6C6463070C8}" srcOrd="7" destOrd="0" presId="urn:microsoft.com/office/officeart/2008/layout/VerticalCurvedList"/>
    <dgm:cxn modelId="{5FB20503-7AF0-442F-BDA6-0CA32295D5D8}" type="presParOf" srcId="{D0EF2483-CB6B-42E0-8918-039A6721B476}" destId="{A99E6CA6-5D95-46FA-BBDE-1068D761A6A8}" srcOrd="8" destOrd="0" presId="urn:microsoft.com/office/officeart/2008/layout/VerticalCurvedList"/>
    <dgm:cxn modelId="{A6941228-B3E2-43EE-A10A-6EC0AF7E1F17}" type="presParOf" srcId="{A99E6CA6-5D95-46FA-BBDE-1068D761A6A8}" destId="{5845709B-FC4A-4C43-AD1A-4BF86107C5E5}" srcOrd="0" destOrd="0" presId="urn:microsoft.com/office/officeart/2008/layout/VerticalCurvedList"/>
    <dgm:cxn modelId="{E353EB3E-F7E9-41BC-A0DE-DE77DC5B4BDB}" type="presParOf" srcId="{D0EF2483-CB6B-42E0-8918-039A6721B476}" destId="{A219A944-3416-4B9A-BB62-8EF7EF55A0C4}" srcOrd="9" destOrd="0" presId="urn:microsoft.com/office/officeart/2008/layout/VerticalCurvedList"/>
    <dgm:cxn modelId="{A3B24AA3-0C7D-4D8A-8D6E-B5E5F40B06EB}" type="presParOf" srcId="{D0EF2483-CB6B-42E0-8918-039A6721B476}" destId="{BC22F5AF-EE6F-4F8E-BC1B-22CB26032A77}" srcOrd="10" destOrd="0" presId="urn:microsoft.com/office/officeart/2008/layout/VerticalCurvedList"/>
    <dgm:cxn modelId="{E46FC26B-677F-449A-A533-ABD22C0BAF51}" type="presParOf" srcId="{BC22F5AF-EE6F-4F8E-BC1B-22CB26032A77}" destId="{9E7299E5-5308-4DD1-9DB1-D913A9BE108C}" srcOrd="0" destOrd="0" presId="urn:microsoft.com/office/officeart/2008/layout/VerticalCurvedList"/>
    <dgm:cxn modelId="{DD7F9B2F-BD21-4C09-A377-147165E6D496}" type="presParOf" srcId="{D0EF2483-CB6B-42E0-8918-039A6721B476}" destId="{30D01A6E-D51F-47B9-8584-B6FA636CF2CC}" srcOrd="11" destOrd="0" presId="urn:microsoft.com/office/officeart/2008/layout/VerticalCurvedList"/>
    <dgm:cxn modelId="{71CD882A-395C-46E4-9FDE-5A3C59F1AE17}" type="presParOf" srcId="{D0EF2483-CB6B-42E0-8918-039A6721B476}" destId="{D3404621-1108-4972-BF4D-C4CC82A9EEC2}" srcOrd="12" destOrd="0" presId="urn:microsoft.com/office/officeart/2008/layout/VerticalCurvedList"/>
    <dgm:cxn modelId="{BE3567C9-BF60-4223-B84A-7DF4CA5520A9}" type="presParOf" srcId="{D3404621-1108-4972-BF4D-C4CC82A9EEC2}" destId="{9281EAAD-9590-4968-8885-67330E5FCE43}" srcOrd="0" destOrd="0" presId="urn:microsoft.com/office/officeart/2008/layout/VerticalCurvedList"/>
    <dgm:cxn modelId="{8D1850FD-3045-4EFD-8147-99921773B225}" type="presParOf" srcId="{D0EF2483-CB6B-42E0-8918-039A6721B476}" destId="{122DF0E2-E878-4CA7-984C-B11DC1A9BFE0}" srcOrd="13" destOrd="0" presId="urn:microsoft.com/office/officeart/2008/layout/VerticalCurvedList"/>
    <dgm:cxn modelId="{985FAE93-953F-4C40-9C90-F79BC77EC90F}" type="presParOf" srcId="{D0EF2483-CB6B-42E0-8918-039A6721B476}" destId="{214065BC-6445-4338-9BE2-BC7CE1970337}" srcOrd="14" destOrd="0" presId="urn:microsoft.com/office/officeart/2008/layout/VerticalCurvedList"/>
    <dgm:cxn modelId="{9CC92217-CDDB-435C-AB6D-205852CC882C}" type="presParOf" srcId="{214065BC-6445-4338-9BE2-BC7CE1970337}" destId="{53C490CD-4497-4A4D-9555-7A420A0DA161}" srcOrd="0" destOrd="0" presId="urn:microsoft.com/office/officeart/2008/layout/VerticalCurvedList"/>
  </dgm:cxnLst>
  <dgm:bg>
    <a:effect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A410CD9-3425-490F-ACAB-B8053052C897}" type="doc">
      <dgm:prSet loTypeId="urn:microsoft.com/office/officeart/2005/8/layout/vList2" loCatId="list" qsTypeId="urn:microsoft.com/office/officeart/2005/8/quickstyle/simple2" qsCatId="simple" csTypeId="urn:microsoft.com/office/officeart/2005/8/colors/colorful5" csCatId="colorful"/>
      <dgm:spPr/>
      <dgm:t>
        <a:bodyPr/>
        <a:lstStyle/>
        <a:p>
          <a:endParaRPr lang="en-IN"/>
        </a:p>
      </dgm:t>
    </dgm:pt>
    <dgm:pt modelId="{34A9747F-3E68-4496-9D33-8F8540972FA2}">
      <dgm:prSet/>
      <dgm:spPr/>
      <dgm:t>
        <a:bodyPr/>
        <a:lstStyle/>
        <a:p>
          <a:r>
            <a:rPr lang="en-IN"/>
            <a:t>Plan to extend the current model by integrating a medical image dataset (e.g., echocardiogram or chest X-ray).</a:t>
          </a:r>
        </a:p>
      </dgm:t>
    </dgm:pt>
    <dgm:pt modelId="{87A20706-F6AF-4FE1-8EDF-0878C54A00DD}" type="parTrans" cxnId="{04469B48-4B9B-46A9-8B3D-AD2C77C625F3}">
      <dgm:prSet/>
      <dgm:spPr/>
      <dgm:t>
        <a:bodyPr/>
        <a:lstStyle/>
        <a:p>
          <a:endParaRPr lang="en-IN"/>
        </a:p>
      </dgm:t>
    </dgm:pt>
    <dgm:pt modelId="{D5BB4AAD-11C0-4420-9457-EA7880AA8F2B}" type="sibTrans" cxnId="{04469B48-4B9B-46A9-8B3D-AD2C77C625F3}">
      <dgm:prSet/>
      <dgm:spPr/>
      <dgm:t>
        <a:bodyPr/>
        <a:lstStyle/>
        <a:p>
          <a:endParaRPr lang="en-IN"/>
        </a:p>
      </dgm:t>
    </dgm:pt>
    <dgm:pt modelId="{23C3856F-5E41-4F7B-9CDA-735725BF7C55}">
      <dgm:prSet/>
      <dgm:spPr/>
      <dgm:t>
        <a:bodyPr/>
        <a:lstStyle/>
        <a:p>
          <a:r>
            <a:rPr lang="en-IN"/>
            <a:t>Combine clinical data and image features to create a more robust multimodal prediction framework.</a:t>
          </a:r>
        </a:p>
      </dgm:t>
    </dgm:pt>
    <dgm:pt modelId="{FE35E41D-2186-4E70-87E3-4E1B6B15A607}" type="parTrans" cxnId="{C3C4BC0B-75AD-4943-92CA-02A5F3A29367}">
      <dgm:prSet/>
      <dgm:spPr/>
      <dgm:t>
        <a:bodyPr/>
        <a:lstStyle/>
        <a:p>
          <a:endParaRPr lang="en-IN"/>
        </a:p>
      </dgm:t>
    </dgm:pt>
    <dgm:pt modelId="{B1F1C4A7-8C35-411B-BB84-B93373054767}" type="sibTrans" cxnId="{C3C4BC0B-75AD-4943-92CA-02A5F3A29367}">
      <dgm:prSet/>
      <dgm:spPr/>
      <dgm:t>
        <a:bodyPr/>
        <a:lstStyle/>
        <a:p>
          <a:endParaRPr lang="en-IN"/>
        </a:p>
      </dgm:t>
    </dgm:pt>
    <dgm:pt modelId="{394FF384-7A15-4DAD-8B95-5090FF3B2F22}">
      <dgm:prSet/>
      <dgm:spPr/>
      <dgm:t>
        <a:bodyPr/>
        <a:lstStyle/>
        <a:p>
          <a:r>
            <a:rPr lang="en-IN"/>
            <a:t>Use advanced CNN architectures (e.g., ResNet, EfficientNet) for high-quality image feature extraction.</a:t>
          </a:r>
        </a:p>
      </dgm:t>
    </dgm:pt>
    <dgm:pt modelId="{DB2735BB-0D01-4357-BECE-BADDC9D21AD6}" type="parTrans" cxnId="{198CA20D-ED4F-4069-A2BF-C0B8979DF6B3}">
      <dgm:prSet/>
      <dgm:spPr/>
      <dgm:t>
        <a:bodyPr/>
        <a:lstStyle/>
        <a:p>
          <a:endParaRPr lang="en-IN"/>
        </a:p>
      </dgm:t>
    </dgm:pt>
    <dgm:pt modelId="{B6E8423C-930A-49D5-B8D5-7B321408EA98}" type="sibTrans" cxnId="{198CA20D-ED4F-4069-A2BF-C0B8979DF6B3}">
      <dgm:prSet/>
      <dgm:spPr/>
      <dgm:t>
        <a:bodyPr/>
        <a:lstStyle/>
        <a:p>
          <a:endParaRPr lang="en-IN"/>
        </a:p>
      </dgm:t>
    </dgm:pt>
    <dgm:pt modelId="{B85B6B95-18B5-406A-82FA-B48CFAB3F745}">
      <dgm:prSet/>
      <dgm:spPr/>
      <dgm:t>
        <a:bodyPr/>
        <a:lstStyle/>
        <a:p>
          <a:r>
            <a:rPr lang="en-IN"/>
            <a:t>Fine-tune the system for better diagnostic accuracy and real-time clinical use.</a:t>
          </a:r>
        </a:p>
      </dgm:t>
    </dgm:pt>
    <dgm:pt modelId="{9C2C159D-2A0C-4E09-B54D-87F0BA3EF60A}" type="parTrans" cxnId="{DAAD32B6-25DD-428D-8CEC-E52D06E820B3}">
      <dgm:prSet/>
      <dgm:spPr/>
      <dgm:t>
        <a:bodyPr/>
        <a:lstStyle/>
        <a:p>
          <a:endParaRPr lang="en-IN"/>
        </a:p>
      </dgm:t>
    </dgm:pt>
    <dgm:pt modelId="{3E6FCA62-6789-4773-931A-328FB4A2CF28}" type="sibTrans" cxnId="{DAAD32B6-25DD-428D-8CEC-E52D06E820B3}">
      <dgm:prSet/>
      <dgm:spPr/>
      <dgm:t>
        <a:bodyPr/>
        <a:lstStyle/>
        <a:p>
          <a:endParaRPr lang="en-IN"/>
        </a:p>
      </dgm:t>
    </dgm:pt>
    <dgm:pt modelId="{3083E335-79DE-46BF-BA5F-6F4B35746CD2}">
      <dgm:prSet/>
      <dgm:spPr/>
      <dgm:t>
        <a:bodyPr/>
        <a:lstStyle/>
        <a:p>
          <a:r>
            <a:rPr lang="en-IN"/>
            <a:t>Deploy as a web or mobile-based diagnostic tool for hospitals and patients.</a:t>
          </a:r>
        </a:p>
      </dgm:t>
    </dgm:pt>
    <dgm:pt modelId="{79F196B1-255C-4B61-BB6F-957D46B2CF15}" type="parTrans" cxnId="{1EF072EE-6950-48A6-AE63-ED9F295E5A82}">
      <dgm:prSet/>
      <dgm:spPr/>
      <dgm:t>
        <a:bodyPr/>
        <a:lstStyle/>
        <a:p>
          <a:endParaRPr lang="en-IN"/>
        </a:p>
      </dgm:t>
    </dgm:pt>
    <dgm:pt modelId="{E5CB3D6C-F4E5-48C0-8D8F-F462BEB0A11A}" type="sibTrans" cxnId="{1EF072EE-6950-48A6-AE63-ED9F295E5A82}">
      <dgm:prSet/>
      <dgm:spPr/>
      <dgm:t>
        <a:bodyPr/>
        <a:lstStyle/>
        <a:p>
          <a:endParaRPr lang="en-IN"/>
        </a:p>
      </dgm:t>
    </dgm:pt>
    <dgm:pt modelId="{0C268DEE-902C-41C4-B13E-987305E8F507}">
      <dgm:prSet/>
      <dgm:spPr/>
      <dgm:t>
        <a:bodyPr/>
        <a:lstStyle/>
        <a:p>
          <a:r>
            <a:rPr lang="en-IN"/>
            <a:t>Collaborate with health institutions to validate the model on real-world datasets.</a:t>
          </a:r>
        </a:p>
      </dgm:t>
    </dgm:pt>
    <dgm:pt modelId="{A8B3CD21-4104-4AD3-92F4-1FFF389A20B2}" type="parTrans" cxnId="{FE598856-1283-46E5-9D8B-E7485526ECF9}">
      <dgm:prSet/>
      <dgm:spPr/>
      <dgm:t>
        <a:bodyPr/>
        <a:lstStyle/>
        <a:p>
          <a:endParaRPr lang="en-IN"/>
        </a:p>
      </dgm:t>
    </dgm:pt>
    <dgm:pt modelId="{4455B960-89C4-4755-99E3-4FB7FCE3592A}" type="sibTrans" cxnId="{FE598856-1283-46E5-9D8B-E7485526ECF9}">
      <dgm:prSet/>
      <dgm:spPr/>
      <dgm:t>
        <a:bodyPr/>
        <a:lstStyle/>
        <a:p>
          <a:endParaRPr lang="en-IN"/>
        </a:p>
      </dgm:t>
    </dgm:pt>
    <dgm:pt modelId="{EF872656-7284-467D-91CA-1DF144BDEEFD}" type="pres">
      <dgm:prSet presAssocID="{9A410CD9-3425-490F-ACAB-B8053052C897}" presName="linear" presStyleCnt="0">
        <dgm:presLayoutVars>
          <dgm:animLvl val="lvl"/>
          <dgm:resizeHandles val="exact"/>
        </dgm:presLayoutVars>
      </dgm:prSet>
      <dgm:spPr/>
    </dgm:pt>
    <dgm:pt modelId="{AA23FC01-F6C5-4269-802E-8EB97BC0BCFF}" type="pres">
      <dgm:prSet presAssocID="{34A9747F-3E68-4496-9D33-8F8540972FA2}" presName="parentText" presStyleLbl="node1" presStyleIdx="0" presStyleCnt="6">
        <dgm:presLayoutVars>
          <dgm:chMax val="0"/>
          <dgm:bulletEnabled val="1"/>
        </dgm:presLayoutVars>
      </dgm:prSet>
      <dgm:spPr/>
    </dgm:pt>
    <dgm:pt modelId="{E58AD33B-FE6C-49C1-BF7B-667E2FAABC5C}" type="pres">
      <dgm:prSet presAssocID="{D5BB4AAD-11C0-4420-9457-EA7880AA8F2B}" presName="spacer" presStyleCnt="0"/>
      <dgm:spPr/>
    </dgm:pt>
    <dgm:pt modelId="{9D5DC9E9-08E4-45FC-846D-F6344E5634E5}" type="pres">
      <dgm:prSet presAssocID="{23C3856F-5E41-4F7B-9CDA-735725BF7C55}" presName="parentText" presStyleLbl="node1" presStyleIdx="1" presStyleCnt="6">
        <dgm:presLayoutVars>
          <dgm:chMax val="0"/>
          <dgm:bulletEnabled val="1"/>
        </dgm:presLayoutVars>
      </dgm:prSet>
      <dgm:spPr/>
    </dgm:pt>
    <dgm:pt modelId="{0A612D07-CBAD-4C70-8F28-E6AF11B2F43F}" type="pres">
      <dgm:prSet presAssocID="{B1F1C4A7-8C35-411B-BB84-B93373054767}" presName="spacer" presStyleCnt="0"/>
      <dgm:spPr/>
    </dgm:pt>
    <dgm:pt modelId="{DBA4F406-4CB8-48A3-B2FF-BE13FB7D5ACF}" type="pres">
      <dgm:prSet presAssocID="{394FF384-7A15-4DAD-8B95-5090FF3B2F22}" presName="parentText" presStyleLbl="node1" presStyleIdx="2" presStyleCnt="6">
        <dgm:presLayoutVars>
          <dgm:chMax val="0"/>
          <dgm:bulletEnabled val="1"/>
        </dgm:presLayoutVars>
      </dgm:prSet>
      <dgm:spPr/>
    </dgm:pt>
    <dgm:pt modelId="{C39ECA26-00A1-4A04-B42B-410CDF9A13CD}" type="pres">
      <dgm:prSet presAssocID="{B6E8423C-930A-49D5-B8D5-7B321408EA98}" presName="spacer" presStyleCnt="0"/>
      <dgm:spPr/>
    </dgm:pt>
    <dgm:pt modelId="{016D5406-D12D-46A0-B21C-5B9F6D3CCBF8}" type="pres">
      <dgm:prSet presAssocID="{B85B6B95-18B5-406A-82FA-B48CFAB3F745}" presName="parentText" presStyleLbl="node1" presStyleIdx="3" presStyleCnt="6">
        <dgm:presLayoutVars>
          <dgm:chMax val="0"/>
          <dgm:bulletEnabled val="1"/>
        </dgm:presLayoutVars>
      </dgm:prSet>
      <dgm:spPr/>
    </dgm:pt>
    <dgm:pt modelId="{387828E7-4A3F-4F03-B108-6E899CBE5AFC}" type="pres">
      <dgm:prSet presAssocID="{3E6FCA62-6789-4773-931A-328FB4A2CF28}" presName="spacer" presStyleCnt="0"/>
      <dgm:spPr/>
    </dgm:pt>
    <dgm:pt modelId="{E72B79C8-5653-4423-BAB1-CF9C7989CDFB}" type="pres">
      <dgm:prSet presAssocID="{3083E335-79DE-46BF-BA5F-6F4B35746CD2}" presName="parentText" presStyleLbl="node1" presStyleIdx="4" presStyleCnt="6">
        <dgm:presLayoutVars>
          <dgm:chMax val="0"/>
          <dgm:bulletEnabled val="1"/>
        </dgm:presLayoutVars>
      </dgm:prSet>
      <dgm:spPr/>
    </dgm:pt>
    <dgm:pt modelId="{A54FBED7-273C-494C-91F1-EF9F97EDAE31}" type="pres">
      <dgm:prSet presAssocID="{E5CB3D6C-F4E5-48C0-8D8F-F462BEB0A11A}" presName="spacer" presStyleCnt="0"/>
      <dgm:spPr/>
    </dgm:pt>
    <dgm:pt modelId="{2FAB14F3-9764-44ED-AE30-F18B7104B0E8}" type="pres">
      <dgm:prSet presAssocID="{0C268DEE-902C-41C4-B13E-987305E8F507}" presName="parentText" presStyleLbl="node1" presStyleIdx="5" presStyleCnt="6">
        <dgm:presLayoutVars>
          <dgm:chMax val="0"/>
          <dgm:bulletEnabled val="1"/>
        </dgm:presLayoutVars>
      </dgm:prSet>
      <dgm:spPr/>
    </dgm:pt>
  </dgm:ptLst>
  <dgm:cxnLst>
    <dgm:cxn modelId="{C3C4BC0B-75AD-4943-92CA-02A5F3A29367}" srcId="{9A410CD9-3425-490F-ACAB-B8053052C897}" destId="{23C3856F-5E41-4F7B-9CDA-735725BF7C55}" srcOrd="1" destOrd="0" parTransId="{FE35E41D-2186-4E70-87E3-4E1B6B15A607}" sibTransId="{B1F1C4A7-8C35-411B-BB84-B93373054767}"/>
    <dgm:cxn modelId="{E703670D-8183-41EE-A016-2EE8EDF13DDC}" type="presOf" srcId="{34A9747F-3E68-4496-9D33-8F8540972FA2}" destId="{AA23FC01-F6C5-4269-802E-8EB97BC0BCFF}" srcOrd="0" destOrd="0" presId="urn:microsoft.com/office/officeart/2005/8/layout/vList2"/>
    <dgm:cxn modelId="{198CA20D-ED4F-4069-A2BF-C0B8979DF6B3}" srcId="{9A410CD9-3425-490F-ACAB-B8053052C897}" destId="{394FF384-7A15-4DAD-8B95-5090FF3B2F22}" srcOrd="2" destOrd="0" parTransId="{DB2735BB-0D01-4357-BECE-BADDC9D21AD6}" sibTransId="{B6E8423C-930A-49D5-B8D5-7B321408EA98}"/>
    <dgm:cxn modelId="{D7B41D11-A300-4EB0-9273-E3602EE9616A}" type="presOf" srcId="{B85B6B95-18B5-406A-82FA-B48CFAB3F745}" destId="{016D5406-D12D-46A0-B21C-5B9F6D3CCBF8}" srcOrd="0" destOrd="0" presId="urn:microsoft.com/office/officeart/2005/8/layout/vList2"/>
    <dgm:cxn modelId="{58DA8712-A6BD-44FD-8CCA-CAB1462CA772}" type="presOf" srcId="{0C268DEE-902C-41C4-B13E-987305E8F507}" destId="{2FAB14F3-9764-44ED-AE30-F18B7104B0E8}" srcOrd="0" destOrd="0" presId="urn:microsoft.com/office/officeart/2005/8/layout/vList2"/>
    <dgm:cxn modelId="{0F567A17-9F41-48D5-A2CB-B2983C56D10A}" type="presOf" srcId="{394FF384-7A15-4DAD-8B95-5090FF3B2F22}" destId="{DBA4F406-4CB8-48A3-B2FF-BE13FB7D5ACF}" srcOrd="0" destOrd="0" presId="urn:microsoft.com/office/officeart/2005/8/layout/vList2"/>
    <dgm:cxn modelId="{04469B48-4B9B-46A9-8B3D-AD2C77C625F3}" srcId="{9A410CD9-3425-490F-ACAB-B8053052C897}" destId="{34A9747F-3E68-4496-9D33-8F8540972FA2}" srcOrd="0" destOrd="0" parTransId="{87A20706-F6AF-4FE1-8EDF-0878C54A00DD}" sibTransId="{D5BB4AAD-11C0-4420-9457-EA7880AA8F2B}"/>
    <dgm:cxn modelId="{FE598856-1283-46E5-9D8B-E7485526ECF9}" srcId="{9A410CD9-3425-490F-ACAB-B8053052C897}" destId="{0C268DEE-902C-41C4-B13E-987305E8F507}" srcOrd="5" destOrd="0" parTransId="{A8B3CD21-4104-4AD3-92F4-1FFF389A20B2}" sibTransId="{4455B960-89C4-4755-99E3-4FB7FCE3592A}"/>
    <dgm:cxn modelId="{BAA9B888-93C7-4E85-AA82-BE1DCC7C87BE}" type="presOf" srcId="{23C3856F-5E41-4F7B-9CDA-735725BF7C55}" destId="{9D5DC9E9-08E4-45FC-846D-F6344E5634E5}" srcOrd="0" destOrd="0" presId="urn:microsoft.com/office/officeart/2005/8/layout/vList2"/>
    <dgm:cxn modelId="{0066A5AB-A6DA-4C27-B06D-B36BA572C492}" type="presOf" srcId="{9A410CD9-3425-490F-ACAB-B8053052C897}" destId="{EF872656-7284-467D-91CA-1DF144BDEEFD}" srcOrd="0" destOrd="0" presId="urn:microsoft.com/office/officeart/2005/8/layout/vList2"/>
    <dgm:cxn modelId="{DAAD32B6-25DD-428D-8CEC-E52D06E820B3}" srcId="{9A410CD9-3425-490F-ACAB-B8053052C897}" destId="{B85B6B95-18B5-406A-82FA-B48CFAB3F745}" srcOrd="3" destOrd="0" parTransId="{9C2C159D-2A0C-4E09-B54D-87F0BA3EF60A}" sibTransId="{3E6FCA62-6789-4773-931A-328FB4A2CF28}"/>
    <dgm:cxn modelId="{69A014BD-9E07-4775-8264-C11767079F1A}" type="presOf" srcId="{3083E335-79DE-46BF-BA5F-6F4B35746CD2}" destId="{E72B79C8-5653-4423-BAB1-CF9C7989CDFB}" srcOrd="0" destOrd="0" presId="urn:microsoft.com/office/officeart/2005/8/layout/vList2"/>
    <dgm:cxn modelId="{1EF072EE-6950-48A6-AE63-ED9F295E5A82}" srcId="{9A410CD9-3425-490F-ACAB-B8053052C897}" destId="{3083E335-79DE-46BF-BA5F-6F4B35746CD2}" srcOrd="4" destOrd="0" parTransId="{79F196B1-255C-4B61-BB6F-957D46B2CF15}" sibTransId="{E5CB3D6C-F4E5-48C0-8D8F-F462BEB0A11A}"/>
    <dgm:cxn modelId="{636C2D1B-C92F-451F-9362-EA2FF0F79FF8}" type="presParOf" srcId="{EF872656-7284-467D-91CA-1DF144BDEEFD}" destId="{AA23FC01-F6C5-4269-802E-8EB97BC0BCFF}" srcOrd="0" destOrd="0" presId="urn:microsoft.com/office/officeart/2005/8/layout/vList2"/>
    <dgm:cxn modelId="{29DB199F-723A-4B34-9541-865CF881DFDE}" type="presParOf" srcId="{EF872656-7284-467D-91CA-1DF144BDEEFD}" destId="{E58AD33B-FE6C-49C1-BF7B-667E2FAABC5C}" srcOrd="1" destOrd="0" presId="urn:microsoft.com/office/officeart/2005/8/layout/vList2"/>
    <dgm:cxn modelId="{5E9A21BF-7E56-4C53-9767-15AC5070F182}" type="presParOf" srcId="{EF872656-7284-467D-91CA-1DF144BDEEFD}" destId="{9D5DC9E9-08E4-45FC-846D-F6344E5634E5}" srcOrd="2" destOrd="0" presId="urn:microsoft.com/office/officeart/2005/8/layout/vList2"/>
    <dgm:cxn modelId="{24172002-E268-496C-B344-CFA3772D39E5}" type="presParOf" srcId="{EF872656-7284-467D-91CA-1DF144BDEEFD}" destId="{0A612D07-CBAD-4C70-8F28-E6AF11B2F43F}" srcOrd="3" destOrd="0" presId="urn:microsoft.com/office/officeart/2005/8/layout/vList2"/>
    <dgm:cxn modelId="{57BDAAE5-4300-4938-AE9C-D8A599470EB6}" type="presParOf" srcId="{EF872656-7284-467D-91CA-1DF144BDEEFD}" destId="{DBA4F406-4CB8-48A3-B2FF-BE13FB7D5ACF}" srcOrd="4" destOrd="0" presId="urn:microsoft.com/office/officeart/2005/8/layout/vList2"/>
    <dgm:cxn modelId="{D8463AC0-1834-4A80-B328-D3475EEB8B13}" type="presParOf" srcId="{EF872656-7284-467D-91CA-1DF144BDEEFD}" destId="{C39ECA26-00A1-4A04-B42B-410CDF9A13CD}" srcOrd="5" destOrd="0" presId="urn:microsoft.com/office/officeart/2005/8/layout/vList2"/>
    <dgm:cxn modelId="{DC9114EC-7E30-44F1-A1E3-6C6277BC640C}" type="presParOf" srcId="{EF872656-7284-467D-91CA-1DF144BDEEFD}" destId="{016D5406-D12D-46A0-B21C-5B9F6D3CCBF8}" srcOrd="6" destOrd="0" presId="urn:microsoft.com/office/officeart/2005/8/layout/vList2"/>
    <dgm:cxn modelId="{1D1A56AA-533A-4061-883C-F2568288AF9A}" type="presParOf" srcId="{EF872656-7284-467D-91CA-1DF144BDEEFD}" destId="{387828E7-4A3F-4F03-B108-6E899CBE5AFC}" srcOrd="7" destOrd="0" presId="urn:microsoft.com/office/officeart/2005/8/layout/vList2"/>
    <dgm:cxn modelId="{6E39BF82-4138-4B20-91C9-FCC487122E93}" type="presParOf" srcId="{EF872656-7284-467D-91CA-1DF144BDEEFD}" destId="{E72B79C8-5653-4423-BAB1-CF9C7989CDFB}" srcOrd="8" destOrd="0" presId="urn:microsoft.com/office/officeart/2005/8/layout/vList2"/>
    <dgm:cxn modelId="{908AFE63-F1CF-42B3-A5ED-ACC7226D1BED}" type="presParOf" srcId="{EF872656-7284-467D-91CA-1DF144BDEEFD}" destId="{A54FBED7-273C-494C-91F1-EF9F97EDAE31}" srcOrd="9" destOrd="0" presId="urn:microsoft.com/office/officeart/2005/8/layout/vList2"/>
    <dgm:cxn modelId="{76450B0F-C7B8-4207-9374-A547C86A63BE}" type="presParOf" srcId="{EF872656-7284-467D-91CA-1DF144BDEEFD}" destId="{2FAB14F3-9764-44ED-AE30-F18B7104B0E8}" srcOrd="1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7F8CA2-510F-4A23-8FD8-422E9A6F1AA3}">
      <dsp:nvSpPr>
        <dsp:cNvPr id="0" name=""/>
        <dsp:cNvSpPr/>
      </dsp:nvSpPr>
      <dsp:spPr>
        <a:xfrm>
          <a:off x="0" y="278723"/>
          <a:ext cx="2668723" cy="2668768"/>
        </a:xfrm>
        <a:prstGeom prst="ellipse">
          <a:avLst/>
        </a:prstGeom>
        <a:solidFill>
          <a:schemeClr val="accent5">
            <a:alpha val="50000"/>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a:t>Small and imbalanced datasets limit model generalizability.</a:t>
          </a:r>
          <a:endParaRPr lang="en-IN" sz="1800" kern="1200"/>
        </a:p>
      </dsp:txBody>
      <dsp:txXfrm>
        <a:off x="390825" y="669555"/>
        <a:ext cx="1887073" cy="1887104"/>
      </dsp:txXfrm>
    </dsp:sp>
    <dsp:sp modelId="{256C6B31-802A-4A13-AA76-44D51AD06E88}">
      <dsp:nvSpPr>
        <dsp:cNvPr id="0" name=""/>
        <dsp:cNvSpPr/>
      </dsp:nvSpPr>
      <dsp:spPr>
        <a:xfrm>
          <a:off x="1366429" y="2242429"/>
          <a:ext cx="2668723" cy="2668768"/>
        </a:xfrm>
        <a:prstGeom prst="ellipse">
          <a:avLst/>
        </a:prstGeom>
        <a:solidFill>
          <a:schemeClr val="accent5">
            <a:alpha val="50000"/>
            <a:hueOff val="-1225557"/>
            <a:satOff val="-1705"/>
            <a:lumOff val="-654"/>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a:t>Heavy reliance on single datasets without external validation.</a:t>
          </a:r>
          <a:endParaRPr lang="en-IN" sz="1800" kern="1200"/>
        </a:p>
      </dsp:txBody>
      <dsp:txXfrm>
        <a:off x="1757254" y="2633261"/>
        <a:ext cx="1887073" cy="1887104"/>
      </dsp:txXfrm>
    </dsp:sp>
    <dsp:sp modelId="{193F56F6-EAE4-43C2-AF5E-1F9C941B4588}">
      <dsp:nvSpPr>
        <dsp:cNvPr id="0" name=""/>
        <dsp:cNvSpPr/>
      </dsp:nvSpPr>
      <dsp:spPr>
        <a:xfrm>
          <a:off x="2733946" y="278723"/>
          <a:ext cx="2668723" cy="2668768"/>
        </a:xfrm>
        <a:prstGeom prst="ellipse">
          <a:avLst/>
        </a:prstGeom>
        <a:solidFill>
          <a:schemeClr val="accent5">
            <a:alpha val="50000"/>
            <a:hueOff val="-2451115"/>
            <a:satOff val="-3409"/>
            <a:lumOff val="-1307"/>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a:t>Gender and regional bias reduce model fairness and transferability.</a:t>
          </a:r>
          <a:endParaRPr lang="en-IN" sz="1800" kern="1200"/>
        </a:p>
      </dsp:txBody>
      <dsp:txXfrm>
        <a:off x="3124771" y="669555"/>
        <a:ext cx="1887073" cy="1887104"/>
      </dsp:txXfrm>
    </dsp:sp>
    <dsp:sp modelId="{58847C8A-B334-45D0-B0B3-8E6A5E694B84}">
      <dsp:nvSpPr>
        <dsp:cNvPr id="0" name=""/>
        <dsp:cNvSpPr/>
      </dsp:nvSpPr>
      <dsp:spPr>
        <a:xfrm>
          <a:off x="4100376" y="2242429"/>
          <a:ext cx="2668723" cy="2668768"/>
        </a:xfrm>
        <a:prstGeom prst="ellipse">
          <a:avLst/>
        </a:prstGeom>
        <a:solidFill>
          <a:schemeClr val="accent5">
            <a:alpha val="50000"/>
            <a:hueOff val="-3676672"/>
            <a:satOff val="-5114"/>
            <a:lumOff val="-1961"/>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a:t>Missing lifestyle, genetic, medication, and socioeconomic data weaken predictions.</a:t>
          </a:r>
          <a:endParaRPr lang="en-IN" sz="1800" kern="1200"/>
        </a:p>
      </dsp:txBody>
      <dsp:txXfrm>
        <a:off x="4491201" y="2633261"/>
        <a:ext cx="1887073" cy="1887104"/>
      </dsp:txXfrm>
    </dsp:sp>
    <dsp:sp modelId="{103BD8B0-CC86-41DC-BC88-A85E466EFCF1}">
      <dsp:nvSpPr>
        <dsp:cNvPr id="0" name=""/>
        <dsp:cNvSpPr/>
      </dsp:nvSpPr>
      <dsp:spPr>
        <a:xfrm>
          <a:off x="5467893" y="278723"/>
          <a:ext cx="2668723" cy="2668768"/>
        </a:xfrm>
        <a:prstGeom prst="ellipse">
          <a:avLst/>
        </a:prstGeom>
        <a:solidFill>
          <a:schemeClr val="accent5">
            <a:alpha val="50000"/>
            <a:hueOff val="-4902230"/>
            <a:satOff val="-6819"/>
            <a:lumOff val="-2615"/>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a:t>Narrow feature sets and limited data diversity restrict model performance.</a:t>
          </a:r>
          <a:endParaRPr lang="en-IN" sz="1800" kern="1200"/>
        </a:p>
      </dsp:txBody>
      <dsp:txXfrm>
        <a:off x="5858718" y="669555"/>
        <a:ext cx="1887073" cy="1887104"/>
      </dsp:txXfrm>
    </dsp:sp>
    <dsp:sp modelId="{7FD4EBCE-D4CC-4244-91C3-4643A51D7A18}">
      <dsp:nvSpPr>
        <dsp:cNvPr id="0" name=""/>
        <dsp:cNvSpPr/>
      </dsp:nvSpPr>
      <dsp:spPr>
        <a:xfrm>
          <a:off x="6834323" y="2242429"/>
          <a:ext cx="2668723" cy="2668768"/>
        </a:xfrm>
        <a:prstGeom prst="ellipse">
          <a:avLst/>
        </a:prstGeom>
        <a:solidFill>
          <a:schemeClr val="accent5">
            <a:alpha val="50000"/>
            <a:hueOff val="-6127787"/>
            <a:satOff val="-8523"/>
            <a:lumOff val="-3268"/>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a:t>Data quality issues such as missing or duplicate records affect reliability.</a:t>
          </a:r>
          <a:endParaRPr lang="en-IN" sz="1800" kern="1200"/>
        </a:p>
      </dsp:txBody>
      <dsp:txXfrm>
        <a:off x="7225148" y="2633261"/>
        <a:ext cx="1887073" cy="1887104"/>
      </dsp:txXfrm>
    </dsp:sp>
    <dsp:sp modelId="{072AAAFD-480E-486D-A829-B5A2AFB0F2AD}">
      <dsp:nvSpPr>
        <dsp:cNvPr id="0" name=""/>
        <dsp:cNvSpPr/>
      </dsp:nvSpPr>
      <dsp:spPr>
        <a:xfrm>
          <a:off x="8201840" y="278723"/>
          <a:ext cx="2668723" cy="2668768"/>
        </a:xfrm>
        <a:prstGeom prst="ellipse">
          <a:avLst/>
        </a:prstGeom>
        <a:solidFill>
          <a:schemeClr val="accent5">
            <a:alpha val="50000"/>
            <a:hueOff val="-7353344"/>
            <a:satOff val="-10228"/>
            <a:lumOff val="-3922"/>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0">
          <a:scrgbClr r="0" g="0" b="0"/>
        </a:effectRef>
        <a:fontRef idx="minor">
          <a:schemeClr val="tx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a:t>Black-box models lack interpretability for clinical decision-making.</a:t>
          </a:r>
          <a:endParaRPr lang="en-IN" sz="1800" kern="1200"/>
        </a:p>
      </dsp:txBody>
      <dsp:txXfrm>
        <a:off x="8592665" y="669555"/>
        <a:ext cx="1887073" cy="18871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3A88E2-8B25-4B6A-BF21-C1C97C869717}">
      <dsp:nvSpPr>
        <dsp:cNvPr id="0" name=""/>
        <dsp:cNvSpPr/>
      </dsp:nvSpPr>
      <dsp:spPr>
        <a:xfrm>
          <a:off x="-6046622" y="-925813"/>
          <a:ext cx="7202871" cy="7202871"/>
        </a:xfrm>
        <a:prstGeom prst="blockArc">
          <a:avLst>
            <a:gd name="adj1" fmla="val 18900000"/>
            <a:gd name="adj2" fmla="val 2700000"/>
            <a:gd name="adj3" fmla="val 300"/>
          </a:avLst>
        </a:pr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061D68-B3AF-479E-AA30-35FD5E83147C}">
      <dsp:nvSpPr>
        <dsp:cNvPr id="0" name=""/>
        <dsp:cNvSpPr/>
      </dsp:nvSpPr>
      <dsp:spPr>
        <a:xfrm>
          <a:off x="375389" y="243267"/>
          <a:ext cx="6537312" cy="486321"/>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6017" tIns="38100" rIns="38100" bIns="38100" numCol="1" spcCol="1270" anchor="ctr" anchorCtr="0">
          <a:noAutofit/>
        </a:bodyPr>
        <a:lstStyle/>
        <a:p>
          <a:pPr marL="0" lvl="0" indent="0" algn="l" defTabSz="666750">
            <a:lnSpc>
              <a:spcPct val="90000"/>
            </a:lnSpc>
            <a:spcBef>
              <a:spcPct val="0"/>
            </a:spcBef>
            <a:spcAft>
              <a:spcPct val="35000"/>
            </a:spcAft>
            <a:buNone/>
          </a:pPr>
          <a:r>
            <a:rPr lang="en-IN" sz="1500" b="0" i="0" kern="1200"/>
            <a:t>Programming Language: Python</a:t>
          </a:r>
          <a:endParaRPr lang="en-IN" sz="1500" kern="1200"/>
        </a:p>
      </dsp:txBody>
      <dsp:txXfrm>
        <a:off x="375389" y="243267"/>
        <a:ext cx="6537312" cy="486321"/>
      </dsp:txXfrm>
    </dsp:sp>
    <dsp:sp modelId="{AC87B9CB-AB9A-48FC-9AFD-7D06757C2EBA}">
      <dsp:nvSpPr>
        <dsp:cNvPr id="0" name=""/>
        <dsp:cNvSpPr/>
      </dsp:nvSpPr>
      <dsp:spPr>
        <a:xfrm>
          <a:off x="71439" y="182477"/>
          <a:ext cx="607901" cy="607901"/>
        </a:xfrm>
        <a:prstGeom prst="ellipse">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283706-6694-4059-85B7-EC6EF6530AEB}">
      <dsp:nvSpPr>
        <dsp:cNvPr id="0" name=""/>
        <dsp:cNvSpPr/>
      </dsp:nvSpPr>
      <dsp:spPr>
        <a:xfrm>
          <a:off x="815797" y="973177"/>
          <a:ext cx="6096904" cy="486321"/>
        </a:xfrm>
        <a:prstGeom prst="rect">
          <a:avLst/>
        </a:prstGeom>
        <a:solidFill>
          <a:schemeClr val="accent5">
            <a:hueOff val="-1225557"/>
            <a:satOff val="-1705"/>
            <a:lumOff val="-65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6017" tIns="38100" rIns="38100" bIns="38100" numCol="1" spcCol="1270" anchor="ctr" anchorCtr="0">
          <a:noAutofit/>
        </a:bodyPr>
        <a:lstStyle/>
        <a:p>
          <a:pPr marL="0" lvl="0" indent="0" algn="l" defTabSz="666750">
            <a:lnSpc>
              <a:spcPct val="90000"/>
            </a:lnSpc>
            <a:spcBef>
              <a:spcPct val="0"/>
            </a:spcBef>
            <a:spcAft>
              <a:spcPct val="35000"/>
            </a:spcAft>
            <a:buNone/>
          </a:pPr>
          <a:r>
            <a:rPr lang="en-IN" sz="1500" b="0" i="0" kern="1200"/>
            <a:t>Scikit-learn: For machine learning model development and evaluation</a:t>
          </a:r>
          <a:endParaRPr lang="en-IN" sz="1500" kern="1200"/>
        </a:p>
      </dsp:txBody>
      <dsp:txXfrm>
        <a:off x="815797" y="973177"/>
        <a:ext cx="6096904" cy="486321"/>
      </dsp:txXfrm>
    </dsp:sp>
    <dsp:sp modelId="{66E6C396-60C4-489A-A529-4350777466A9}">
      <dsp:nvSpPr>
        <dsp:cNvPr id="0" name=""/>
        <dsp:cNvSpPr/>
      </dsp:nvSpPr>
      <dsp:spPr>
        <a:xfrm>
          <a:off x="511846" y="912387"/>
          <a:ext cx="607901" cy="607901"/>
        </a:xfrm>
        <a:prstGeom prst="ellipse">
          <a:avLst/>
        </a:prstGeom>
        <a:solidFill>
          <a:schemeClr val="lt1">
            <a:hueOff val="0"/>
            <a:satOff val="0"/>
            <a:lumOff val="0"/>
            <a:alphaOff val="0"/>
          </a:schemeClr>
        </a:solidFill>
        <a:ln w="25400" cap="flat" cmpd="sng" algn="ctr">
          <a:solidFill>
            <a:schemeClr val="accent5">
              <a:hueOff val="-1225557"/>
              <a:satOff val="-1705"/>
              <a:lumOff val="-654"/>
              <a:alphaOff val="0"/>
            </a:schemeClr>
          </a:solidFill>
          <a:prstDash val="solid"/>
        </a:ln>
        <a:effectLst/>
      </dsp:spPr>
      <dsp:style>
        <a:lnRef idx="2">
          <a:scrgbClr r="0" g="0" b="0"/>
        </a:lnRef>
        <a:fillRef idx="1">
          <a:scrgbClr r="0" g="0" b="0"/>
        </a:fillRef>
        <a:effectRef idx="0">
          <a:scrgbClr r="0" g="0" b="0"/>
        </a:effectRef>
        <a:fontRef idx="minor"/>
      </dsp:style>
    </dsp:sp>
    <dsp:sp modelId="{AF32F265-C746-4BFB-A9DF-4D5C0A79E49B}">
      <dsp:nvSpPr>
        <dsp:cNvPr id="0" name=""/>
        <dsp:cNvSpPr/>
      </dsp:nvSpPr>
      <dsp:spPr>
        <a:xfrm>
          <a:off x="1057138" y="1702551"/>
          <a:ext cx="5855563" cy="486321"/>
        </a:xfrm>
        <a:prstGeom prst="rect">
          <a:avLst/>
        </a:prstGeom>
        <a:solidFill>
          <a:schemeClr val="accent5">
            <a:hueOff val="-2451115"/>
            <a:satOff val="-3409"/>
            <a:lumOff val="-130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6017" tIns="38100" rIns="38100" bIns="38100" numCol="1" spcCol="1270" anchor="ctr" anchorCtr="0">
          <a:noAutofit/>
        </a:bodyPr>
        <a:lstStyle/>
        <a:p>
          <a:pPr marL="0" lvl="0" indent="0" algn="l" defTabSz="666750">
            <a:lnSpc>
              <a:spcPct val="90000"/>
            </a:lnSpc>
            <a:spcBef>
              <a:spcPct val="0"/>
            </a:spcBef>
            <a:spcAft>
              <a:spcPct val="35000"/>
            </a:spcAft>
            <a:buNone/>
          </a:pPr>
          <a:r>
            <a:rPr lang="en-IN" sz="1500" b="0" i="0" kern="1200"/>
            <a:t>XGBoost, LightGBM, CatBoost: For gradient boosting algorithms</a:t>
          </a:r>
          <a:endParaRPr lang="en-IN" sz="1500" kern="1200"/>
        </a:p>
      </dsp:txBody>
      <dsp:txXfrm>
        <a:off x="1057138" y="1702551"/>
        <a:ext cx="5855563" cy="486321"/>
      </dsp:txXfrm>
    </dsp:sp>
    <dsp:sp modelId="{4CA9011A-5AC8-49FC-810B-9212F1B8AFD5}">
      <dsp:nvSpPr>
        <dsp:cNvPr id="0" name=""/>
        <dsp:cNvSpPr/>
      </dsp:nvSpPr>
      <dsp:spPr>
        <a:xfrm>
          <a:off x="753187" y="1641761"/>
          <a:ext cx="607901" cy="607901"/>
        </a:xfrm>
        <a:prstGeom prst="ellipse">
          <a:avLst/>
        </a:prstGeom>
        <a:solidFill>
          <a:schemeClr val="lt1">
            <a:hueOff val="0"/>
            <a:satOff val="0"/>
            <a:lumOff val="0"/>
            <a:alphaOff val="0"/>
          </a:schemeClr>
        </a:solidFill>
        <a:ln w="25400" cap="flat" cmpd="sng" algn="ctr">
          <a:solidFill>
            <a:schemeClr val="accent5">
              <a:hueOff val="-2451115"/>
              <a:satOff val="-3409"/>
              <a:lumOff val="-1307"/>
              <a:alphaOff val="0"/>
            </a:schemeClr>
          </a:solidFill>
          <a:prstDash val="solid"/>
        </a:ln>
        <a:effectLst/>
      </dsp:spPr>
      <dsp:style>
        <a:lnRef idx="2">
          <a:scrgbClr r="0" g="0" b="0"/>
        </a:lnRef>
        <a:fillRef idx="1">
          <a:scrgbClr r="0" g="0" b="0"/>
        </a:fillRef>
        <a:effectRef idx="0">
          <a:scrgbClr r="0" g="0" b="0"/>
        </a:effectRef>
        <a:fontRef idx="minor"/>
      </dsp:style>
    </dsp:sp>
    <dsp:sp modelId="{A9F5289F-422F-482E-BBC8-B6C6463070C8}">
      <dsp:nvSpPr>
        <dsp:cNvPr id="0" name=""/>
        <dsp:cNvSpPr/>
      </dsp:nvSpPr>
      <dsp:spPr>
        <a:xfrm>
          <a:off x="1134196" y="2432461"/>
          <a:ext cx="5778505" cy="486321"/>
        </a:xfrm>
        <a:prstGeom prst="rect">
          <a:avLst/>
        </a:prstGeom>
        <a:solidFill>
          <a:schemeClr val="accent5">
            <a:hueOff val="-3676672"/>
            <a:satOff val="-5114"/>
            <a:lumOff val="-19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6017" tIns="38100" rIns="38100" bIns="38100" numCol="1" spcCol="1270" anchor="ctr" anchorCtr="0">
          <a:noAutofit/>
        </a:bodyPr>
        <a:lstStyle/>
        <a:p>
          <a:pPr marL="0" lvl="0" indent="0" algn="l" defTabSz="666750">
            <a:lnSpc>
              <a:spcPct val="90000"/>
            </a:lnSpc>
            <a:spcBef>
              <a:spcPct val="0"/>
            </a:spcBef>
            <a:spcAft>
              <a:spcPct val="35000"/>
            </a:spcAft>
            <a:buNone/>
          </a:pPr>
          <a:r>
            <a:rPr lang="en-IN" sz="1500" b="0" i="0" kern="1200"/>
            <a:t>Pandas, NumPy: For data preprocessing and manipulation</a:t>
          </a:r>
          <a:endParaRPr lang="en-IN" sz="1500" kern="1200"/>
        </a:p>
      </dsp:txBody>
      <dsp:txXfrm>
        <a:off x="1134196" y="2432461"/>
        <a:ext cx="5778505" cy="486321"/>
      </dsp:txXfrm>
    </dsp:sp>
    <dsp:sp modelId="{5845709B-FC4A-4C43-AD1A-4BF86107C5E5}">
      <dsp:nvSpPr>
        <dsp:cNvPr id="0" name=""/>
        <dsp:cNvSpPr/>
      </dsp:nvSpPr>
      <dsp:spPr>
        <a:xfrm>
          <a:off x="830245" y="2371671"/>
          <a:ext cx="607901" cy="607901"/>
        </a:xfrm>
        <a:prstGeom prst="ellipse">
          <a:avLst/>
        </a:prstGeom>
        <a:solidFill>
          <a:schemeClr val="lt1">
            <a:hueOff val="0"/>
            <a:satOff val="0"/>
            <a:lumOff val="0"/>
            <a:alphaOff val="0"/>
          </a:schemeClr>
        </a:solidFill>
        <a:ln w="25400" cap="flat" cmpd="sng" algn="ctr">
          <a:solidFill>
            <a:schemeClr val="accent5">
              <a:hueOff val="-3676672"/>
              <a:satOff val="-5114"/>
              <a:lumOff val="-1961"/>
              <a:alphaOff val="0"/>
            </a:schemeClr>
          </a:solidFill>
          <a:prstDash val="solid"/>
        </a:ln>
        <a:effectLst/>
      </dsp:spPr>
      <dsp:style>
        <a:lnRef idx="2">
          <a:scrgbClr r="0" g="0" b="0"/>
        </a:lnRef>
        <a:fillRef idx="1">
          <a:scrgbClr r="0" g="0" b="0"/>
        </a:fillRef>
        <a:effectRef idx="0">
          <a:scrgbClr r="0" g="0" b="0"/>
        </a:effectRef>
        <a:fontRef idx="minor"/>
      </dsp:style>
    </dsp:sp>
    <dsp:sp modelId="{A219A944-3416-4B9A-BB62-8EF7EF55A0C4}">
      <dsp:nvSpPr>
        <dsp:cNvPr id="0" name=""/>
        <dsp:cNvSpPr/>
      </dsp:nvSpPr>
      <dsp:spPr>
        <a:xfrm>
          <a:off x="1057138" y="3162371"/>
          <a:ext cx="5855563" cy="486321"/>
        </a:xfrm>
        <a:prstGeom prst="rect">
          <a:avLst/>
        </a:prstGeom>
        <a:solidFill>
          <a:schemeClr val="accent5">
            <a:hueOff val="-4902230"/>
            <a:satOff val="-6819"/>
            <a:lumOff val="-2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6017" tIns="38100" rIns="38100" bIns="38100" numCol="1" spcCol="1270" anchor="ctr" anchorCtr="0">
          <a:noAutofit/>
        </a:bodyPr>
        <a:lstStyle/>
        <a:p>
          <a:pPr marL="0" lvl="0" indent="0" algn="l" defTabSz="666750">
            <a:lnSpc>
              <a:spcPct val="90000"/>
            </a:lnSpc>
            <a:spcBef>
              <a:spcPct val="0"/>
            </a:spcBef>
            <a:spcAft>
              <a:spcPct val="35000"/>
            </a:spcAft>
            <a:buNone/>
          </a:pPr>
          <a:r>
            <a:rPr lang="en-IN" sz="1500" b="0" i="0" kern="1200"/>
            <a:t>Matplotlib, Seaborn: For data visualization and performance analysis</a:t>
          </a:r>
          <a:endParaRPr lang="en-IN" sz="1500" kern="1200"/>
        </a:p>
      </dsp:txBody>
      <dsp:txXfrm>
        <a:off x="1057138" y="3162371"/>
        <a:ext cx="5855563" cy="486321"/>
      </dsp:txXfrm>
    </dsp:sp>
    <dsp:sp modelId="{9E7299E5-5308-4DD1-9DB1-D913A9BE108C}">
      <dsp:nvSpPr>
        <dsp:cNvPr id="0" name=""/>
        <dsp:cNvSpPr/>
      </dsp:nvSpPr>
      <dsp:spPr>
        <a:xfrm>
          <a:off x="753187" y="3101581"/>
          <a:ext cx="607901" cy="607901"/>
        </a:xfrm>
        <a:prstGeom prst="ellipse">
          <a:avLst/>
        </a:prstGeom>
        <a:solidFill>
          <a:schemeClr val="lt1">
            <a:hueOff val="0"/>
            <a:satOff val="0"/>
            <a:lumOff val="0"/>
            <a:alphaOff val="0"/>
          </a:schemeClr>
        </a:solidFill>
        <a:ln w="25400" cap="flat" cmpd="sng" algn="ctr">
          <a:solidFill>
            <a:schemeClr val="accent5">
              <a:hueOff val="-4902230"/>
              <a:satOff val="-6819"/>
              <a:lumOff val="-2615"/>
              <a:alphaOff val="0"/>
            </a:schemeClr>
          </a:solidFill>
          <a:prstDash val="solid"/>
        </a:ln>
        <a:effectLst/>
      </dsp:spPr>
      <dsp:style>
        <a:lnRef idx="2">
          <a:scrgbClr r="0" g="0" b="0"/>
        </a:lnRef>
        <a:fillRef idx="1">
          <a:scrgbClr r="0" g="0" b="0"/>
        </a:fillRef>
        <a:effectRef idx="0">
          <a:scrgbClr r="0" g="0" b="0"/>
        </a:effectRef>
        <a:fontRef idx="minor"/>
      </dsp:style>
    </dsp:sp>
    <dsp:sp modelId="{30D01A6E-D51F-47B9-8584-B6FA636CF2CC}">
      <dsp:nvSpPr>
        <dsp:cNvPr id="0" name=""/>
        <dsp:cNvSpPr/>
      </dsp:nvSpPr>
      <dsp:spPr>
        <a:xfrm>
          <a:off x="815797" y="3891745"/>
          <a:ext cx="6096904" cy="486321"/>
        </a:xfrm>
        <a:prstGeom prst="rect">
          <a:avLst/>
        </a:prstGeom>
        <a:solidFill>
          <a:schemeClr val="accent5">
            <a:hueOff val="-6127787"/>
            <a:satOff val="-8523"/>
            <a:lumOff val="-326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6017" tIns="38100" rIns="38100" bIns="38100" numCol="1" spcCol="1270" anchor="ctr" anchorCtr="0">
          <a:noAutofit/>
        </a:bodyPr>
        <a:lstStyle/>
        <a:p>
          <a:pPr marL="0" lvl="0" indent="0" algn="l" defTabSz="666750">
            <a:lnSpc>
              <a:spcPct val="90000"/>
            </a:lnSpc>
            <a:spcBef>
              <a:spcPct val="0"/>
            </a:spcBef>
            <a:spcAft>
              <a:spcPct val="35000"/>
            </a:spcAft>
            <a:buNone/>
          </a:pPr>
          <a:r>
            <a:rPr lang="en-IN" sz="1500" b="0" i="0" kern="1200"/>
            <a:t>Development Environment: </a:t>
          </a:r>
          <a:r>
            <a:rPr lang="en-IN" sz="1500" b="0" i="0" kern="1200" err="1"/>
            <a:t>Jupyter</a:t>
          </a:r>
          <a:r>
            <a:rPr lang="en-IN" sz="1500" b="0" i="0" kern="1200"/>
            <a:t> Notebook / Google Colab / Kaggle</a:t>
          </a:r>
          <a:endParaRPr lang="en-IN" sz="1500" kern="1200"/>
        </a:p>
      </dsp:txBody>
      <dsp:txXfrm>
        <a:off x="815797" y="3891745"/>
        <a:ext cx="6096904" cy="486321"/>
      </dsp:txXfrm>
    </dsp:sp>
    <dsp:sp modelId="{9281EAAD-9590-4968-8885-67330E5FCE43}">
      <dsp:nvSpPr>
        <dsp:cNvPr id="0" name=""/>
        <dsp:cNvSpPr/>
      </dsp:nvSpPr>
      <dsp:spPr>
        <a:xfrm>
          <a:off x="511846" y="3830955"/>
          <a:ext cx="607901" cy="607901"/>
        </a:xfrm>
        <a:prstGeom prst="ellipse">
          <a:avLst/>
        </a:prstGeom>
        <a:solidFill>
          <a:schemeClr val="lt1">
            <a:hueOff val="0"/>
            <a:satOff val="0"/>
            <a:lumOff val="0"/>
            <a:alphaOff val="0"/>
          </a:schemeClr>
        </a:solidFill>
        <a:ln w="25400" cap="flat" cmpd="sng" algn="ctr">
          <a:solidFill>
            <a:schemeClr val="accent5">
              <a:hueOff val="-6127787"/>
              <a:satOff val="-8523"/>
              <a:lumOff val="-3268"/>
              <a:alphaOff val="0"/>
            </a:schemeClr>
          </a:solidFill>
          <a:prstDash val="solid"/>
        </a:ln>
        <a:effectLst/>
      </dsp:spPr>
      <dsp:style>
        <a:lnRef idx="2">
          <a:scrgbClr r="0" g="0" b="0"/>
        </a:lnRef>
        <a:fillRef idx="1">
          <a:scrgbClr r="0" g="0" b="0"/>
        </a:fillRef>
        <a:effectRef idx="0">
          <a:scrgbClr r="0" g="0" b="0"/>
        </a:effectRef>
        <a:fontRef idx="minor"/>
      </dsp:style>
    </dsp:sp>
    <dsp:sp modelId="{122DF0E2-E878-4CA7-984C-B11DC1A9BFE0}">
      <dsp:nvSpPr>
        <dsp:cNvPr id="0" name=""/>
        <dsp:cNvSpPr/>
      </dsp:nvSpPr>
      <dsp:spPr>
        <a:xfrm>
          <a:off x="375389" y="4621655"/>
          <a:ext cx="6537312" cy="486321"/>
        </a:xfrm>
        <a:prstGeom prst="rect">
          <a:avLst/>
        </a:prstGeom>
        <a:solidFill>
          <a:schemeClr val="accent5">
            <a:hueOff val="-7353344"/>
            <a:satOff val="-10228"/>
            <a:lumOff val="-392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6017" tIns="38100" rIns="38100" bIns="38100" numCol="1" spcCol="1270" anchor="ctr" anchorCtr="0">
          <a:noAutofit/>
        </a:bodyPr>
        <a:lstStyle/>
        <a:p>
          <a:pPr marL="0" lvl="0" indent="0" algn="l" defTabSz="666750">
            <a:lnSpc>
              <a:spcPct val="90000"/>
            </a:lnSpc>
            <a:spcBef>
              <a:spcPct val="0"/>
            </a:spcBef>
            <a:spcAft>
              <a:spcPct val="35000"/>
            </a:spcAft>
            <a:buNone/>
          </a:pPr>
          <a:r>
            <a:rPr lang="en-IN" sz="1500" b="0" i="0" kern="1200"/>
            <a:t>Database &amp; Storage: CSV datasets (clinical data)</a:t>
          </a:r>
          <a:endParaRPr lang="en-IN" sz="1500" kern="1200"/>
        </a:p>
      </dsp:txBody>
      <dsp:txXfrm>
        <a:off x="375389" y="4621655"/>
        <a:ext cx="6537312" cy="486321"/>
      </dsp:txXfrm>
    </dsp:sp>
    <dsp:sp modelId="{53C490CD-4497-4A4D-9555-7A420A0DA161}">
      <dsp:nvSpPr>
        <dsp:cNvPr id="0" name=""/>
        <dsp:cNvSpPr/>
      </dsp:nvSpPr>
      <dsp:spPr>
        <a:xfrm>
          <a:off x="71439" y="4560865"/>
          <a:ext cx="607901" cy="607901"/>
        </a:xfrm>
        <a:prstGeom prst="ellipse">
          <a:avLst/>
        </a:prstGeom>
        <a:solidFill>
          <a:schemeClr val="lt1">
            <a:hueOff val="0"/>
            <a:satOff val="0"/>
            <a:lumOff val="0"/>
            <a:alphaOff val="0"/>
          </a:schemeClr>
        </a:solidFill>
        <a:ln w="25400" cap="flat" cmpd="sng" algn="ctr">
          <a:solidFill>
            <a:schemeClr val="accent5">
              <a:hueOff val="-7353344"/>
              <a:satOff val="-10228"/>
              <a:lumOff val="-3922"/>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23FC01-F6C5-4269-802E-8EB97BC0BCFF}">
      <dsp:nvSpPr>
        <dsp:cNvPr id="0" name=""/>
        <dsp:cNvSpPr/>
      </dsp:nvSpPr>
      <dsp:spPr>
        <a:xfrm>
          <a:off x="0" y="75908"/>
          <a:ext cx="8869680" cy="810809"/>
        </a:xfrm>
        <a:prstGeom prst="round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Plan to extend the current model by integrating a medical image dataset (e.g., echocardiogram or chest X-ray).</a:t>
          </a:r>
        </a:p>
      </dsp:txBody>
      <dsp:txXfrm>
        <a:off x="39580" y="115488"/>
        <a:ext cx="8790520" cy="731649"/>
      </dsp:txXfrm>
    </dsp:sp>
    <dsp:sp modelId="{9D5DC9E9-08E4-45FC-846D-F6344E5634E5}">
      <dsp:nvSpPr>
        <dsp:cNvPr id="0" name=""/>
        <dsp:cNvSpPr/>
      </dsp:nvSpPr>
      <dsp:spPr>
        <a:xfrm>
          <a:off x="0" y="947198"/>
          <a:ext cx="8869680" cy="810809"/>
        </a:xfrm>
        <a:prstGeom prst="roundRect">
          <a:avLst/>
        </a:prstGeom>
        <a:solidFill>
          <a:schemeClr val="accent5">
            <a:hueOff val="-1470669"/>
            <a:satOff val="-2046"/>
            <a:lumOff val="-784"/>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Combine clinical data and image features to create a more robust multimodal prediction framework.</a:t>
          </a:r>
        </a:p>
      </dsp:txBody>
      <dsp:txXfrm>
        <a:off x="39580" y="986778"/>
        <a:ext cx="8790520" cy="731649"/>
      </dsp:txXfrm>
    </dsp:sp>
    <dsp:sp modelId="{DBA4F406-4CB8-48A3-B2FF-BE13FB7D5ACF}">
      <dsp:nvSpPr>
        <dsp:cNvPr id="0" name=""/>
        <dsp:cNvSpPr/>
      </dsp:nvSpPr>
      <dsp:spPr>
        <a:xfrm>
          <a:off x="0" y="1818488"/>
          <a:ext cx="8869680" cy="810809"/>
        </a:xfrm>
        <a:prstGeom prst="roundRect">
          <a:avLst/>
        </a:prstGeom>
        <a:solidFill>
          <a:schemeClr val="accent5">
            <a:hueOff val="-2941338"/>
            <a:satOff val="-4091"/>
            <a:lumOff val="-156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Use advanced CNN architectures (e.g., ResNet, EfficientNet) for high-quality image feature extraction.</a:t>
          </a:r>
        </a:p>
      </dsp:txBody>
      <dsp:txXfrm>
        <a:off x="39580" y="1858068"/>
        <a:ext cx="8790520" cy="731649"/>
      </dsp:txXfrm>
    </dsp:sp>
    <dsp:sp modelId="{016D5406-D12D-46A0-B21C-5B9F6D3CCBF8}">
      <dsp:nvSpPr>
        <dsp:cNvPr id="0" name=""/>
        <dsp:cNvSpPr/>
      </dsp:nvSpPr>
      <dsp:spPr>
        <a:xfrm>
          <a:off x="0" y="2689779"/>
          <a:ext cx="8869680" cy="810809"/>
        </a:xfrm>
        <a:prstGeom prst="roundRect">
          <a:avLst/>
        </a:prstGeom>
        <a:solidFill>
          <a:schemeClr val="accent5">
            <a:hueOff val="-4412007"/>
            <a:satOff val="-6137"/>
            <a:lumOff val="-235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Fine-tune the system for better diagnostic accuracy and real-time clinical use.</a:t>
          </a:r>
        </a:p>
      </dsp:txBody>
      <dsp:txXfrm>
        <a:off x="39580" y="2729359"/>
        <a:ext cx="8790520" cy="731649"/>
      </dsp:txXfrm>
    </dsp:sp>
    <dsp:sp modelId="{E72B79C8-5653-4423-BAB1-CF9C7989CDFB}">
      <dsp:nvSpPr>
        <dsp:cNvPr id="0" name=""/>
        <dsp:cNvSpPr/>
      </dsp:nvSpPr>
      <dsp:spPr>
        <a:xfrm>
          <a:off x="0" y="3561069"/>
          <a:ext cx="8869680" cy="810809"/>
        </a:xfrm>
        <a:prstGeom prst="roundRect">
          <a:avLst/>
        </a:prstGeom>
        <a:solidFill>
          <a:schemeClr val="accent5">
            <a:hueOff val="-5882676"/>
            <a:satOff val="-8182"/>
            <a:lumOff val="-313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Deploy as a web or mobile-based diagnostic tool for hospitals and patients.</a:t>
          </a:r>
        </a:p>
      </dsp:txBody>
      <dsp:txXfrm>
        <a:off x="39580" y="3600649"/>
        <a:ext cx="8790520" cy="731649"/>
      </dsp:txXfrm>
    </dsp:sp>
    <dsp:sp modelId="{2FAB14F3-9764-44ED-AE30-F18B7104B0E8}">
      <dsp:nvSpPr>
        <dsp:cNvPr id="0" name=""/>
        <dsp:cNvSpPr/>
      </dsp:nvSpPr>
      <dsp:spPr>
        <a:xfrm>
          <a:off x="0" y="4432359"/>
          <a:ext cx="8869680" cy="810809"/>
        </a:xfrm>
        <a:prstGeom prst="roundRect">
          <a:avLst/>
        </a:prstGeom>
        <a:solidFill>
          <a:schemeClr val="accent5">
            <a:hueOff val="-7353344"/>
            <a:satOff val="-10228"/>
            <a:lumOff val="-3922"/>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Collaborate with health institutions to validate the model on real-world datasets.</a:t>
          </a:r>
        </a:p>
      </dsp:txBody>
      <dsp:txXfrm>
        <a:off x="39580" y="4471939"/>
        <a:ext cx="8790520" cy="731649"/>
      </dsp:txXfrm>
    </dsp:sp>
  </dsp:spTree>
</dsp:drawing>
</file>

<file path=ppt/diagrams/layout1.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A083298-D1DF-B76D-D074-FE25CF62703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0958FC53-2E02-81EB-1582-26B894FEAB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6605489-31D0-9419-643B-438117B623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16438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73E5C72-8EDC-5F36-FF84-107A872F516E}"/>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FFF29B73-DE77-D230-E44B-B631C84524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E6BBD7C6-3492-C6E7-5564-35C9D68AFC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921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550FB7D-5D1D-7913-9008-3E4AAB168E38}"/>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0429E40-4A05-40BB-776C-511DECB1F7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03802EA6-4492-CF6F-83E6-FE4B78D7B7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16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B9D7628-C9B7-5103-D7C9-C65AC86E1284}"/>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148FBDAC-E804-4EE7-89C8-6AA9CEEC7E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85F4A70A-312E-208D-4898-CA2D2A05B6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5543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6F533F8-D5AA-B223-8C3D-3C5CEA6D1573}"/>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AFE0D872-F3C6-5535-FD13-D8559D2A7C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A7371874-5263-0455-9837-BB9B3F0664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42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27D1B43-415C-7B69-A973-BC8AFDDDAF4B}"/>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CE049E3-FD08-ABB4-FB0E-199D4BB312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0EDF0096-CF59-F8EF-68A7-76717DB6D8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6583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7ACC1B7-692E-9B10-6CBE-2359EF4A73EE}"/>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85672D8-FA66-408A-A2EF-E3D51B9770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39E9333F-DF6B-5F6F-1AD3-BFFA28CC4D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0029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69D22C0-6615-A537-167D-9CD450467DF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FB9D10E2-DB01-86E8-1145-15FC2C2F0C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FF54ED9E-2D1B-F1B9-A563-2C7528D0F8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95808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5E22CAC-0174-5C18-D83D-04D4515F366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BFA5EE04-DF99-9B81-D017-F74E734B76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3B2FDDEF-4D93-701A-8AD1-F2250C17BA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5288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2EDFFC7-DB2A-53BB-BA23-2525EC3458C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271FF3BA-4DAA-96BE-21A0-DE3957F5E3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95F21211-EF82-A7C1-560F-F1BD567CD7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9520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413BA7F-C550-1E7E-55A4-F223ADAB3A6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464836E9-3CDE-F018-8D96-E593724AB9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A2B4D0E8-0FE7-BBA7-BC6E-2131ECA04E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785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23FE2DC-BF68-0370-BBF7-2E2595985DFA}"/>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F1BF0ED7-BB28-6BB2-9C04-EDBF9981CF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4D3E3EEC-4297-B98A-3E15-353B2179D8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40941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674DF25-BC0D-1FF1-95CD-0E8A0BFC1753}"/>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1630B23C-8DC3-45D3-A7FE-7497D601DA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581CE5AF-E1C3-AAFC-CE28-F1E7D29922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20353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29B6666-75DD-E683-71A8-E71097809F36}"/>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802F9DD3-6EB7-079D-8127-A3DBCA7603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EE569301-AA5A-7E9E-91B6-333A72424E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73492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2F247F9-59D4-9637-61F2-DD74ED8B88E7}"/>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C2F3BFF-B098-F895-4D4A-2D1015EB88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914CAA90-F537-169B-5679-92938A66AD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42214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4A59B0F-CD5A-BF35-21F1-22CAB0E18221}"/>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56DF8579-0DCF-BC6F-6D17-F6ACAE4231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F08F8552-5A59-DCE3-6E76-404C61F840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5050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B8B5A94-0B42-240A-08C8-C5F017B632CE}"/>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5BD6066B-E06A-D87C-46D8-8340167A1F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0139C2B8-0691-52CB-E306-C44C0914D4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54112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D0E0665-21B4-BDBE-8F5A-299CF8EC2D0B}"/>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BA1EB7D6-8AFA-FD3F-8A52-607AF236EA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6ED7AC81-49F2-8EBA-2D25-ABB0851CC8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78534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329BD9A-E878-4E71-1D84-303553977AA2}"/>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5C52F73-BD90-C040-CB3A-69CE080DCD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813C6520-41E7-0430-D07D-40E471B7AB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23238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147363B-5C2B-361B-6C43-A4DF97EA8981}"/>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7F8F7A0B-C575-41E3-8372-EA4EE5971C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8EA785CB-3CCC-B364-DB1D-337D71895C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14442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a:spLocks noGrp="1"/>
          </p:cNvSpPr>
          <p:nvPr>
            <p:ph type="pic" idx="2"/>
          </p:nvPr>
        </p:nvSpPr>
        <p:spPr>
          <a:xfrm>
            <a:off x="5183188" y="987425"/>
            <a:ext cx="6172200" cy="4873625"/>
          </a:xfrm>
          <a:prstGeom prst="rect">
            <a:avLst/>
          </a:prstGeom>
          <a:noFill/>
          <a:ln>
            <a:noFill/>
          </a:ln>
        </p:spPr>
      </p:sp>
      <p:sp>
        <p:nvSpPr>
          <p:cNvPr id="64" name="Google Shape;64;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www.kaggle.com/datasets/sulianova/cardiovascular-disease-dataset"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jpeg"/><Relationship Id="rId7" Type="http://schemas.openxmlformats.org/officeDocument/2006/relationships/diagramQuickStyle" Target="../diagrams/quickStyle2.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2.jpeg"/><Relationship Id="rId9" Type="http://schemas.microsoft.com/office/2007/relationships/diagramDrawing" Target="../diagrams/drawing2.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jpeg"/><Relationship Id="rId7" Type="http://schemas.openxmlformats.org/officeDocument/2006/relationships/diagramColors" Target="../diagrams/colors3.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arxiv.org/abs/2411.05900"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7"/>
        <p:cNvGrpSpPr/>
        <p:nvPr/>
      </p:nvGrpSpPr>
      <p:grpSpPr>
        <a:xfrm>
          <a:off x="0" y="0"/>
          <a:ext cx="0" cy="0"/>
          <a:chOff x="0" y="0"/>
          <a:chExt cx="0" cy="0"/>
        </a:xfrm>
      </p:grpSpPr>
      <p:sp>
        <p:nvSpPr>
          <p:cNvPr id="88" name="Google Shape;88;p2"/>
          <p:cNvSpPr txBox="1"/>
          <p:nvPr/>
        </p:nvSpPr>
        <p:spPr>
          <a:xfrm>
            <a:off x="3102948" y="3602556"/>
            <a:ext cx="7016411" cy="1292631"/>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Team Member 1: </a:t>
            </a:r>
            <a:r>
              <a:rPr lang="en-US" sz="1800" b="0" i="0" u="none" strike="noStrike" cap="none" dirty="0" err="1">
                <a:solidFill>
                  <a:schemeClr val="dk1"/>
                </a:solidFill>
                <a:latin typeface="Proxima Nova" panose="02000506030000020004"/>
                <a:ea typeface="Proxima Nova" panose="02000506030000020004"/>
                <a:cs typeface="Proxima Nova" panose="02000506030000020004"/>
                <a:sym typeface="Proxima Nova" panose="02000506030000020004"/>
              </a:rPr>
              <a:t>Shubhamkumar</a:t>
            </a:r>
            <a:r>
              <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 Pandit </a:t>
            </a: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(92200103155) (</a:t>
            </a:r>
            <a:r>
              <a:rPr lang="en-US" sz="1800" dirty="0">
                <a:solidFill>
                  <a:schemeClr val="tx1"/>
                </a:solidFill>
                <a:latin typeface="Proxima Nova" panose="02000506030000020004"/>
                <a:ea typeface="Proxima Nova" panose="02000506030000020004"/>
                <a:cs typeface="Proxima Nova" panose="02000506030000020004"/>
                <a:sym typeface="Proxima Nova" panose="02000506030000020004"/>
              </a:rPr>
              <a:t>8TC2</a:t>
            </a: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a:t>
            </a:r>
            <a:endParaRPr dirty="0">
              <a:solidFill>
                <a:schemeClr val="tx1"/>
              </a:solidFill>
            </a:endParaRPr>
          </a:p>
          <a:p>
            <a:pPr marL="0" marR="0" lvl="0" indent="0" algn="l" rtl="0">
              <a:spcBef>
                <a:spcPts val="0"/>
              </a:spcBef>
              <a:spcAft>
                <a:spcPts val="0"/>
              </a:spcAft>
              <a:buNone/>
            </a:pPr>
            <a:r>
              <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Team Member 2: </a:t>
            </a:r>
            <a:r>
              <a:rPr lang="en-US" sz="1800" b="0" i="0" u="none" strike="noStrike" cap="none" dirty="0" err="1">
                <a:solidFill>
                  <a:schemeClr val="dk1"/>
                </a:solidFill>
                <a:latin typeface="Proxima Nova" panose="02000506030000020004"/>
                <a:ea typeface="Proxima Nova" panose="02000506030000020004"/>
                <a:cs typeface="Proxima Nova" panose="02000506030000020004"/>
                <a:sym typeface="Proxima Nova" panose="02000506030000020004"/>
              </a:rPr>
              <a:t>Sonukumar</a:t>
            </a:r>
            <a:r>
              <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 Pandit </a:t>
            </a: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(92200103157) (</a:t>
            </a:r>
            <a:r>
              <a:rPr lang="en-US" sz="1800" dirty="0">
                <a:solidFill>
                  <a:schemeClr val="tx1"/>
                </a:solidFill>
                <a:latin typeface="Proxima Nova" panose="02000506030000020004"/>
                <a:ea typeface="Proxima Nova" panose="02000506030000020004"/>
                <a:cs typeface="Proxima Nova" panose="02000506030000020004"/>
                <a:sym typeface="Proxima Nova" panose="02000506030000020004"/>
              </a:rPr>
              <a:t>8TC2</a:t>
            </a: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a:t>
            </a:r>
            <a:endParaRPr dirty="0">
              <a:solidFill>
                <a:schemeClr val="tx1"/>
              </a:solidFill>
            </a:endParaRPr>
          </a:p>
          <a:p>
            <a:pPr marL="0" marR="0" lvl="0" indent="0" algn="l" rtl="0">
              <a:spcBef>
                <a:spcPts val="0"/>
              </a:spcBef>
              <a:spcAft>
                <a:spcPts val="0"/>
              </a:spcAft>
              <a:buNone/>
            </a:pPr>
            <a:r>
              <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Team Member 3: Saurav Patra</a:t>
            </a:r>
            <a:r>
              <a:rPr lang="en-US" sz="1800" b="0" i="0" u="none" strike="noStrike" cap="none" dirty="0">
                <a:solidFill>
                  <a:srgbClr val="FF0000"/>
                </a:solidFill>
                <a:latin typeface="Proxima Nova" panose="02000506030000020004"/>
                <a:ea typeface="Proxima Nova" panose="02000506030000020004"/>
                <a:cs typeface="Proxima Nova" panose="02000506030000020004"/>
                <a:sym typeface="Proxima Nova" panose="02000506030000020004"/>
              </a:rPr>
              <a:t> </a:t>
            </a:r>
            <a:r>
              <a:rPr lang="en-US" sz="18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rPr>
              <a:t>(92200103101) (8TC2)</a:t>
            </a:r>
            <a:endParaRPr dirty="0">
              <a:solidFill>
                <a:schemeClr val="tx1"/>
              </a:solidFill>
            </a:endParaRPr>
          </a:p>
          <a:p>
            <a:pPr marL="0" marR="0" lvl="0" indent="0" algn="l" rtl="0">
              <a:spcBef>
                <a:spcPts val="0"/>
              </a:spcBef>
              <a:spcAft>
                <a:spcPts val="0"/>
              </a:spcAft>
              <a:buNone/>
            </a:pPr>
            <a:endParaRPr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
        <p:nvSpPr>
          <p:cNvPr id="89" name="Google Shape;89;p2"/>
          <p:cNvSpPr txBox="1"/>
          <p:nvPr/>
        </p:nvSpPr>
        <p:spPr>
          <a:xfrm>
            <a:off x="304800" y="2332994"/>
            <a:ext cx="11531600" cy="1225977"/>
          </a:xfrm>
          <a:prstGeom prst="rect">
            <a:avLst/>
          </a:prstGeom>
          <a:noFill/>
          <a:ln>
            <a:noFill/>
          </a:ln>
        </p:spPr>
        <p:txBody>
          <a:bodyPr spcFirstLastPara="1" wrap="square" lIns="0" tIns="12700" rIns="0" bIns="0" anchor="ctr" anchorCtr="0">
            <a:spAutoFit/>
          </a:bodyPr>
          <a:lstStyle/>
          <a:p>
            <a:pPr marL="12700" lvl="0" algn="ctr">
              <a:buClr>
                <a:srgbClr val="04A2B9"/>
              </a:buClr>
              <a:buSzPts val="2800"/>
            </a:pPr>
            <a:r>
              <a:rPr lang="en-US" sz="2800" dirty="0">
                <a:solidFill>
                  <a:schemeClr val="tx1"/>
                </a:solidFill>
                <a:latin typeface="Proxima Nova" panose="02000506030000020004"/>
                <a:ea typeface="Proxima Nova" panose="02000506030000020004"/>
                <a:cs typeface="Proxima Nova" panose="02000506030000020004"/>
                <a:sym typeface="Proxima Nova" panose="02000506030000020004"/>
              </a:rPr>
              <a:t>A Multimodal Approach for Heart Disease Prediction Using Machine Learning and Deep Learning Techniques</a:t>
            </a:r>
            <a:endParaRPr lang="en-US" dirty="0">
              <a:solidFill>
                <a:schemeClr val="tx1"/>
              </a:solidFill>
            </a:endParaRPr>
          </a:p>
          <a:p>
            <a:pPr marL="12700" marR="0" lvl="0" indent="0" algn="ctr" rtl="0">
              <a:lnSpc>
                <a:spcPct val="100000"/>
              </a:lnSpc>
              <a:spcBef>
                <a:spcPts val="100"/>
              </a:spcBef>
              <a:spcAft>
                <a:spcPts val="0"/>
              </a:spcAft>
              <a:buClr>
                <a:srgbClr val="04A2B9"/>
              </a:buClr>
              <a:buSzPts val="2200"/>
              <a:buFont typeface="Proxima Nova" panose="02000506030000020004"/>
              <a:buNone/>
            </a:pPr>
            <a: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TEAM ID: </a:t>
            </a:r>
            <a:r>
              <a:rPr lang="en-US" sz="2200" dirty="0">
                <a:solidFill>
                  <a:schemeClr val="tx1"/>
                </a:solidFill>
                <a:latin typeface="Proxima Nova" panose="02000506030000020004"/>
                <a:ea typeface="Proxima Nova" panose="02000506030000020004"/>
                <a:cs typeface="Proxima Nova" panose="02000506030000020004"/>
                <a:sym typeface="Proxima Nova" panose="02000506030000020004"/>
              </a:rPr>
              <a:t>8PRO_068</a:t>
            </a:r>
            <a:endParaRPr lang="en-US" sz="2200" b="0" i="0" u="none" strike="noStrike" cap="none" dirty="0">
              <a:solidFill>
                <a:schemeClr val="tx1"/>
              </a:solidFill>
              <a:latin typeface="Proxima Nova" panose="02000506030000020004"/>
              <a:ea typeface="Proxima Nova" panose="02000506030000020004"/>
              <a:cs typeface="Proxima Nova" panose="02000506030000020004"/>
              <a:sym typeface="Proxima Nova" panose="02000506030000020004"/>
            </a:endParaRPr>
          </a:p>
        </p:txBody>
      </p:sp>
      <p:sp>
        <p:nvSpPr>
          <p:cNvPr id="90" name="Google Shape;90;p2"/>
          <p:cNvSpPr txBox="1"/>
          <p:nvPr/>
        </p:nvSpPr>
        <p:spPr>
          <a:xfrm>
            <a:off x="5459831" y="4489367"/>
            <a:ext cx="1272300" cy="461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a:solidFill>
                  <a:srgbClr val="595959"/>
                </a:solidFill>
                <a:latin typeface="Proxima Nova" panose="02000506030000020004"/>
                <a:ea typeface="Proxima Nova" panose="02000506030000020004"/>
                <a:cs typeface="Proxima Nova" panose="02000506030000020004"/>
                <a:sym typeface="Proxima Nova" panose="02000506030000020004"/>
              </a:rPr>
              <a:t>Guided By</a:t>
            </a:r>
          </a:p>
        </p:txBody>
      </p:sp>
      <p:sp>
        <p:nvSpPr>
          <p:cNvPr id="91" name="Google Shape;91;p2"/>
          <p:cNvSpPr txBox="1"/>
          <p:nvPr/>
        </p:nvSpPr>
        <p:spPr>
          <a:xfrm>
            <a:off x="3193926" y="4897337"/>
            <a:ext cx="5742683" cy="461635"/>
          </a:xfrm>
          <a:prstGeom prst="rect">
            <a:avLst/>
          </a:prstGeom>
          <a:noFill/>
          <a:ln>
            <a:noFill/>
          </a:ln>
        </p:spPr>
        <p:txBody>
          <a:bodyPr spcFirstLastPara="1" wrap="square" lIns="91425" tIns="91425" rIns="91425" bIns="91425" anchor="t" anchorCtr="0">
            <a:spAutoFit/>
          </a:bodyPr>
          <a:lstStyle/>
          <a:p>
            <a:pPr lvl="0"/>
            <a:r>
              <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Internal Guide Name: </a:t>
            </a:r>
            <a:r>
              <a:rPr lang="en-US" sz="1800" dirty="0">
                <a:solidFill>
                  <a:schemeClr val="tx1"/>
                </a:solidFill>
                <a:latin typeface="Proxima Nova"/>
                <a:ea typeface="Proxima Nova"/>
                <a:sym typeface="Proxima Nova"/>
              </a:rPr>
              <a:t>Prof. </a:t>
            </a:r>
            <a:r>
              <a:rPr lang="en-US" sz="1800" dirty="0" err="1">
                <a:solidFill>
                  <a:schemeClr val="tx1"/>
                </a:solidFill>
                <a:latin typeface="Proxima Nova"/>
                <a:ea typeface="Proxima Nova"/>
                <a:sym typeface="Proxima Nova"/>
              </a:rPr>
              <a:t>Shailendrasinh</a:t>
            </a:r>
            <a:r>
              <a:rPr lang="en-US" sz="1800" dirty="0">
                <a:solidFill>
                  <a:schemeClr val="tx1"/>
                </a:solidFill>
                <a:latin typeface="Proxima Nova"/>
                <a:ea typeface="Proxima Nova"/>
                <a:sym typeface="Proxima Nova"/>
              </a:rPr>
              <a:t> Chauhan</a:t>
            </a:r>
            <a:r>
              <a:rPr lang="en-US" sz="18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rPr>
              <a:t> </a:t>
            </a:r>
            <a:endParaRPr lang="en-US" dirty="0"/>
          </a:p>
        </p:txBody>
      </p:sp>
      <p:sp>
        <p:nvSpPr>
          <p:cNvPr id="92" name="Google Shape;92;p2"/>
          <p:cNvSpPr txBox="1"/>
          <p:nvPr/>
        </p:nvSpPr>
        <p:spPr>
          <a:xfrm>
            <a:off x="3193926" y="5441197"/>
            <a:ext cx="3023400" cy="4002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endParaRPr/>
          </a:p>
        </p:txBody>
      </p:sp>
      <p:sp>
        <p:nvSpPr>
          <p:cNvPr id="93" name="Google Shape;93;p2"/>
          <p:cNvSpPr txBox="1"/>
          <p:nvPr/>
        </p:nvSpPr>
        <p:spPr>
          <a:xfrm>
            <a:off x="2548236" y="1158326"/>
            <a:ext cx="7095490" cy="1533525"/>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200"/>
              <a:buFont typeface="Proxima Nova" panose="02000506030000020004"/>
              <a:buNone/>
            </a:pPr>
            <a:r>
              <a:rPr lang="en-US" sz="32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Major Project-</a:t>
            </a:r>
            <a:r>
              <a:rPr lang="en-IN" altLang="en-US" sz="32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II</a:t>
            </a:r>
            <a:r>
              <a:rPr lang="en-US" sz="32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 (01CE0</a:t>
            </a:r>
            <a:r>
              <a:rPr lang="en-IN" altLang="en-US" sz="32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807</a:t>
            </a:r>
            <a:r>
              <a:rPr lang="en-US" sz="32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a:t>
            </a:r>
            <a:r>
              <a:rPr lang="en-IN" altLang="en-US" sz="3200" b="1"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 Semester 8</a:t>
            </a:r>
            <a:endParaRPr sz="3200" b="1" dirty="0"/>
          </a:p>
          <a:p>
            <a:pPr marL="12700" marR="0" lvl="0" indent="0" algn="ctr" rtl="0">
              <a:lnSpc>
                <a:spcPct val="100000"/>
              </a:lnSpc>
              <a:spcBef>
                <a:spcPts val="100"/>
              </a:spcBef>
              <a:spcAft>
                <a:spcPts val="0"/>
              </a:spcAft>
              <a:buClr>
                <a:srgbClr val="04A2B9"/>
              </a:buClr>
              <a:buSzPts val="2200"/>
              <a:buFont typeface="Proxima Nova" panose="02000506030000020004"/>
              <a:buNone/>
            </a:pPr>
            <a: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Review 1 </a:t>
            </a:r>
            <a:b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br>
            <a: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a:t>
            </a:r>
            <a:r>
              <a:rPr lang="en-US" sz="2200" dirty="0">
                <a:solidFill>
                  <a:schemeClr val="tx1"/>
                </a:solidFill>
                <a:latin typeface="Proxima Nova" panose="02000506030000020004"/>
                <a:ea typeface="Proxima Nova" panose="02000506030000020004"/>
                <a:cs typeface="Proxima Nova" panose="02000506030000020004"/>
                <a:sym typeface="Proxima Nova" panose="02000506030000020004"/>
              </a:rPr>
              <a:t>08/11/2025</a:t>
            </a:r>
            <a: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t>)</a:t>
            </a:r>
            <a:br>
              <a:rPr lang="en-US" sz="2200" b="0" i="0" u="none" strike="noStrike" cap="none" dirty="0">
                <a:solidFill>
                  <a:srgbClr val="04A2B9"/>
                </a:solidFill>
                <a:latin typeface="Proxima Nova" panose="02000506030000020004"/>
                <a:ea typeface="Proxima Nova" panose="02000506030000020004"/>
                <a:cs typeface="Proxima Nova" panose="02000506030000020004"/>
                <a:sym typeface="Proxima Nova" panose="02000506030000020004"/>
              </a:rPr>
            </a:br>
            <a:endParaRPr sz="2200" b="0" i="0" u="none" strike="noStrike" cap="none" dirty="0">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
        <p:nvSpPr>
          <p:cNvPr id="94" name="Google Shape;94;p2"/>
          <p:cNvSpPr txBox="1"/>
          <p:nvPr/>
        </p:nvSpPr>
        <p:spPr>
          <a:xfrm>
            <a:off x="2293191" y="5643518"/>
            <a:ext cx="8297381" cy="936154"/>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400"/>
              <a:buFont typeface="Proxima Nova" panose="02000506030000020004"/>
              <a:buNone/>
            </a:pPr>
            <a:r>
              <a:rPr lang="en-US" sz="2400" b="0" i="0" u="none" strike="noStrike" cap="none">
                <a:solidFill>
                  <a:srgbClr val="04A2B9"/>
                </a:solidFill>
                <a:latin typeface="Proxima Nova" panose="02000506030000020004"/>
                <a:ea typeface="Proxima Nova" panose="02000506030000020004"/>
                <a:cs typeface="Proxima Nova" panose="02000506030000020004"/>
                <a:sym typeface="Proxima Nova" panose="02000506030000020004"/>
              </a:rPr>
              <a:t>Department of Computer Engineering,</a:t>
            </a:r>
            <a:br>
              <a:rPr lang="en-US" sz="2400" b="0" i="0" u="none" strike="noStrike" cap="none">
                <a:solidFill>
                  <a:srgbClr val="04A2B9"/>
                </a:solidFill>
                <a:latin typeface="Proxima Nova" panose="02000506030000020004"/>
                <a:ea typeface="Proxima Nova" panose="02000506030000020004"/>
                <a:cs typeface="Proxima Nova" panose="02000506030000020004"/>
                <a:sym typeface="Proxima Nova" panose="02000506030000020004"/>
              </a:rPr>
            </a:br>
            <a:r>
              <a:rPr lang="en-US" sz="2400" b="0" i="0" u="none" strike="noStrike" cap="none">
                <a:solidFill>
                  <a:srgbClr val="04A2B9"/>
                </a:solidFill>
                <a:latin typeface="Proxima Nova" panose="02000506030000020004"/>
                <a:ea typeface="Proxima Nova" panose="02000506030000020004"/>
                <a:cs typeface="Proxima Nova" panose="02000506030000020004"/>
                <a:sym typeface="Proxima Nova" panose="02000506030000020004"/>
              </a:rPr>
              <a:t>Faculty of Engineering &amp; Technology</a:t>
            </a:r>
            <a:r>
              <a:rPr lang="en-US" sz="3600" b="0" i="0" u="none" strike="noStrike" cap="none">
                <a:solidFill>
                  <a:srgbClr val="04A2B9"/>
                </a:solidFill>
                <a:latin typeface="Proxima Nova" panose="02000506030000020004"/>
                <a:ea typeface="Proxima Nova" panose="02000506030000020004"/>
                <a:cs typeface="Proxima Nova" panose="02000506030000020004"/>
                <a:sym typeface="Proxima Nova" panose="02000506030000020004"/>
              </a:rPr>
              <a:t> </a:t>
            </a:r>
            <a:endParaRPr sz="3600" b="0" i="0" u="none" strike="noStrike" cap="none">
              <a:solidFill>
                <a:schemeClr val="dk1"/>
              </a:solidFill>
              <a:latin typeface="Proxima Nova" panose="02000506030000020004"/>
              <a:ea typeface="Proxima Nova" panose="02000506030000020004"/>
              <a:cs typeface="Proxima Nova" panose="02000506030000020004"/>
              <a:sym typeface="Proxima Nova" panose="020005060300000200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400" b="1">
                <a:solidFill>
                  <a:srgbClr val="04A2B9"/>
                </a:solidFill>
                <a:latin typeface="Proxima Nova" panose="02000506030000020004"/>
                <a:ea typeface="Proxima Nova" panose="02000506030000020004"/>
                <a:cs typeface="Proxima Nova" panose="02000506030000020004"/>
                <a:sym typeface="Proxima Nova" panose="02000506030000020004"/>
              </a:rPr>
              <a:t>Outline</a:t>
            </a:r>
            <a:endParaRPr sz="2400" b="1">
              <a:latin typeface="Proxima Nova" panose="02000506030000020004"/>
              <a:ea typeface="Proxima Nova" panose="02000506030000020004"/>
              <a:cs typeface="Proxima Nova" panose="02000506030000020004"/>
              <a:sym typeface="Proxima Nova" panose="02000506030000020004"/>
            </a:endParaRPr>
          </a:p>
        </p:txBody>
      </p:sp>
      <p:sp>
        <p:nvSpPr>
          <p:cNvPr id="100" name="Google Shape;100;p3"/>
          <p:cNvSpPr txBox="1"/>
          <p:nvPr/>
        </p:nvSpPr>
        <p:spPr>
          <a:xfrm>
            <a:off x="646112" y="905157"/>
            <a:ext cx="10590847" cy="5872347"/>
          </a:xfrm>
          <a:prstGeom prst="rect">
            <a:avLst/>
          </a:prstGeom>
          <a:noFill/>
          <a:ln>
            <a:noFill/>
          </a:ln>
        </p:spPr>
        <p:txBody>
          <a:bodyPr spcFirstLastPara="1" wrap="square" lIns="91425" tIns="91425" rIns="91425" bIns="91425" anchor="t" anchorCtr="0">
            <a:spAutoFit/>
          </a:bodyPr>
          <a:lstStyle/>
          <a:p>
            <a:pPr marL="482600" lvl="0" indent="-342900">
              <a:lnSpc>
                <a:spcPct val="140000"/>
              </a:lnSpc>
              <a:buClr>
                <a:schemeClr val="dk1"/>
              </a:buClr>
              <a:buSzPts val="1400"/>
              <a:buFont typeface="Arial" panose="020B0604020202020204" pitchFamily="34" charset="0"/>
              <a:buChar char="•"/>
            </a:pPr>
            <a:r>
              <a:rPr lang="en-US" sz="2400" dirty="0">
                <a:latin typeface="Proxima Nova"/>
              </a:rPr>
              <a:t>Introduction</a:t>
            </a:r>
          </a:p>
          <a:p>
            <a:pPr marL="482600" lvl="0" indent="-342900">
              <a:lnSpc>
                <a:spcPct val="140000"/>
              </a:lnSpc>
              <a:buClr>
                <a:schemeClr val="dk1"/>
              </a:buClr>
              <a:buSzPts val="1400"/>
              <a:buFont typeface="Arial" panose="020B0604020202020204" pitchFamily="34" charset="0"/>
              <a:buChar char="•"/>
            </a:pPr>
            <a:r>
              <a:rPr lang="en-US" sz="2400" dirty="0">
                <a:latin typeface="Proxima Nova"/>
              </a:rPr>
              <a:t>Abstract</a:t>
            </a:r>
          </a:p>
          <a:p>
            <a:pPr marL="482600" lvl="0" indent="-342900">
              <a:lnSpc>
                <a:spcPct val="140000"/>
              </a:lnSpc>
              <a:buClr>
                <a:schemeClr val="dk1"/>
              </a:buClr>
              <a:buSzPts val="1400"/>
              <a:buFont typeface="Arial" panose="020B0604020202020204" pitchFamily="34" charset="0"/>
              <a:buChar char="•"/>
            </a:pPr>
            <a:r>
              <a:rPr lang="en-US" sz="2400" dirty="0">
                <a:latin typeface="Proxima Nova"/>
              </a:rPr>
              <a:t>Literature Review</a:t>
            </a:r>
          </a:p>
          <a:p>
            <a:pPr marL="482600" lvl="0" indent="-342900">
              <a:lnSpc>
                <a:spcPct val="140000"/>
              </a:lnSpc>
              <a:buClr>
                <a:schemeClr val="dk1"/>
              </a:buClr>
              <a:buSzPts val="1400"/>
              <a:buFont typeface="Arial" panose="020B0604020202020204" pitchFamily="34" charset="0"/>
              <a:buChar char="•"/>
            </a:pPr>
            <a:r>
              <a:rPr lang="en-US" sz="2400" dirty="0">
                <a:latin typeface="Proxima Nova"/>
              </a:rPr>
              <a:t>Dataset Used</a:t>
            </a:r>
          </a:p>
          <a:p>
            <a:pPr marL="482600" lvl="0" indent="-342900">
              <a:lnSpc>
                <a:spcPct val="140000"/>
              </a:lnSpc>
              <a:buClr>
                <a:schemeClr val="dk1"/>
              </a:buClr>
              <a:buSzPts val="1400"/>
              <a:buFont typeface="Arial" panose="020B0604020202020204" pitchFamily="34" charset="0"/>
              <a:buChar char="•"/>
            </a:pPr>
            <a:r>
              <a:rPr lang="en-US" sz="2400" dirty="0">
                <a:latin typeface="Proxima Nova"/>
              </a:rPr>
              <a:t>Work Flow</a:t>
            </a:r>
          </a:p>
          <a:p>
            <a:pPr marL="482600" lvl="0" indent="-342900">
              <a:lnSpc>
                <a:spcPct val="140000"/>
              </a:lnSpc>
              <a:buClr>
                <a:schemeClr val="dk1"/>
              </a:buClr>
              <a:buSzPts val="1400"/>
              <a:buFont typeface="Arial" panose="020B0604020202020204" pitchFamily="34" charset="0"/>
              <a:buChar char="•"/>
            </a:pPr>
            <a:r>
              <a:rPr lang="en-US" sz="2400" dirty="0">
                <a:latin typeface="Proxima Nova"/>
              </a:rPr>
              <a:t>Methodology</a:t>
            </a:r>
          </a:p>
          <a:p>
            <a:pPr marL="482600" lvl="0" indent="-342900">
              <a:lnSpc>
                <a:spcPct val="140000"/>
              </a:lnSpc>
              <a:buClr>
                <a:schemeClr val="dk1"/>
              </a:buClr>
              <a:buSzPts val="1400"/>
              <a:buFont typeface="Arial" panose="020B0604020202020204" pitchFamily="34" charset="0"/>
              <a:buChar char="•"/>
            </a:pPr>
            <a:r>
              <a:rPr lang="en-US" sz="2400" dirty="0">
                <a:latin typeface="Proxima Nova"/>
              </a:rPr>
              <a:t>Tools and Technologies Used</a:t>
            </a:r>
          </a:p>
          <a:p>
            <a:pPr marL="482600" lvl="0" indent="-342900">
              <a:lnSpc>
                <a:spcPct val="140000"/>
              </a:lnSpc>
              <a:buClr>
                <a:schemeClr val="dk1"/>
              </a:buClr>
              <a:buSzPts val="1400"/>
              <a:buFont typeface="Arial" panose="020B0604020202020204" pitchFamily="34" charset="0"/>
              <a:buChar char="•"/>
            </a:pPr>
            <a:r>
              <a:rPr lang="en-US" sz="2400" dirty="0">
                <a:latin typeface="Proxima Nova"/>
              </a:rPr>
              <a:t>Project Scheduling (Gantt Chart)</a:t>
            </a:r>
          </a:p>
          <a:p>
            <a:pPr marL="482600" indent="-342900">
              <a:lnSpc>
                <a:spcPct val="140000"/>
              </a:lnSpc>
              <a:buClr>
                <a:schemeClr val="dk1"/>
              </a:buClr>
              <a:buSzPts val="1400"/>
              <a:buFont typeface="Arial" panose="020B0604020202020204" pitchFamily="34" charset="0"/>
              <a:buChar char="•"/>
            </a:pPr>
            <a:r>
              <a:rPr lang="en-US" sz="2400" dirty="0">
                <a:latin typeface="Proxima Nova"/>
              </a:rPr>
              <a:t>Future Scope</a:t>
            </a:r>
          </a:p>
          <a:p>
            <a:pPr marL="482600" lvl="0" indent="-342900">
              <a:lnSpc>
                <a:spcPct val="140000"/>
              </a:lnSpc>
              <a:buClr>
                <a:schemeClr val="dk1"/>
              </a:buClr>
              <a:buSzPts val="1400"/>
              <a:buFont typeface="Arial" panose="020B0604020202020204" pitchFamily="34" charset="0"/>
              <a:buChar char="•"/>
            </a:pPr>
            <a:r>
              <a:rPr lang="en-US" sz="1800" dirty="0">
                <a:latin typeface="Proxima Nova"/>
              </a:rPr>
              <a:t>C</a:t>
            </a:r>
            <a:r>
              <a:rPr lang="en-US" sz="2400" dirty="0">
                <a:latin typeface="Proxima Nova"/>
              </a:rPr>
              <a:t>onclusion</a:t>
            </a:r>
          </a:p>
          <a:p>
            <a:pPr marL="482600" lvl="0" indent="-342900">
              <a:lnSpc>
                <a:spcPct val="140000"/>
              </a:lnSpc>
              <a:buClr>
                <a:schemeClr val="dk1"/>
              </a:buClr>
              <a:buSzPts val="1400"/>
              <a:buFont typeface="Arial" panose="020B0604020202020204" pitchFamily="34" charset="0"/>
              <a:buChar char="•"/>
            </a:pPr>
            <a:r>
              <a:rPr lang="en-US" sz="2400" dirty="0">
                <a:latin typeface="Proxima Nova"/>
              </a:rPr>
              <a:t>References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A664F0B0-C1C3-E047-D07C-6FF937D0486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53A643B-D184-3C16-CB8A-3305A25254AB}"/>
              </a:ext>
            </a:extLst>
          </p:cNvPr>
          <p:cNvPicPr>
            <a:picLocks noChangeAspect="1"/>
          </p:cNvPicPr>
          <p:nvPr/>
        </p:nvPicPr>
        <p:blipFill>
          <a:blip r:embed="rId4"/>
          <a:stretch>
            <a:fillRect/>
          </a:stretch>
        </p:blipFill>
        <p:spPr>
          <a:xfrm>
            <a:off x="6521767" y="1124744"/>
            <a:ext cx="5146040" cy="5146040"/>
          </a:xfrm>
          <a:prstGeom prst="rect">
            <a:avLst/>
          </a:prstGeom>
        </p:spPr>
      </p:pic>
      <p:sp>
        <p:nvSpPr>
          <p:cNvPr id="106" name="Google Shape;106;p4">
            <a:extLst>
              <a:ext uri="{FF2B5EF4-FFF2-40B4-BE49-F238E27FC236}">
                <a16:creationId xmlns:a16="http://schemas.microsoft.com/office/drawing/2014/main" id="{789984B9-1A00-EB48-CE68-0DC5F1C2BC40}"/>
              </a:ext>
            </a:extLst>
          </p:cNvPr>
          <p:cNvSpPr txBox="1"/>
          <p:nvPr/>
        </p:nvSpPr>
        <p:spPr>
          <a:xfrm>
            <a:off x="646113" y="1124744"/>
            <a:ext cx="6638607" cy="5416837"/>
          </a:xfrm>
          <a:prstGeom prst="rect">
            <a:avLst/>
          </a:prstGeom>
          <a:noFill/>
          <a:ln>
            <a:noFill/>
          </a:ln>
        </p:spPr>
        <p:txBody>
          <a:bodyPr spcFirstLastPara="1" wrap="square" lIns="91425" tIns="91425" rIns="91425" bIns="91425" anchor="t" anchorCtr="0">
            <a:spAutoFit/>
          </a:bodyPr>
          <a:lstStyle/>
          <a:p>
            <a:pPr marL="285750" lvl="0" indent="-285750">
              <a:buSzPts val="1700"/>
              <a:buFont typeface="Arial" panose="020B0604020202020204"/>
              <a:buChar char="•"/>
            </a:pPr>
            <a:r>
              <a:rPr lang="en-US" sz="1700">
                <a:solidFill>
                  <a:schemeClr val="tx1"/>
                </a:solidFill>
                <a:latin typeface="Proxima Nova" panose="02000506030000020004"/>
                <a:ea typeface="Proxima Nova" panose="02000506030000020004"/>
                <a:cs typeface="Proxima Nova" panose="02000506030000020004"/>
                <a:sym typeface="Proxima Nova" panose="02000506030000020004"/>
              </a:rPr>
              <a:t>Heart disease remains the leading cause of death worldwide, responsible for millions of deaths every year.</a:t>
            </a:r>
          </a:p>
          <a:p>
            <a:pPr marL="285750" lvl="0" indent="-285750">
              <a:buSzPts val="1700"/>
              <a:buFont typeface="Arial" panose="020B0604020202020204"/>
              <a:buChar char="•"/>
            </a:pPr>
            <a:endParaRPr lang="en-US" sz="170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lvl="0" indent="-285750">
              <a:buSzPts val="1700"/>
              <a:buFont typeface="Arial" panose="020B0604020202020204"/>
              <a:buChar char="•"/>
            </a:pPr>
            <a:r>
              <a:rPr lang="en-US" sz="1700">
                <a:solidFill>
                  <a:schemeClr val="tx1"/>
                </a:solidFill>
                <a:latin typeface="Proxima Nova" panose="02000506030000020004"/>
                <a:ea typeface="Proxima Nova" panose="02000506030000020004"/>
                <a:cs typeface="Proxima Nova" panose="02000506030000020004"/>
                <a:sym typeface="Proxima Nova" panose="02000506030000020004"/>
              </a:rPr>
              <a:t>Early detection and prevention are crucial to reducing mortality and improving patient outcomes.</a:t>
            </a:r>
          </a:p>
          <a:p>
            <a:pPr marL="285750" lvl="0" indent="-285750">
              <a:buSzPts val="1700"/>
              <a:buFont typeface="Arial" panose="020B0604020202020204"/>
              <a:buChar char="•"/>
            </a:pPr>
            <a:endParaRPr lang="en-US" sz="170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lvl="0" indent="-285750">
              <a:buSzPts val="1700"/>
              <a:buFont typeface="Arial" panose="020B0604020202020204"/>
              <a:buChar char="•"/>
            </a:pPr>
            <a:r>
              <a:rPr lang="en-US" sz="1700">
                <a:solidFill>
                  <a:schemeClr val="tx1"/>
                </a:solidFill>
                <a:latin typeface="Proxima Nova" panose="02000506030000020004"/>
                <a:ea typeface="Proxima Nova" panose="02000506030000020004"/>
                <a:cs typeface="Proxima Nova" panose="02000506030000020004"/>
                <a:sym typeface="Proxima Nova" panose="02000506030000020004"/>
              </a:rPr>
              <a:t>Traditional diagnostic methods rely on manual interpretation of clinical data and imaging, which can be time-consuming and error-prone.</a:t>
            </a:r>
          </a:p>
          <a:p>
            <a:pPr marL="285750" lvl="0" indent="-285750">
              <a:buSzPts val="1700"/>
              <a:buFont typeface="Arial" panose="020B0604020202020204"/>
              <a:buChar char="•"/>
            </a:pPr>
            <a:endParaRPr lang="en-US" sz="170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lvl="0" indent="-285750">
              <a:buSzPts val="1700"/>
              <a:buFont typeface="Arial" panose="020B0604020202020204"/>
              <a:buChar char="•"/>
            </a:pPr>
            <a:r>
              <a:rPr lang="en-US" sz="1700">
                <a:solidFill>
                  <a:schemeClr val="tx1"/>
                </a:solidFill>
                <a:latin typeface="Proxima Nova" panose="02000506030000020004"/>
                <a:ea typeface="Proxima Nova" panose="02000506030000020004"/>
                <a:cs typeface="Proxima Nova" panose="02000506030000020004"/>
                <a:sym typeface="Proxima Nova" panose="02000506030000020004"/>
              </a:rPr>
              <a:t>Machine Learning (ML) and Deep Learning (DL) offer data-driven approaches to automate and enhance heart disease diagnosis.</a:t>
            </a:r>
          </a:p>
          <a:p>
            <a:pPr marL="285750" lvl="0" indent="-285750">
              <a:buSzPts val="1700"/>
              <a:buFont typeface="Arial" panose="020B0604020202020204"/>
              <a:buChar char="•"/>
            </a:pPr>
            <a:endParaRPr lang="en-US" sz="170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lvl="0" indent="-285750">
              <a:buSzPts val="1700"/>
              <a:buFont typeface="Arial" panose="020B0604020202020204"/>
              <a:buChar char="•"/>
            </a:pPr>
            <a:r>
              <a:rPr lang="en-US" sz="1700">
                <a:solidFill>
                  <a:schemeClr val="tx1"/>
                </a:solidFill>
                <a:latin typeface="Proxima Nova" panose="02000506030000020004"/>
                <a:ea typeface="Proxima Nova" panose="02000506030000020004"/>
                <a:cs typeface="Proxima Nova" panose="02000506030000020004"/>
                <a:sym typeface="Proxima Nova" panose="02000506030000020004"/>
              </a:rPr>
              <a:t>A multimodal approach combines clinical parameters (numerical/tabular data) and medical imaging features, capturing both statistical and spatial information for better prediction.</a:t>
            </a:r>
          </a:p>
          <a:p>
            <a:pPr marL="285750" lvl="0" indent="-285750">
              <a:buSzPts val="1700"/>
              <a:buFont typeface="Arial" panose="020B0604020202020204"/>
              <a:buChar char="•"/>
            </a:pPr>
            <a:endParaRPr lang="en-US" sz="1700">
              <a:solidFill>
                <a:schemeClr val="tx1"/>
              </a:solidFill>
              <a:latin typeface="Proxima Nova" panose="02000506030000020004"/>
              <a:ea typeface="Proxima Nova" panose="02000506030000020004"/>
              <a:cs typeface="Proxima Nova" panose="02000506030000020004"/>
              <a:sym typeface="Proxima Nova" panose="02000506030000020004"/>
            </a:endParaRPr>
          </a:p>
          <a:p>
            <a:pPr marL="285750" lvl="0" indent="-285750">
              <a:buSzPts val="1700"/>
              <a:buFont typeface="Arial" panose="020B0604020202020204"/>
              <a:buChar char="•"/>
            </a:pPr>
            <a:r>
              <a:rPr lang="en-US" sz="1700">
                <a:solidFill>
                  <a:schemeClr val="tx1"/>
                </a:solidFill>
                <a:latin typeface="Proxima Nova" panose="02000506030000020004"/>
                <a:ea typeface="Proxima Nova" panose="02000506030000020004"/>
                <a:cs typeface="Proxima Nova" panose="02000506030000020004"/>
                <a:sym typeface="Proxima Nova" panose="02000506030000020004"/>
              </a:rPr>
              <a:t>This study proposes a hybrid framework integrating ML and DL models to achieve higher accuracy, sensitivity, and specificity in heart disease prediction.</a:t>
            </a:r>
            <a:endParaRPr lang="en-US" sz="1700" b="0" i="0" u="none" strike="noStrike" cap="none">
              <a:solidFill>
                <a:schemeClr val="tx1"/>
              </a:solidFill>
              <a:latin typeface="Proxima Nova" panose="02000506030000020004"/>
              <a:ea typeface="Proxima Nova" panose="02000506030000020004"/>
              <a:cs typeface="Proxima Nova" panose="02000506030000020004"/>
              <a:sym typeface="Proxima Nova" panose="02000506030000020004"/>
            </a:endParaRPr>
          </a:p>
        </p:txBody>
      </p:sp>
      <p:sp>
        <p:nvSpPr>
          <p:cNvPr id="8" name="Google Shape;105;p4">
            <a:extLst>
              <a:ext uri="{FF2B5EF4-FFF2-40B4-BE49-F238E27FC236}">
                <a16:creationId xmlns:a16="http://schemas.microsoft.com/office/drawing/2014/main" id="{9F33BA8C-571E-96DD-FDAE-CA90865F68CD}"/>
              </a:ext>
            </a:extLst>
          </p:cNvPr>
          <p:cNvSpPr txBox="1">
            <a:spLocks noGrp="1"/>
          </p:cNvSpPr>
          <p:nvPr>
            <p:ph type="title"/>
          </p:nvPr>
        </p:nvSpPr>
        <p:spPr>
          <a:xfrm>
            <a:off x="534259" y="309562"/>
            <a:ext cx="2625501"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INTRODUCTION</a:t>
            </a:r>
            <a:endParaRPr lang="en-US" sz="2400" b="1">
              <a:latin typeface="Proxima Nova"/>
              <a:ea typeface="Proxima Nova"/>
              <a:cs typeface="Proxima Nova"/>
              <a:sym typeface="Proxima Nova"/>
            </a:endParaRPr>
          </a:p>
        </p:txBody>
      </p:sp>
    </p:spTree>
    <p:extLst>
      <p:ext uri="{BB962C8B-B14F-4D97-AF65-F5344CB8AC3E}">
        <p14:creationId xmlns:p14="http://schemas.microsoft.com/office/powerpoint/2010/main" val="2006881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3A9B6B48-16B0-BB50-BC14-E5204714B9D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39AEE7D-44D7-5536-C003-9B6729369A0A}"/>
              </a:ext>
            </a:extLst>
          </p:cNvPr>
          <p:cNvPicPr>
            <a:picLocks noChangeAspect="1"/>
          </p:cNvPicPr>
          <p:nvPr/>
        </p:nvPicPr>
        <p:blipFill>
          <a:blip r:embed="rId4"/>
          <a:stretch>
            <a:fillRect/>
          </a:stretch>
        </p:blipFill>
        <p:spPr>
          <a:xfrm>
            <a:off x="6344920" y="1224280"/>
            <a:ext cx="5134774" cy="5134774"/>
          </a:xfrm>
          <a:prstGeom prst="rect">
            <a:avLst/>
          </a:prstGeom>
        </p:spPr>
      </p:pic>
      <p:sp>
        <p:nvSpPr>
          <p:cNvPr id="106" name="Google Shape;106;p4">
            <a:extLst>
              <a:ext uri="{FF2B5EF4-FFF2-40B4-BE49-F238E27FC236}">
                <a16:creationId xmlns:a16="http://schemas.microsoft.com/office/drawing/2014/main" id="{6F53F5AA-B3B7-84AF-B6F7-EF80507088D3}"/>
              </a:ext>
            </a:extLst>
          </p:cNvPr>
          <p:cNvSpPr txBox="1"/>
          <p:nvPr/>
        </p:nvSpPr>
        <p:spPr>
          <a:xfrm>
            <a:off x="646113" y="1124744"/>
            <a:ext cx="6354127" cy="4801284"/>
          </a:xfrm>
          <a:prstGeom prst="rect">
            <a:avLst/>
          </a:prstGeom>
          <a:noFill/>
          <a:ln>
            <a:noFill/>
          </a:ln>
        </p:spPr>
        <p:txBody>
          <a:bodyPr spcFirstLastPara="1" wrap="square" lIns="91425" tIns="91425" rIns="91425" bIns="91425" anchor="t" anchorCtr="0">
            <a:spAutoFit/>
          </a:bodyPr>
          <a:lstStyle/>
          <a:p>
            <a:pPr lvl="0">
              <a:buSzPts val="1700"/>
            </a:pPr>
            <a:r>
              <a:rPr lang="en-US" sz="2000">
                <a:solidFill>
                  <a:schemeClr val="tx1"/>
                </a:solidFill>
                <a:latin typeface="Proxima Nova" panose="02000506030000020004"/>
                <a:ea typeface="Proxima Nova" panose="02000506030000020004"/>
                <a:cs typeface="Proxima Nova" panose="02000506030000020004"/>
                <a:sym typeface="Proxima Nova" panose="02000506030000020004"/>
              </a:rPr>
              <a:t>Heart disease remains one of the leading causes of death worldwide, highlighting the need for early and accurate prediction systems. This study proposes a multimodal framework that combines Machine Learning (ML) and Deep Learning (DL) techniques for heart disease prediction. Clinical data are analyzed using algorithms such as Random Forest, SVM, and Gradient Boosting, while medical images are processed using CNNs to extract spatial features. The outputs from both modules are fused at the feature and decision levels to improve overall performance. The proposed model achieves around 73% accuracy, demonstrating that multimodal fusion enhances diagnostic precision, sensitivity, and reliability in early detection of cardiovascular diseases.</a:t>
            </a:r>
            <a:endParaRPr lang="en-US" sz="2000" b="0" i="0" u="none" strike="noStrike" cap="none">
              <a:solidFill>
                <a:schemeClr val="tx1"/>
              </a:solidFill>
              <a:latin typeface="Proxima Nova" panose="02000506030000020004"/>
              <a:ea typeface="Proxima Nova" panose="02000506030000020004"/>
              <a:cs typeface="Proxima Nova" panose="02000506030000020004"/>
              <a:sym typeface="Proxima Nova" panose="02000506030000020004"/>
            </a:endParaRPr>
          </a:p>
        </p:txBody>
      </p:sp>
      <p:sp>
        <p:nvSpPr>
          <p:cNvPr id="8" name="Google Shape;105;p4">
            <a:extLst>
              <a:ext uri="{FF2B5EF4-FFF2-40B4-BE49-F238E27FC236}">
                <a16:creationId xmlns:a16="http://schemas.microsoft.com/office/drawing/2014/main" id="{1B3D14FF-558D-C83D-A0B7-E502A184F8B9}"/>
              </a:ext>
            </a:extLst>
          </p:cNvPr>
          <p:cNvSpPr txBox="1">
            <a:spLocks noGrp="1"/>
          </p:cNvSpPr>
          <p:nvPr>
            <p:ph type="title"/>
          </p:nvPr>
        </p:nvSpPr>
        <p:spPr>
          <a:xfrm>
            <a:off x="534259" y="309562"/>
            <a:ext cx="262550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a:solidFill>
                  <a:srgbClr val="04A2B9"/>
                </a:solidFill>
                <a:latin typeface="Proxima Nova"/>
                <a:ea typeface="Proxima Nova"/>
                <a:cs typeface="Proxima Nova"/>
                <a:sym typeface="Proxima Nova"/>
              </a:rPr>
              <a:t>ABSTRACT</a:t>
            </a:r>
            <a:endParaRPr lang="en-US" sz="2400" b="1">
              <a:latin typeface="Proxima Nova"/>
              <a:ea typeface="Proxima Nova"/>
              <a:cs typeface="Proxima Nova"/>
              <a:sym typeface="Proxima Nova"/>
            </a:endParaRPr>
          </a:p>
        </p:txBody>
      </p:sp>
    </p:spTree>
    <p:extLst>
      <p:ext uri="{BB962C8B-B14F-4D97-AF65-F5344CB8AC3E}">
        <p14:creationId xmlns:p14="http://schemas.microsoft.com/office/powerpoint/2010/main" val="3244271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2619881F-7440-CE11-DF8C-48A2F37F4B9C}"/>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99D13D71-20F8-7217-1961-776A5F5DB99C}"/>
              </a:ext>
            </a:extLst>
          </p:cNvPr>
          <p:cNvSpPr txBox="1">
            <a:spLocks noGrp="1"/>
          </p:cNvSpPr>
          <p:nvPr>
            <p:ph type="title"/>
          </p:nvPr>
        </p:nvSpPr>
        <p:spPr>
          <a:xfrm>
            <a:off x="534259" y="309562"/>
            <a:ext cx="308270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a:solidFill>
                  <a:srgbClr val="04A2B9"/>
                </a:solidFill>
                <a:latin typeface="Proxima Nova"/>
                <a:ea typeface="Proxima Nova"/>
                <a:cs typeface="Proxima Nova"/>
                <a:sym typeface="Proxima Nova"/>
              </a:rPr>
              <a:t>LITERATURE REVIEW </a:t>
            </a:r>
            <a:endParaRPr lang="en-US" sz="2400" b="1">
              <a:latin typeface="Proxima Nova"/>
              <a:ea typeface="Proxima Nova"/>
              <a:cs typeface="Proxima Nova"/>
              <a:sym typeface="Proxima Nova"/>
            </a:endParaRPr>
          </a:p>
        </p:txBody>
      </p:sp>
      <p:graphicFrame>
        <p:nvGraphicFramePr>
          <p:cNvPr id="3" name="Table 2">
            <a:extLst>
              <a:ext uri="{FF2B5EF4-FFF2-40B4-BE49-F238E27FC236}">
                <a16:creationId xmlns:a16="http://schemas.microsoft.com/office/drawing/2014/main" id="{6F1EC952-3ABF-44D3-1BC1-09A273FBA2B2}"/>
              </a:ext>
            </a:extLst>
          </p:cNvPr>
          <p:cNvGraphicFramePr>
            <a:graphicFrameLocks noGrp="1"/>
          </p:cNvGraphicFramePr>
          <p:nvPr>
            <p:extLst>
              <p:ext uri="{D42A27DB-BD31-4B8C-83A1-F6EECF244321}">
                <p14:modId xmlns:p14="http://schemas.microsoft.com/office/powerpoint/2010/main" val="3126546634"/>
              </p:ext>
            </p:extLst>
          </p:nvPr>
        </p:nvGraphicFramePr>
        <p:xfrm>
          <a:off x="439614" y="1160586"/>
          <a:ext cx="11148648" cy="4680160"/>
        </p:xfrm>
        <a:graphic>
          <a:graphicData uri="http://schemas.openxmlformats.org/drawingml/2006/table">
            <a:tbl>
              <a:tblPr firstRow="1">
                <a:tableStyleId>{5C22544A-7EE6-4342-B048-85BDC9FD1C3A}</a:tableStyleId>
              </a:tblPr>
              <a:tblGrid>
                <a:gridCol w="844063">
                  <a:extLst>
                    <a:ext uri="{9D8B030D-6E8A-4147-A177-3AD203B41FA5}">
                      <a16:colId xmlns:a16="http://schemas.microsoft.com/office/drawing/2014/main" val="809916479"/>
                    </a:ext>
                  </a:extLst>
                </a:gridCol>
                <a:gridCol w="2872153">
                  <a:extLst>
                    <a:ext uri="{9D8B030D-6E8A-4147-A177-3AD203B41FA5}">
                      <a16:colId xmlns:a16="http://schemas.microsoft.com/office/drawing/2014/main" val="1542296834"/>
                    </a:ext>
                  </a:extLst>
                </a:gridCol>
                <a:gridCol w="1858108">
                  <a:extLst>
                    <a:ext uri="{9D8B030D-6E8A-4147-A177-3AD203B41FA5}">
                      <a16:colId xmlns:a16="http://schemas.microsoft.com/office/drawing/2014/main" val="2918962844"/>
                    </a:ext>
                  </a:extLst>
                </a:gridCol>
                <a:gridCol w="1858108">
                  <a:extLst>
                    <a:ext uri="{9D8B030D-6E8A-4147-A177-3AD203B41FA5}">
                      <a16:colId xmlns:a16="http://schemas.microsoft.com/office/drawing/2014/main" val="2654146245"/>
                    </a:ext>
                  </a:extLst>
                </a:gridCol>
                <a:gridCol w="1858108">
                  <a:extLst>
                    <a:ext uri="{9D8B030D-6E8A-4147-A177-3AD203B41FA5}">
                      <a16:colId xmlns:a16="http://schemas.microsoft.com/office/drawing/2014/main" val="2202501965"/>
                    </a:ext>
                  </a:extLst>
                </a:gridCol>
                <a:gridCol w="1858108">
                  <a:extLst>
                    <a:ext uri="{9D8B030D-6E8A-4147-A177-3AD203B41FA5}">
                      <a16:colId xmlns:a16="http://schemas.microsoft.com/office/drawing/2014/main" val="432451838"/>
                    </a:ext>
                  </a:extLst>
                </a:gridCol>
              </a:tblGrid>
              <a:tr h="121015">
                <a:tc>
                  <a:txBody>
                    <a:bodyPr/>
                    <a:lstStyle/>
                    <a:p>
                      <a:pPr algn="ctr">
                        <a:buNone/>
                      </a:pPr>
                      <a:r>
                        <a:rPr lang="en-IN" sz="1400" b="1">
                          <a:effectLst/>
                        </a:rPr>
                        <a:t>Ref. No.</a:t>
                      </a:r>
                    </a:p>
                  </a:txBody>
                  <a:tcPr marL="19960" marR="19960" marT="19960" marB="19960" anchor="ctr"/>
                </a:tc>
                <a:tc>
                  <a:txBody>
                    <a:bodyPr/>
                    <a:lstStyle/>
                    <a:p>
                      <a:pPr algn="ctr">
                        <a:buNone/>
                      </a:pPr>
                      <a:r>
                        <a:rPr lang="en-IN" sz="1400" b="1" dirty="0">
                          <a:effectLst/>
                        </a:rPr>
                        <a:t>Title</a:t>
                      </a:r>
                    </a:p>
                  </a:txBody>
                  <a:tcPr marL="19960" marR="19960" marT="19960" marB="19960" anchor="ctr"/>
                </a:tc>
                <a:tc>
                  <a:txBody>
                    <a:bodyPr/>
                    <a:lstStyle/>
                    <a:p>
                      <a:pPr algn="ctr">
                        <a:buNone/>
                      </a:pPr>
                      <a:r>
                        <a:rPr lang="en-IN" sz="1400" b="1">
                          <a:effectLst/>
                        </a:rPr>
                        <a:t>Year</a:t>
                      </a:r>
                    </a:p>
                  </a:txBody>
                  <a:tcPr marL="19960" marR="19960" marT="19960" marB="19960" anchor="ctr"/>
                </a:tc>
                <a:tc>
                  <a:txBody>
                    <a:bodyPr/>
                    <a:lstStyle/>
                    <a:p>
                      <a:pPr algn="ctr">
                        <a:buNone/>
                      </a:pPr>
                      <a:r>
                        <a:rPr lang="en-IN" sz="1400" b="1">
                          <a:effectLst/>
                        </a:rPr>
                        <a:t>Dataset</a:t>
                      </a:r>
                    </a:p>
                  </a:txBody>
                  <a:tcPr marL="19960" marR="19960" marT="19960" marB="19960" anchor="ctr"/>
                </a:tc>
                <a:tc>
                  <a:txBody>
                    <a:bodyPr/>
                    <a:lstStyle/>
                    <a:p>
                      <a:pPr algn="ctr">
                        <a:buNone/>
                      </a:pPr>
                      <a:r>
                        <a:rPr lang="en-IN" sz="1400" b="1">
                          <a:effectLst/>
                        </a:rPr>
                        <a:t>Limitations</a:t>
                      </a:r>
                    </a:p>
                  </a:txBody>
                  <a:tcPr marL="19960" marR="19960" marT="19960" marB="19960" anchor="ctr"/>
                </a:tc>
                <a:tc>
                  <a:txBody>
                    <a:bodyPr/>
                    <a:lstStyle/>
                    <a:p>
                      <a:pPr algn="ctr">
                        <a:buNone/>
                      </a:pPr>
                      <a:r>
                        <a:rPr lang="en-IN" sz="1400" b="1" dirty="0">
                          <a:effectLst/>
                        </a:rPr>
                        <a:t>Results</a:t>
                      </a:r>
                    </a:p>
                  </a:txBody>
                  <a:tcPr marL="19960" marR="19960" marT="19960" marB="19960" anchor="ctr"/>
                </a:tc>
                <a:extLst>
                  <a:ext uri="{0D108BD9-81ED-4DB2-BD59-A6C34878D82A}">
                    <a16:rowId xmlns:a16="http://schemas.microsoft.com/office/drawing/2014/main" val="326773917"/>
                  </a:ext>
                </a:extLst>
              </a:tr>
              <a:tr h="597485">
                <a:tc>
                  <a:txBody>
                    <a:bodyPr/>
                    <a:lstStyle/>
                    <a:p>
                      <a:pPr algn="ctr">
                        <a:buNone/>
                      </a:pPr>
                      <a:r>
                        <a:rPr lang="en-IN" sz="1400" dirty="0">
                          <a:effectLst/>
                        </a:rPr>
                        <a:t>[1]</a:t>
                      </a:r>
                    </a:p>
                  </a:txBody>
                  <a:tcPr marL="19960" marR="19960" marT="19960" marB="19960" anchor="ctr"/>
                </a:tc>
                <a:tc>
                  <a:txBody>
                    <a:bodyPr/>
                    <a:lstStyle/>
                    <a:p>
                      <a:pPr algn="l">
                        <a:buNone/>
                      </a:pPr>
                      <a:r>
                        <a:rPr lang="en-US" sz="1400" dirty="0">
                          <a:effectLst/>
                        </a:rPr>
                        <a:t>Enhancing Cardiovascular Disease Prediction through Multi-Modal Self-Supervised Learning</a:t>
                      </a:r>
                    </a:p>
                  </a:txBody>
                  <a:tcPr marL="19960" marR="19960" marT="19960" marB="19960" anchor="ctr"/>
                </a:tc>
                <a:tc>
                  <a:txBody>
                    <a:bodyPr/>
                    <a:lstStyle/>
                    <a:p>
                      <a:pPr algn="l">
                        <a:buNone/>
                      </a:pPr>
                      <a:r>
                        <a:rPr lang="en-IN" sz="1400">
                          <a:effectLst/>
                        </a:rPr>
                        <a:t>2024</a:t>
                      </a:r>
                    </a:p>
                  </a:txBody>
                  <a:tcPr marL="19960" marR="19960" marT="19960" marB="19960" anchor="ctr"/>
                </a:tc>
                <a:tc>
                  <a:txBody>
                    <a:bodyPr/>
                    <a:lstStyle/>
                    <a:p>
                      <a:pPr marL="285750" indent="-285750" algn="l">
                        <a:buFont typeface="Arial" panose="020B0604020202020204" pitchFamily="34" charset="0"/>
                        <a:buChar char="•"/>
                      </a:pPr>
                      <a:r>
                        <a:rPr lang="en-IN" sz="1400">
                          <a:effectLst/>
                        </a:rPr>
                        <a:t>45,112 participants </a:t>
                      </a:r>
                    </a:p>
                    <a:p>
                      <a:pPr marL="285750" indent="-285750" algn="l">
                        <a:buFont typeface="Arial" panose="020B0604020202020204" pitchFamily="34" charset="0"/>
                        <a:buChar char="•"/>
                      </a:pPr>
                      <a:r>
                        <a:rPr lang="en-IN" sz="1400">
                          <a:effectLst/>
                        </a:rPr>
                        <a:t>CMR images, ECG signals </a:t>
                      </a:r>
                    </a:p>
                    <a:p>
                      <a:pPr marL="285750" indent="-285750" algn="l">
                        <a:buFont typeface="Arial" panose="020B0604020202020204" pitchFamily="34" charset="0"/>
                        <a:buChar char="•"/>
                      </a:pPr>
                      <a:r>
                        <a:rPr lang="en-IN" sz="1400">
                          <a:effectLst/>
                        </a:rPr>
                        <a:t>33 clinical features </a:t>
                      </a:r>
                    </a:p>
                    <a:p>
                      <a:pPr marL="285750" indent="-285750" algn="l">
                        <a:buFont typeface="Arial" panose="020B0604020202020204" pitchFamily="34" charset="0"/>
                        <a:buChar char="•"/>
                      </a:pPr>
                      <a:r>
                        <a:rPr lang="en-IN" sz="1400">
                          <a:effectLst/>
                        </a:rPr>
                        <a:t>MI: 1,399, Stroke: 738</a:t>
                      </a:r>
                    </a:p>
                  </a:txBody>
                  <a:tcPr marL="19960" marR="19960" marT="19960" marB="19960" anchor="ctr"/>
                </a:tc>
                <a:tc>
                  <a:txBody>
                    <a:bodyPr/>
                    <a:lstStyle/>
                    <a:p>
                      <a:pPr marL="285750" indent="-285750" algn="l">
                        <a:buFont typeface="Arial" panose="020B0604020202020204" pitchFamily="34" charset="0"/>
                        <a:buChar char="•"/>
                      </a:pPr>
                      <a:r>
                        <a:rPr lang="en-US" sz="1400">
                          <a:effectLst/>
                        </a:rPr>
                        <a:t>UK-specific </a:t>
                      </a:r>
                    </a:p>
                    <a:p>
                      <a:pPr marL="285750" indent="-285750" algn="l">
                        <a:buFont typeface="Arial" panose="020B0604020202020204" pitchFamily="34" charset="0"/>
                        <a:buChar char="•"/>
                      </a:pPr>
                      <a:r>
                        <a:rPr lang="en-US" sz="1400">
                          <a:effectLst/>
                        </a:rPr>
                        <a:t>3.1% MI imbalanced </a:t>
                      </a:r>
                    </a:p>
                    <a:p>
                      <a:pPr marL="285750" indent="-285750" algn="l">
                        <a:buFont typeface="Arial" panose="020B0604020202020204" pitchFamily="34" charset="0"/>
                        <a:buChar char="•"/>
                      </a:pPr>
                      <a:r>
                        <a:rPr lang="en-US" sz="1400">
                          <a:effectLst/>
                        </a:rPr>
                        <a:t>Small labeled set</a:t>
                      </a:r>
                    </a:p>
                  </a:txBody>
                  <a:tcPr marL="19960" marR="19960" marT="19960" marB="19960" anchor="ctr"/>
                </a:tc>
                <a:tc>
                  <a:txBody>
                    <a:bodyPr/>
                    <a:lstStyle/>
                    <a:p>
                      <a:pPr marL="285750" indent="-285750" algn="l">
                        <a:buFont typeface="Arial" panose="020B0604020202020204" pitchFamily="34" charset="0"/>
                        <a:buChar char="•"/>
                      </a:pPr>
                      <a:r>
                        <a:rPr lang="en-US" sz="1400">
                          <a:effectLst/>
                        </a:rPr>
                        <a:t>MI: AUC 80%, Acc 71%</a:t>
                      </a:r>
                    </a:p>
                    <a:p>
                      <a:pPr marL="285750" indent="-285750" algn="l">
                        <a:buFont typeface="Arial" panose="020B0604020202020204" pitchFamily="34" charset="0"/>
                        <a:buChar char="•"/>
                      </a:pPr>
                      <a:r>
                        <a:rPr lang="en-US" sz="1400">
                          <a:effectLst/>
                        </a:rPr>
                        <a:t>Stroke: AUC 67%, Acc 62% </a:t>
                      </a:r>
                    </a:p>
                    <a:p>
                      <a:pPr marL="285750" indent="-285750" algn="l">
                        <a:buFont typeface="Arial" panose="020B0604020202020204" pitchFamily="34" charset="0"/>
                        <a:buChar char="•"/>
                      </a:pPr>
                      <a:r>
                        <a:rPr lang="en-US" sz="1400">
                          <a:effectLst/>
                        </a:rPr>
                        <a:t>+7.6% vs supervised</a:t>
                      </a:r>
                    </a:p>
                  </a:txBody>
                  <a:tcPr marL="19960" marR="19960" marT="19960" marB="19960" anchor="ctr"/>
                </a:tc>
                <a:extLst>
                  <a:ext uri="{0D108BD9-81ED-4DB2-BD59-A6C34878D82A}">
                    <a16:rowId xmlns:a16="http://schemas.microsoft.com/office/drawing/2014/main" val="3195186668"/>
                  </a:ext>
                </a:extLst>
              </a:tr>
              <a:tr h="438661">
                <a:tc>
                  <a:txBody>
                    <a:bodyPr/>
                    <a:lstStyle/>
                    <a:p>
                      <a:pPr algn="ctr">
                        <a:buNone/>
                      </a:pPr>
                      <a:r>
                        <a:rPr lang="en-IN" sz="1400" dirty="0">
                          <a:effectLst/>
                        </a:rPr>
                        <a:t>[2]</a:t>
                      </a:r>
                    </a:p>
                  </a:txBody>
                  <a:tcPr marL="19960" marR="19960" marT="19960" marB="19960" anchor="ctr"/>
                </a:tc>
                <a:tc>
                  <a:txBody>
                    <a:bodyPr/>
                    <a:lstStyle/>
                    <a:p>
                      <a:pPr algn="l">
                        <a:buNone/>
                      </a:pPr>
                      <a:r>
                        <a:rPr lang="en-US" sz="1400">
                          <a:effectLst/>
                        </a:rPr>
                        <a:t>Ensemble Framework for Cardiovascular Disease Prediction</a:t>
                      </a:r>
                    </a:p>
                  </a:txBody>
                  <a:tcPr marL="19960" marR="19960" marT="19960" marB="19960" anchor="ctr"/>
                </a:tc>
                <a:tc>
                  <a:txBody>
                    <a:bodyPr/>
                    <a:lstStyle/>
                    <a:p>
                      <a:pPr algn="l">
                        <a:buNone/>
                      </a:pPr>
                      <a:r>
                        <a:rPr lang="en-IN" sz="1400">
                          <a:effectLst/>
                        </a:rPr>
                        <a:t>2023</a:t>
                      </a:r>
                    </a:p>
                  </a:txBody>
                  <a:tcPr marL="19960" marR="19960" marT="19960" marB="19960" anchor="ctr"/>
                </a:tc>
                <a:tc>
                  <a:txBody>
                    <a:bodyPr/>
                    <a:lstStyle/>
                    <a:p>
                      <a:pPr marL="285750" indent="-285750" algn="l">
                        <a:buFont typeface="Arial" panose="020B0604020202020204" pitchFamily="34" charset="0"/>
                        <a:buChar char="•"/>
                      </a:pPr>
                      <a:r>
                        <a:rPr lang="en-US" sz="1400">
                          <a:effectLst/>
                        </a:rPr>
                        <a:t>1,190 instances </a:t>
                      </a:r>
                    </a:p>
                    <a:p>
                      <a:pPr marL="285750" indent="-285750" algn="l">
                        <a:buFont typeface="Arial" panose="020B0604020202020204" pitchFamily="34" charset="0"/>
                        <a:buChar char="•"/>
                      </a:pPr>
                      <a:r>
                        <a:rPr lang="en-US" sz="1400">
                          <a:effectLst/>
                        </a:rPr>
                        <a:t>5 combined datasets </a:t>
                      </a:r>
                    </a:p>
                    <a:p>
                      <a:pPr marL="285750" indent="-285750" algn="l">
                        <a:buFont typeface="Arial" panose="020B0604020202020204" pitchFamily="34" charset="0"/>
                        <a:buChar char="•"/>
                      </a:pPr>
                      <a:r>
                        <a:rPr lang="en-US" sz="1400">
                          <a:effectLst/>
                        </a:rPr>
                        <a:t>11 features</a:t>
                      </a:r>
                    </a:p>
                  </a:txBody>
                  <a:tcPr marL="19960" marR="19960" marT="19960" marB="19960" anchor="ctr"/>
                </a:tc>
                <a:tc>
                  <a:txBody>
                    <a:bodyPr/>
                    <a:lstStyle/>
                    <a:p>
                      <a:pPr marL="285750" indent="-285750" algn="l">
                        <a:buFont typeface="Arial" panose="020B0604020202020204" pitchFamily="34" charset="0"/>
                        <a:buChar char="•"/>
                      </a:pPr>
                      <a:r>
                        <a:rPr lang="en-US" sz="1400">
                          <a:effectLst/>
                        </a:rPr>
                        <a:t>Small size </a:t>
                      </a:r>
                    </a:p>
                    <a:p>
                      <a:pPr marL="285750" indent="-285750" algn="l">
                        <a:buFont typeface="Arial" panose="020B0604020202020204" pitchFamily="34" charset="0"/>
                        <a:buChar char="•"/>
                      </a:pPr>
                      <a:r>
                        <a:rPr lang="en-US" sz="1400">
                          <a:effectLst/>
                        </a:rPr>
                        <a:t>76% male bias</a:t>
                      </a:r>
                    </a:p>
                  </a:txBody>
                  <a:tcPr marL="19960" marR="19960" marT="19960" marB="19960" anchor="ctr"/>
                </a:tc>
                <a:tc>
                  <a:txBody>
                    <a:bodyPr/>
                    <a:lstStyle/>
                    <a:p>
                      <a:pPr marL="285750" indent="-285750" algn="l">
                        <a:buFont typeface="Arial" panose="020B0604020202020204" pitchFamily="34" charset="0"/>
                        <a:buChar char="•"/>
                      </a:pPr>
                      <a:r>
                        <a:rPr lang="en-US" sz="1400">
                          <a:effectLst/>
                        </a:rPr>
                        <a:t>Accuracy: 92.34% </a:t>
                      </a:r>
                    </a:p>
                    <a:p>
                      <a:pPr marL="285750" indent="-285750" algn="l">
                        <a:buFont typeface="Arial" panose="020B0604020202020204" pitchFamily="34" charset="0"/>
                        <a:buChar char="•"/>
                      </a:pPr>
                      <a:r>
                        <a:rPr lang="en-US" sz="1400">
                          <a:effectLst/>
                        </a:rPr>
                        <a:t>ROC-AUC: 92.28% </a:t>
                      </a:r>
                    </a:p>
                    <a:p>
                      <a:pPr marL="285750" indent="-285750" algn="l">
                        <a:buFont typeface="Arial" panose="020B0604020202020204" pitchFamily="34" charset="0"/>
                        <a:buChar char="•"/>
                      </a:pPr>
                      <a:r>
                        <a:rPr lang="en-US" sz="1400">
                          <a:effectLst/>
                        </a:rPr>
                        <a:t>Sensitivity: 93.49%</a:t>
                      </a:r>
                    </a:p>
                  </a:txBody>
                  <a:tcPr marL="19960" marR="19960" marT="19960" marB="19960" anchor="ctr"/>
                </a:tc>
                <a:extLst>
                  <a:ext uri="{0D108BD9-81ED-4DB2-BD59-A6C34878D82A}">
                    <a16:rowId xmlns:a16="http://schemas.microsoft.com/office/drawing/2014/main" val="2895169317"/>
                  </a:ext>
                </a:extLst>
              </a:tr>
              <a:tr h="756308">
                <a:tc>
                  <a:txBody>
                    <a:bodyPr/>
                    <a:lstStyle/>
                    <a:p>
                      <a:pPr algn="ctr">
                        <a:buNone/>
                      </a:pPr>
                      <a:r>
                        <a:rPr lang="en-IN" sz="1400" dirty="0">
                          <a:effectLst/>
                        </a:rPr>
                        <a:t>[3]</a:t>
                      </a:r>
                    </a:p>
                  </a:txBody>
                  <a:tcPr marL="19960" marR="19960" marT="19960" marB="19960" anchor="ctr"/>
                </a:tc>
                <a:tc>
                  <a:txBody>
                    <a:bodyPr/>
                    <a:lstStyle/>
                    <a:p>
                      <a:pPr algn="l">
                        <a:buNone/>
                      </a:pPr>
                      <a:r>
                        <a:rPr lang="en-US" sz="1400">
                          <a:effectLst/>
                        </a:rPr>
                        <a:t>New Cardiovascular Disease Prediction Approach Using Support Vector Machine and Quantum-Behaved Particle Swarm Optimization</a:t>
                      </a:r>
                    </a:p>
                  </a:txBody>
                  <a:tcPr marL="19960" marR="19960" marT="19960" marB="19960" anchor="ctr"/>
                </a:tc>
                <a:tc>
                  <a:txBody>
                    <a:bodyPr/>
                    <a:lstStyle/>
                    <a:p>
                      <a:pPr algn="l">
                        <a:buNone/>
                      </a:pPr>
                      <a:r>
                        <a:rPr lang="en-IN" sz="1400">
                          <a:effectLst/>
                        </a:rPr>
                        <a:t>2023</a:t>
                      </a:r>
                    </a:p>
                  </a:txBody>
                  <a:tcPr marL="19960" marR="19960" marT="19960" marB="19960" anchor="ctr"/>
                </a:tc>
                <a:tc>
                  <a:txBody>
                    <a:bodyPr/>
                    <a:lstStyle/>
                    <a:p>
                      <a:pPr marL="285750" indent="-285750" algn="l">
                        <a:buFont typeface="Arial" panose="020B0604020202020204" pitchFamily="34" charset="0"/>
                        <a:buChar char="•"/>
                      </a:pPr>
                      <a:r>
                        <a:rPr lang="en-IN" sz="1400">
                          <a:effectLst/>
                        </a:rPr>
                        <a:t>303 patients</a:t>
                      </a:r>
                    </a:p>
                    <a:p>
                      <a:pPr marL="285750" indent="-285750" algn="l">
                        <a:buFont typeface="Arial" panose="020B0604020202020204" pitchFamily="34" charset="0"/>
                        <a:buChar char="•"/>
                      </a:pPr>
                      <a:r>
                        <a:rPr lang="en-IN" sz="1400">
                          <a:effectLst/>
                        </a:rPr>
                        <a:t>13 attributes</a:t>
                      </a:r>
                    </a:p>
                  </a:txBody>
                  <a:tcPr marL="19960" marR="19960" marT="19960" marB="19960" anchor="ctr"/>
                </a:tc>
                <a:tc>
                  <a:txBody>
                    <a:bodyPr/>
                    <a:lstStyle/>
                    <a:p>
                      <a:pPr marL="285750" indent="-285750" algn="l">
                        <a:buFont typeface="Arial" panose="020B0604020202020204" pitchFamily="34" charset="0"/>
                        <a:buChar char="•"/>
                      </a:pPr>
                      <a:r>
                        <a:rPr lang="en-IN" sz="1400">
                          <a:effectLst/>
                        </a:rPr>
                        <a:t>Single dataset </a:t>
                      </a:r>
                    </a:p>
                    <a:p>
                      <a:pPr marL="285750" indent="-285750" algn="l">
                        <a:buFont typeface="Arial" panose="020B0604020202020204" pitchFamily="34" charset="0"/>
                        <a:buChar char="•"/>
                      </a:pPr>
                      <a:r>
                        <a:rPr lang="en-IN" sz="1400">
                          <a:effectLst/>
                        </a:rPr>
                        <a:t>297 usable</a:t>
                      </a:r>
                    </a:p>
                  </a:txBody>
                  <a:tcPr marL="19960" marR="19960" marT="19960" marB="19960" anchor="ctr"/>
                </a:tc>
                <a:tc>
                  <a:txBody>
                    <a:bodyPr/>
                    <a:lstStyle/>
                    <a:p>
                      <a:pPr marL="285750" indent="-285750" algn="l">
                        <a:buFont typeface="Arial" panose="020B0604020202020204" pitchFamily="34" charset="0"/>
                        <a:buChar char="•"/>
                      </a:pPr>
                      <a:r>
                        <a:rPr lang="en-US" sz="1400">
                          <a:effectLst/>
                        </a:rPr>
                        <a:t>Accuracy: 96.31% </a:t>
                      </a:r>
                    </a:p>
                    <a:p>
                      <a:pPr marL="285750" indent="-285750" algn="l">
                        <a:buFont typeface="Arial" panose="020B0604020202020204" pitchFamily="34" charset="0"/>
                        <a:buChar char="•"/>
                      </a:pPr>
                      <a:r>
                        <a:rPr lang="en-US" sz="1400">
                          <a:effectLst/>
                        </a:rPr>
                        <a:t>Sensitivity: 96.13% </a:t>
                      </a:r>
                    </a:p>
                    <a:p>
                      <a:pPr marL="285750" indent="-285750" algn="l">
                        <a:buFont typeface="Arial" panose="020B0604020202020204" pitchFamily="34" charset="0"/>
                        <a:buChar char="•"/>
                      </a:pPr>
                      <a:r>
                        <a:rPr lang="en-US" sz="1400">
                          <a:effectLst/>
                        </a:rPr>
                        <a:t>Specificity: 93.56%</a:t>
                      </a:r>
                    </a:p>
                  </a:txBody>
                  <a:tcPr marL="19960" marR="19960" marT="19960" marB="19960" anchor="ctr"/>
                </a:tc>
                <a:extLst>
                  <a:ext uri="{0D108BD9-81ED-4DB2-BD59-A6C34878D82A}">
                    <a16:rowId xmlns:a16="http://schemas.microsoft.com/office/drawing/2014/main" val="2785885402"/>
                  </a:ext>
                </a:extLst>
              </a:tr>
              <a:tr h="518074">
                <a:tc>
                  <a:txBody>
                    <a:bodyPr/>
                    <a:lstStyle/>
                    <a:p>
                      <a:pPr algn="ctr">
                        <a:buNone/>
                      </a:pPr>
                      <a:r>
                        <a:rPr lang="en-IN" sz="1400" dirty="0">
                          <a:effectLst/>
                        </a:rPr>
                        <a:t>[4]</a:t>
                      </a:r>
                    </a:p>
                  </a:txBody>
                  <a:tcPr marL="19960" marR="19960" marT="19960" marB="19960" anchor="ctr"/>
                </a:tc>
                <a:tc>
                  <a:txBody>
                    <a:bodyPr/>
                    <a:lstStyle/>
                    <a:p>
                      <a:pPr algn="l">
                        <a:buNone/>
                      </a:pPr>
                      <a:r>
                        <a:rPr lang="en-US" sz="1400">
                          <a:effectLst/>
                        </a:rPr>
                        <a:t>Integrated Machine Learning Framework for Effective Cardiovascular Disease Prediction</a:t>
                      </a:r>
                    </a:p>
                  </a:txBody>
                  <a:tcPr marL="19960" marR="19960" marT="19960" marB="19960" anchor="ctr"/>
                </a:tc>
                <a:tc>
                  <a:txBody>
                    <a:bodyPr/>
                    <a:lstStyle/>
                    <a:p>
                      <a:pPr algn="l">
                        <a:buNone/>
                      </a:pPr>
                      <a:r>
                        <a:rPr lang="en-IN" sz="1400">
                          <a:effectLst/>
                        </a:rPr>
                        <a:t>2021</a:t>
                      </a:r>
                    </a:p>
                  </a:txBody>
                  <a:tcPr marL="19960" marR="19960" marT="19960" marB="19960" anchor="ctr"/>
                </a:tc>
                <a:tc>
                  <a:txBody>
                    <a:bodyPr/>
                    <a:lstStyle/>
                    <a:p>
                      <a:pPr marL="285750" indent="-285750" algn="l">
                        <a:buFont typeface="Arial" panose="020B0604020202020204" pitchFamily="34" charset="0"/>
                        <a:buChar char="•"/>
                      </a:pPr>
                      <a:r>
                        <a:rPr lang="en-US" sz="1400">
                          <a:effectLst/>
                        </a:rPr>
                        <a:t>Framingham: 4,240 </a:t>
                      </a:r>
                    </a:p>
                    <a:p>
                      <a:pPr marL="285750" indent="-285750" algn="l">
                        <a:buFont typeface="Arial" panose="020B0604020202020204" pitchFamily="34" charset="0"/>
                        <a:buChar char="•"/>
                      </a:pPr>
                      <a:r>
                        <a:rPr lang="en-US" sz="1400">
                          <a:effectLst/>
                        </a:rPr>
                        <a:t>Heart Disease - Cleveland: varied </a:t>
                      </a:r>
                    </a:p>
                    <a:p>
                      <a:pPr marL="285750" indent="-285750" algn="l">
                        <a:buFont typeface="Arial" panose="020B0604020202020204" pitchFamily="34" charset="0"/>
                        <a:buChar char="•"/>
                      </a:pPr>
                      <a:r>
                        <a:rPr lang="en-US" sz="1400">
                          <a:effectLst/>
                        </a:rPr>
                        <a:t>15 features</a:t>
                      </a:r>
                    </a:p>
                  </a:txBody>
                  <a:tcPr marL="19960" marR="19960" marT="19960" marB="19960" anchor="ctr"/>
                </a:tc>
                <a:tc>
                  <a:txBody>
                    <a:bodyPr/>
                    <a:lstStyle/>
                    <a:p>
                      <a:pPr marL="285750" indent="-285750" algn="l">
                        <a:buFont typeface="Arial" panose="020B0604020202020204" pitchFamily="34" charset="0"/>
                        <a:buChar char="•"/>
                      </a:pPr>
                      <a:r>
                        <a:rPr lang="en-IN" sz="1400">
                          <a:effectLst/>
                        </a:rPr>
                        <a:t>Data imbalance </a:t>
                      </a:r>
                    </a:p>
                    <a:p>
                      <a:pPr marL="285750" indent="-285750" algn="l">
                        <a:buFont typeface="Arial" panose="020B0604020202020204" pitchFamily="34" charset="0"/>
                        <a:buChar char="•"/>
                      </a:pPr>
                      <a:r>
                        <a:rPr lang="en-IN" sz="1400">
                          <a:effectLst/>
                        </a:rPr>
                        <a:t>Missing values</a:t>
                      </a:r>
                    </a:p>
                  </a:txBody>
                  <a:tcPr marL="19960" marR="19960" marT="19960" marB="19960" anchor="ctr"/>
                </a:tc>
                <a:tc>
                  <a:txBody>
                    <a:bodyPr/>
                    <a:lstStyle/>
                    <a:p>
                      <a:pPr marL="285750" indent="-285750" algn="l">
                        <a:buFont typeface="Arial" panose="020B0604020202020204" pitchFamily="34" charset="0"/>
                        <a:buChar char="•"/>
                      </a:pPr>
                      <a:r>
                        <a:rPr lang="en-US" sz="1400" dirty="0">
                          <a:effectLst/>
                        </a:rPr>
                        <a:t>Framingham: 99.1% </a:t>
                      </a:r>
                    </a:p>
                    <a:p>
                      <a:pPr marL="285750" indent="-285750" algn="l">
                        <a:buFont typeface="Arial" panose="020B0604020202020204" pitchFamily="34" charset="0"/>
                        <a:buChar char="•"/>
                      </a:pPr>
                      <a:r>
                        <a:rPr lang="en-US" sz="1400" dirty="0">
                          <a:effectLst/>
                        </a:rPr>
                        <a:t>Heart Disease: 98.0% </a:t>
                      </a:r>
                    </a:p>
                    <a:p>
                      <a:pPr marL="285750" indent="-285750" algn="l">
                        <a:buFont typeface="Arial" panose="020B0604020202020204" pitchFamily="34" charset="0"/>
                        <a:buChar char="•"/>
                      </a:pPr>
                      <a:r>
                        <a:rPr lang="en-US" sz="1400" dirty="0">
                          <a:effectLst/>
                        </a:rPr>
                        <a:t>Cleveland: 95.5%</a:t>
                      </a:r>
                    </a:p>
                  </a:txBody>
                  <a:tcPr marL="19960" marR="19960" marT="19960" marB="19960" anchor="ctr"/>
                </a:tc>
                <a:extLst>
                  <a:ext uri="{0D108BD9-81ED-4DB2-BD59-A6C34878D82A}">
                    <a16:rowId xmlns:a16="http://schemas.microsoft.com/office/drawing/2014/main" val="2283329350"/>
                  </a:ext>
                </a:extLst>
              </a:tr>
            </a:tbl>
          </a:graphicData>
        </a:graphic>
      </p:graphicFrame>
    </p:spTree>
    <p:extLst>
      <p:ext uri="{BB962C8B-B14F-4D97-AF65-F5344CB8AC3E}">
        <p14:creationId xmlns:p14="http://schemas.microsoft.com/office/powerpoint/2010/main" val="2025405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4F0ABE5F-1C77-BA2F-9A3B-9123EBB7CD22}"/>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587E740C-07CA-47E4-AA69-7D268C407415}"/>
              </a:ext>
            </a:extLst>
          </p:cNvPr>
          <p:cNvSpPr txBox="1">
            <a:spLocks noGrp="1"/>
          </p:cNvSpPr>
          <p:nvPr>
            <p:ph type="title"/>
          </p:nvPr>
        </p:nvSpPr>
        <p:spPr>
          <a:xfrm>
            <a:off x="534259" y="309562"/>
            <a:ext cx="308270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a:solidFill>
                  <a:srgbClr val="04A2B9"/>
                </a:solidFill>
                <a:latin typeface="Proxima Nova"/>
                <a:ea typeface="Proxima Nova"/>
                <a:cs typeface="Proxima Nova"/>
                <a:sym typeface="Proxima Nova"/>
              </a:rPr>
              <a:t>LITERATURE REVIEW </a:t>
            </a:r>
            <a:endParaRPr lang="en-US" sz="2400" b="1">
              <a:latin typeface="Proxima Nova"/>
              <a:ea typeface="Proxima Nova"/>
              <a:cs typeface="Proxima Nova"/>
              <a:sym typeface="Proxima Nova"/>
            </a:endParaRPr>
          </a:p>
        </p:txBody>
      </p:sp>
      <p:graphicFrame>
        <p:nvGraphicFramePr>
          <p:cNvPr id="5" name="Table 4">
            <a:extLst>
              <a:ext uri="{FF2B5EF4-FFF2-40B4-BE49-F238E27FC236}">
                <a16:creationId xmlns:a16="http://schemas.microsoft.com/office/drawing/2014/main" id="{2F0CA06C-EBA9-2D88-167C-FC181685DBBE}"/>
              </a:ext>
            </a:extLst>
          </p:cNvPr>
          <p:cNvGraphicFramePr>
            <a:graphicFrameLocks noGrp="1"/>
          </p:cNvGraphicFramePr>
          <p:nvPr>
            <p:extLst>
              <p:ext uri="{D42A27DB-BD31-4B8C-83A1-F6EECF244321}">
                <p14:modId xmlns:p14="http://schemas.microsoft.com/office/powerpoint/2010/main" val="493640231"/>
              </p:ext>
            </p:extLst>
          </p:nvPr>
        </p:nvGraphicFramePr>
        <p:xfrm>
          <a:off x="439614" y="1160586"/>
          <a:ext cx="11148648" cy="4466800"/>
        </p:xfrm>
        <a:graphic>
          <a:graphicData uri="http://schemas.openxmlformats.org/drawingml/2006/table">
            <a:tbl>
              <a:tblPr firstRow="1">
                <a:tableStyleId>{5C22544A-7EE6-4342-B048-85BDC9FD1C3A}</a:tableStyleId>
              </a:tblPr>
              <a:tblGrid>
                <a:gridCol w="844063">
                  <a:extLst>
                    <a:ext uri="{9D8B030D-6E8A-4147-A177-3AD203B41FA5}">
                      <a16:colId xmlns:a16="http://schemas.microsoft.com/office/drawing/2014/main" val="809916479"/>
                    </a:ext>
                  </a:extLst>
                </a:gridCol>
                <a:gridCol w="2872153">
                  <a:extLst>
                    <a:ext uri="{9D8B030D-6E8A-4147-A177-3AD203B41FA5}">
                      <a16:colId xmlns:a16="http://schemas.microsoft.com/office/drawing/2014/main" val="1542296834"/>
                    </a:ext>
                  </a:extLst>
                </a:gridCol>
                <a:gridCol w="1858108">
                  <a:extLst>
                    <a:ext uri="{9D8B030D-6E8A-4147-A177-3AD203B41FA5}">
                      <a16:colId xmlns:a16="http://schemas.microsoft.com/office/drawing/2014/main" val="2918962844"/>
                    </a:ext>
                  </a:extLst>
                </a:gridCol>
                <a:gridCol w="1858108">
                  <a:extLst>
                    <a:ext uri="{9D8B030D-6E8A-4147-A177-3AD203B41FA5}">
                      <a16:colId xmlns:a16="http://schemas.microsoft.com/office/drawing/2014/main" val="2654146245"/>
                    </a:ext>
                  </a:extLst>
                </a:gridCol>
                <a:gridCol w="1858108">
                  <a:extLst>
                    <a:ext uri="{9D8B030D-6E8A-4147-A177-3AD203B41FA5}">
                      <a16:colId xmlns:a16="http://schemas.microsoft.com/office/drawing/2014/main" val="2202501965"/>
                    </a:ext>
                  </a:extLst>
                </a:gridCol>
                <a:gridCol w="1858108">
                  <a:extLst>
                    <a:ext uri="{9D8B030D-6E8A-4147-A177-3AD203B41FA5}">
                      <a16:colId xmlns:a16="http://schemas.microsoft.com/office/drawing/2014/main" val="432451838"/>
                    </a:ext>
                  </a:extLst>
                </a:gridCol>
              </a:tblGrid>
              <a:tr h="121015">
                <a:tc>
                  <a:txBody>
                    <a:bodyPr/>
                    <a:lstStyle/>
                    <a:p>
                      <a:pPr algn="ctr">
                        <a:buNone/>
                      </a:pPr>
                      <a:r>
                        <a:rPr lang="en-IN" sz="1400" b="1">
                          <a:effectLst/>
                        </a:rPr>
                        <a:t>Ref. No.</a:t>
                      </a:r>
                    </a:p>
                  </a:txBody>
                  <a:tcPr marL="19960" marR="19960" marT="19960" marB="19960" anchor="ctr"/>
                </a:tc>
                <a:tc>
                  <a:txBody>
                    <a:bodyPr/>
                    <a:lstStyle/>
                    <a:p>
                      <a:pPr algn="ctr">
                        <a:buNone/>
                      </a:pPr>
                      <a:r>
                        <a:rPr lang="en-IN" sz="1400" b="1" dirty="0">
                          <a:effectLst/>
                        </a:rPr>
                        <a:t>Title</a:t>
                      </a:r>
                    </a:p>
                  </a:txBody>
                  <a:tcPr marL="19960" marR="19960" marT="19960" marB="19960" anchor="ctr"/>
                </a:tc>
                <a:tc>
                  <a:txBody>
                    <a:bodyPr/>
                    <a:lstStyle/>
                    <a:p>
                      <a:pPr algn="ctr">
                        <a:buNone/>
                      </a:pPr>
                      <a:r>
                        <a:rPr lang="en-IN" sz="1400" b="1">
                          <a:effectLst/>
                        </a:rPr>
                        <a:t>Year</a:t>
                      </a:r>
                    </a:p>
                  </a:txBody>
                  <a:tcPr marL="19960" marR="19960" marT="19960" marB="19960" anchor="ctr"/>
                </a:tc>
                <a:tc>
                  <a:txBody>
                    <a:bodyPr/>
                    <a:lstStyle/>
                    <a:p>
                      <a:pPr algn="ctr">
                        <a:buNone/>
                      </a:pPr>
                      <a:r>
                        <a:rPr lang="en-IN" sz="1400" b="1">
                          <a:effectLst/>
                        </a:rPr>
                        <a:t>Dataset</a:t>
                      </a:r>
                    </a:p>
                  </a:txBody>
                  <a:tcPr marL="19960" marR="19960" marT="19960" marB="19960" anchor="ctr"/>
                </a:tc>
                <a:tc>
                  <a:txBody>
                    <a:bodyPr/>
                    <a:lstStyle/>
                    <a:p>
                      <a:pPr algn="ctr">
                        <a:buNone/>
                      </a:pPr>
                      <a:r>
                        <a:rPr lang="en-IN" sz="1400" b="1">
                          <a:effectLst/>
                        </a:rPr>
                        <a:t>Limitations</a:t>
                      </a:r>
                    </a:p>
                  </a:txBody>
                  <a:tcPr marL="19960" marR="19960" marT="19960" marB="19960" anchor="ctr"/>
                </a:tc>
                <a:tc>
                  <a:txBody>
                    <a:bodyPr/>
                    <a:lstStyle/>
                    <a:p>
                      <a:pPr algn="ctr">
                        <a:buNone/>
                      </a:pPr>
                      <a:r>
                        <a:rPr lang="en-IN" sz="1400" b="1" dirty="0">
                          <a:effectLst/>
                        </a:rPr>
                        <a:t>Results</a:t>
                      </a:r>
                    </a:p>
                  </a:txBody>
                  <a:tcPr marL="19960" marR="19960" marT="19960" marB="19960" anchor="ctr"/>
                </a:tc>
                <a:extLst>
                  <a:ext uri="{0D108BD9-81ED-4DB2-BD59-A6C34878D82A}">
                    <a16:rowId xmlns:a16="http://schemas.microsoft.com/office/drawing/2014/main" val="326773917"/>
                  </a:ext>
                </a:extLst>
              </a:tr>
              <a:tr h="597485">
                <a:tc>
                  <a:txBody>
                    <a:bodyPr/>
                    <a:lstStyle/>
                    <a:p>
                      <a:pPr algn="ctr">
                        <a:buNone/>
                      </a:pPr>
                      <a:r>
                        <a:rPr lang="en-IN" sz="1400" dirty="0">
                          <a:effectLst/>
                        </a:rPr>
                        <a:t>[5]</a:t>
                      </a:r>
                    </a:p>
                  </a:txBody>
                  <a:tcPr marL="19960" marR="19960" marT="19960" marB="19960" anchor="ctr"/>
                </a:tc>
                <a:tc>
                  <a:txBody>
                    <a:bodyPr/>
                    <a:lstStyle/>
                    <a:p>
                      <a:pPr algn="l">
                        <a:buNone/>
                      </a:pPr>
                      <a:r>
                        <a:rPr lang="en-US" sz="1400">
                          <a:effectLst/>
                        </a:rPr>
                        <a:t>Machine Learning-Based Predictive Models for Detection of Cardiovascular Diseases</a:t>
                      </a:r>
                    </a:p>
                  </a:txBody>
                  <a:tcPr marL="19960" marR="19960" marT="19960" marB="19960" anchor="ctr"/>
                </a:tc>
                <a:tc>
                  <a:txBody>
                    <a:bodyPr/>
                    <a:lstStyle/>
                    <a:p>
                      <a:pPr algn="l">
                        <a:buNone/>
                      </a:pPr>
                      <a:r>
                        <a:rPr lang="en-IN" sz="1400">
                          <a:effectLst/>
                        </a:rPr>
                        <a:t>2024</a:t>
                      </a:r>
                    </a:p>
                  </a:txBody>
                  <a:tcPr marL="19960" marR="19960" marT="19960" marB="19960" anchor="ctr"/>
                </a:tc>
                <a:tc>
                  <a:txBody>
                    <a:bodyPr/>
                    <a:lstStyle/>
                    <a:p>
                      <a:pPr marL="285750" indent="-285750" algn="l">
                        <a:buFont typeface="Arial" panose="020B0604020202020204" pitchFamily="34" charset="0"/>
                        <a:buChar char="•"/>
                      </a:pPr>
                      <a:r>
                        <a:rPr lang="en-US" sz="1400">
                          <a:effectLst/>
                        </a:rPr>
                        <a:t>Mendeley: 1,000 </a:t>
                      </a:r>
                    </a:p>
                    <a:p>
                      <a:pPr marL="285750" indent="-285750" algn="l">
                        <a:buFont typeface="Arial" panose="020B0604020202020204" pitchFamily="34" charset="0"/>
                        <a:buChar char="•"/>
                      </a:pPr>
                      <a:r>
                        <a:rPr lang="en-US" sz="1400">
                          <a:effectLst/>
                        </a:rPr>
                        <a:t>Cleveland: 303 </a:t>
                      </a:r>
                    </a:p>
                    <a:p>
                      <a:pPr marL="285750" indent="-285750" algn="l">
                        <a:buFont typeface="Arial" panose="020B0604020202020204" pitchFamily="34" charset="0"/>
                        <a:buChar char="•"/>
                      </a:pPr>
                      <a:r>
                        <a:rPr lang="en-US" sz="1400">
                          <a:effectLst/>
                        </a:rPr>
                        <a:t>13-14 attributes</a:t>
                      </a:r>
                    </a:p>
                  </a:txBody>
                  <a:tcPr marL="19960" marR="19960" marT="19960" marB="19960" anchor="ctr"/>
                </a:tc>
                <a:tc>
                  <a:txBody>
                    <a:bodyPr/>
                    <a:lstStyle/>
                    <a:p>
                      <a:pPr marL="285750" indent="-285750" algn="l">
                        <a:buFont typeface="Arial" panose="020B0604020202020204" pitchFamily="34" charset="0"/>
                        <a:buChar char="•"/>
                      </a:pPr>
                      <a:r>
                        <a:rPr lang="en-US" sz="1400">
                          <a:effectLst/>
                        </a:rPr>
                        <a:t>Imbalanced </a:t>
                      </a:r>
                    </a:p>
                    <a:p>
                      <a:pPr marL="285750" indent="-285750" algn="l">
                        <a:buFont typeface="Arial" panose="020B0604020202020204" pitchFamily="34" charset="0"/>
                        <a:buChar char="•"/>
                      </a:pPr>
                      <a:r>
                        <a:rPr lang="en-US" sz="1400">
                          <a:effectLst/>
                        </a:rPr>
                        <a:t>Small sizes </a:t>
                      </a:r>
                    </a:p>
                    <a:p>
                      <a:pPr marL="285750" indent="-285750" algn="l">
                        <a:buFont typeface="Arial" panose="020B0604020202020204" pitchFamily="34" charset="0"/>
                        <a:buChar char="•"/>
                      </a:pPr>
                      <a:r>
                        <a:rPr lang="en-US" sz="1400">
                          <a:effectLst/>
                        </a:rPr>
                        <a:t>Limited features</a:t>
                      </a:r>
                    </a:p>
                  </a:txBody>
                  <a:tcPr marL="19960" marR="19960" marT="19960" marB="19960" anchor="ctr"/>
                </a:tc>
                <a:tc>
                  <a:txBody>
                    <a:bodyPr/>
                    <a:lstStyle/>
                    <a:p>
                      <a:pPr marL="285750" indent="-285750" algn="l">
                        <a:buFont typeface="Arial" panose="020B0604020202020204" pitchFamily="34" charset="0"/>
                        <a:buChar char="•"/>
                      </a:pPr>
                      <a:r>
                        <a:rPr lang="nl-NL" sz="1400">
                          <a:effectLst/>
                        </a:rPr>
                        <a:t>XGBoost: 98.50% </a:t>
                      </a:r>
                    </a:p>
                    <a:p>
                      <a:pPr marL="285750" indent="-285750" algn="l">
                        <a:buFont typeface="Arial" panose="020B0604020202020204" pitchFamily="34" charset="0"/>
                        <a:buChar char="•"/>
                      </a:pPr>
                      <a:r>
                        <a:rPr lang="nl-NL" sz="1400">
                          <a:effectLst/>
                        </a:rPr>
                        <a:t>KNN: 96.50% </a:t>
                      </a:r>
                    </a:p>
                    <a:p>
                      <a:pPr marL="285750" indent="-285750" algn="l">
                        <a:buFont typeface="Arial" panose="020B0604020202020204" pitchFamily="34" charset="0"/>
                        <a:buChar char="•"/>
                      </a:pPr>
                      <a:r>
                        <a:rPr lang="nl-NL" sz="1400">
                          <a:effectLst/>
                        </a:rPr>
                        <a:t>RF: 98.60%</a:t>
                      </a:r>
                    </a:p>
                  </a:txBody>
                  <a:tcPr marL="19960" marR="19960" marT="19960" marB="19960" anchor="ctr"/>
                </a:tc>
                <a:extLst>
                  <a:ext uri="{0D108BD9-81ED-4DB2-BD59-A6C34878D82A}">
                    <a16:rowId xmlns:a16="http://schemas.microsoft.com/office/drawing/2014/main" val="3652320480"/>
                  </a:ext>
                </a:extLst>
              </a:tr>
              <a:tr h="597485">
                <a:tc>
                  <a:txBody>
                    <a:bodyPr/>
                    <a:lstStyle/>
                    <a:p>
                      <a:pPr algn="ctr">
                        <a:buNone/>
                      </a:pPr>
                      <a:r>
                        <a:rPr lang="en-IN" sz="1400" dirty="0">
                          <a:effectLst/>
                        </a:rPr>
                        <a:t>[6]</a:t>
                      </a:r>
                    </a:p>
                  </a:txBody>
                  <a:tcPr marL="19960" marR="19960" marT="19960" marB="19960" anchor="ctr"/>
                </a:tc>
                <a:tc>
                  <a:txBody>
                    <a:bodyPr/>
                    <a:lstStyle/>
                    <a:p>
                      <a:pPr algn="l">
                        <a:buNone/>
                      </a:pPr>
                      <a:r>
                        <a:rPr lang="en-US" sz="1400">
                          <a:effectLst/>
                        </a:rPr>
                        <a:t>SCORE2 Risk Prediction Algorithms: New Models to Estimate 10-Year Risk of Cardiovascular Disease in Europe</a:t>
                      </a:r>
                    </a:p>
                  </a:txBody>
                  <a:tcPr marL="19960" marR="19960" marT="19960" marB="19960" anchor="ctr"/>
                </a:tc>
                <a:tc>
                  <a:txBody>
                    <a:bodyPr/>
                    <a:lstStyle/>
                    <a:p>
                      <a:pPr algn="l">
                        <a:buNone/>
                      </a:pPr>
                      <a:r>
                        <a:rPr lang="en-IN" sz="1400">
                          <a:effectLst/>
                        </a:rPr>
                        <a:t>2021</a:t>
                      </a:r>
                    </a:p>
                  </a:txBody>
                  <a:tcPr marL="19960" marR="19960" marT="19960" marB="19960" anchor="ctr"/>
                </a:tc>
                <a:tc>
                  <a:txBody>
                    <a:bodyPr/>
                    <a:lstStyle/>
                    <a:p>
                      <a:pPr marL="285750" indent="-285750" algn="l">
                        <a:buFont typeface="Arial" panose="020B0604020202020204" pitchFamily="34" charset="0"/>
                        <a:buChar char="•"/>
                      </a:pPr>
                      <a:r>
                        <a:rPr lang="en-US" sz="1400">
                          <a:effectLst/>
                        </a:rPr>
                        <a:t>Derivation: 677,684 </a:t>
                      </a:r>
                    </a:p>
                    <a:p>
                      <a:pPr marL="285750" indent="-285750" algn="l">
                        <a:buFont typeface="Arial" panose="020B0604020202020204" pitchFamily="34" charset="0"/>
                        <a:buChar char="•"/>
                      </a:pPr>
                      <a:r>
                        <a:rPr lang="en-US" sz="1400">
                          <a:effectLst/>
                        </a:rPr>
                        <a:t>Validation: 1,133,181 </a:t>
                      </a:r>
                    </a:p>
                    <a:p>
                      <a:pPr marL="285750" indent="-285750" algn="l">
                        <a:buFont typeface="Arial" panose="020B0604020202020204" pitchFamily="34" charset="0"/>
                        <a:buChar char="•"/>
                      </a:pPr>
                      <a:r>
                        <a:rPr lang="en-US" sz="1400">
                          <a:effectLst/>
                        </a:rPr>
                        <a:t>45 + 25 cohorts </a:t>
                      </a:r>
                    </a:p>
                    <a:p>
                      <a:pPr marL="285750" indent="-285750" algn="l">
                        <a:buFont typeface="Arial" panose="020B0604020202020204" pitchFamily="34" charset="0"/>
                        <a:buChar char="•"/>
                      </a:pPr>
                      <a:r>
                        <a:rPr lang="en-US" sz="1400">
                          <a:effectLst/>
                        </a:rPr>
                        <a:t>13 countries</a:t>
                      </a:r>
                    </a:p>
                  </a:txBody>
                  <a:tcPr marL="19960" marR="19960" marT="19960" marB="19960" anchor="ctr"/>
                </a:tc>
                <a:tc>
                  <a:txBody>
                    <a:bodyPr/>
                    <a:lstStyle/>
                    <a:p>
                      <a:pPr marL="285750" indent="-285750" algn="l">
                        <a:buFont typeface="Arial" panose="020B0604020202020204" pitchFamily="34" charset="0"/>
                        <a:buChar char="•"/>
                      </a:pPr>
                      <a:r>
                        <a:rPr lang="en-US" sz="1400">
                          <a:effectLst/>
                        </a:rPr>
                        <a:t>Low/moderate risk only </a:t>
                      </a:r>
                    </a:p>
                    <a:p>
                      <a:pPr marL="285750" indent="-285750" algn="l">
                        <a:buFont typeface="Arial" panose="020B0604020202020204" pitchFamily="34" charset="0"/>
                        <a:buChar char="•"/>
                      </a:pPr>
                      <a:r>
                        <a:rPr lang="en-US" sz="1400">
                          <a:effectLst/>
                        </a:rPr>
                        <a:t>Missing medication data</a:t>
                      </a:r>
                    </a:p>
                    <a:p>
                      <a:pPr marL="285750" indent="-285750" algn="l">
                        <a:buFont typeface="Arial" panose="020B0604020202020204" pitchFamily="34" charset="0"/>
                        <a:buChar char="•"/>
                      </a:pPr>
                      <a:r>
                        <a:rPr lang="en-US" sz="1400">
                          <a:effectLst/>
                        </a:rPr>
                        <a:t>Risk transferability</a:t>
                      </a:r>
                    </a:p>
                  </a:txBody>
                  <a:tcPr marL="19960" marR="19960" marT="19960" marB="19960" anchor="ctr"/>
                </a:tc>
                <a:tc>
                  <a:txBody>
                    <a:bodyPr/>
                    <a:lstStyle/>
                    <a:p>
                      <a:pPr marL="285750" indent="-285750" algn="l">
                        <a:buFont typeface="Arial" panose="020B0604020202020204" pitchFamily="34" charset="0"/>
                        <a:buChar char="•"/>
                      </a:pPr>
                      <a:r>
                        <a:rPr lang="en-IN" sz="1400">
                          <a:effectLst/>
                        </a:rPr>
                        <a:t>C-Index: 0.67–0.81 </a:t>
                      </a:r>
                    </a:p>
                    <a:p>
                      <a:pPr marL="285750" indent="-285750" algn="l">
                        <a:buFont typeface="Arial" panose="020B0604020202020204" pitchFamily="34" charset="0"/>
                        <a:buChar char="•"/>
                      </a:pPr>
                      <a:r>
                        <a:rPr lang="en-IN" sz="1400">
                          <a:effectLst/>
                        </a:rPr>
                        <a:t>vs SCORE: +0.01 </a:t>
                      </a:r>
                    </a:p>
                    <a:p>
                      <a:pPr marL="285750" indent="-285750" algn="l">
                        <a:buFont typeface="Arial" panose="020B0604020202020204" pitchFamily="34" charset="0"/>
                        <a:buChar char="•"/>
                      </a:pPr>
                      <a:r>
                        <a:rPr lang="en-IN" sz="1400">
                          <a:effectLst/>
                        </a:rPr>
                        <a:t>Ages 40–50: +0.0213</a:t>
                      </a:r>
                    </a:p>
                  </a:txBody>
                  <a:tcPr marL="19960" marR="19960" marT="19960" marB="19960" anchor="ctr"/>
                </a:tc>
                <a:extLst>
                  <a:ext uri="{0D108BD9-81ED-4DB2-BD59-A6C34878D82A}">
                    <a16:rowId xmlns:a16="http://schemas.microsoft.com/office/drawing/2014/main" val="3195186668"/>
                  </a:ext>
                </a:extLst>
              </a:tr>
              <a:tr h="438661">
                <a:tc>
                  <a:txBody>
                    <a:bodyPr/>
                    <a:lstStyle/>
                    <a:p>
                      <a:pPr algn="ctr">
                        <a:buNone/>
                      </a:pPr>
                      <a:r>
                        <a:rPr lang="en-IN" sz="1400" dirty="0">
                          <a:effectLst/>
                        </a:rPr>
                        <a:t>[7]</a:t>
                      </a:r>
                    </a:p>
                  </a:txBody>
                  <a:tcPr marL="19960" marR="19960" marT="19960" marB="19960" anchor="ctr"/>
                </a:tc>
                <a:tc>
                  <a:txBody>
                    <a:bodyPr/>
                    <a:lstStyle/>
                    <a:p>
                      <a:pPr algn="l">
                        <a:buNone/>
                      </a:pPr>
                      <a:r>
                        <a:rPr lang="en-US" sz="1400">
                          <a:effectLst/>
                        </a:rPr>
                        <a:t>XAI Framework for Cardiovascular Disease Prediction Using Classification Techniques</a:t>
                      </a:r>
                    </a:p>
                  </a:txBody>
                  <a:tcPr marL="19960" marR="19960" marT="19960" marB="19960" anchor="ctr"/>
                </a:tc>
                <a:tc>
                  <a:txBody>
                    <a:bodyPr/>
                    <a:lstStyle/>
                    <a:p>
                      <a:pPr algn="l">
                        <a:buNone/>
                      </a:pPr>
                      <a:r>
                        <a:rPr lang="en-IN" sz="1400">
                          <a:effectLst/>
                        </a:rPr>
                        <a:t>2022</a:t>
                      </a:r>
                    </a:p>
                  </a:txBody>
                  <a:tcPr marL="19960" marR="19960" marT="19960" marB="19960" anchor="ctr"/>
                </a:tc>
                <a:tc>
                  <a:txBody>
                    <a:bodyPr/>
                    <a:lstStyle/>
                    <a:p>
                      <a:pPr marL="285750" indent="-285750" algn="l">
                        <a:buFont typeface="Arial" panose="020B0604020202020204" pitchFamily="34" charset="0"/>
                        <a:buChar char="•"/>
                      </a:pPr>
                      <a:r>
                        <a:rPr lang="en-IN" sz="1400">
                          <a:effectLst/>
                        </a:rPr>
                        <a:t>303 instances </a:t>
                      </a:r>
                    </a:p>
                    <a:p>
                      <a:pPr marL="285750" indent="-285750" algn="l">
                        <a:buFont typeface="Arial" panose="020B0604020202020204" pitchFamily="34" charset="0"/>
                        <a:buChar char="•"/>
                      </a:pPr>
                      <a:r>
                        <a:rPr lang="en-IN" sz="1400">
                          <a:effectLst/>
                        </a:rPr>
                        <a:t>14 attributes</a:t>
                      </a:r>
                    </a:p>
                  </a:txBody>
                  <a:tcPr marL="19960" marR="19960" marT="19960" marB="19960" anchor="ctr"/>
                </a:tc>
                <a:tc>
                  <a:txBody>
                    <a:bodyPr/>
                    <a:lstStyle/>
                    <a:p>
                      <a:pPr marL="285750" indent="-285750" algn="l">
                        <a:buFont typeface="Arial" panose="020B0604020202020204" pitchFamily="34" charset="0"/>
                        <a:buChar char="•"/>
                      </a:pPr>
                      <a:r>
                        <a:rPr lang="en-IN" sz="1400">
                          <a:effectLst/>
                        </a:rPr>
                        <a:t>Single dataset </a:t>
                      </a:r>
                    </a:p>
                    <a:p>
                      <a:pPr marL="285750" indent="-285750" algn="l">
                        <a:buFont typeface="Arial" panose="020B0604020202020204" pitchFamily="34" charset="0"/>
                        <a:buChar char="•"/>
                      </a:pPr>
                      <a:r>
                        <a:rPr lang="en-IN" sz="1400">
                          <a:effectLst/>
                        </a:rPr>
                        <a:t>Small size </a:t>
                      </a:r>
                    </a:p>
                    <a:p>
                      <a:pPr marL="285750" indent="-285750" algn="l">
                        <a:buFont typeface="Arial" panose="020B0604020202020204" pitchFamily="34" charset="0"/>
                        <a:buChar char="•"/>
                      </a:pPr>
                      <a:r>
                        <a:rPr lang="en-IN" sz="1400">
                          <a:effectLst/>
                        </a:rPr>
                        <a:t>Gender imbalance</a:t>
                      </a:r>
                    </a:p>
                  </a:txBody>
                  <a:tcPr marL="19960" marR="19960" marT="19960" marB="19960" anchor="ctr"/>
                </a:tc>
                <a:tc>
                  <a:txBody>
                    <a:bodyPr/>
                    <a:lstStyle/>
                    <a:p>
                      <a:pPr marL="285750" indent="-285750" algn="l">
                        <a:buFont typeface="Arial" panose="020B0604020202020204" pitchFamily="34" charset="0"/>
                        <a:buChar char="•"/>
                      </a:pPr>
                      <a:r>
                        <a:rPr lang="en-IN" sz="1400">
                          <a:effectLst/>
                        </a:rPr>
                        <a:t>SVM: 82.5%, AUC 0.89 </a:t>
                      </a:r>
                    </a:p>
                    <a:p>
                      <a:pPr marL="285750" indent="-285750" algn="l">
                        <a:buFont typeface="Arial" panose="020B0604020202020204" pitchFamily="34" charset="0"/>
                        <a:buChar char="•"/>
                      </a:pPr>
                      <a:r>
                        <a:rPr lang="en-IN" sz="1400">
                          <a:effectLst/>
                        </a:rPr>
                        <a:t>LR: 81.2%, AUC 0.89 </a:t>
                      </a:r>
                    </a:p>
                    <a:p>
                      <a:pPr marL="285750" indent="-285750" algn="l">
                        <a:buFont typeface="Arial" panose="020B0604020202020204" pitchFamily="34" charset="0"/>
                        <a:buChar char="•"/>
                      </a:pPr>
                      <a:r>
                        <a:rPr lang="en-IN" sz="1400">
                          <a:effectLst/>
                        </a:rPr>
                        <a:t>NB: 80.2%, AUC 0.89</a:t>
                      </a:r>
                    </a:p>
                  </a:txBody>
                  <a:tcPr marL="19960" marR="19960" marT="19960" marB="19960" anchor="ctr"/>
                </a:tc>
                <a:extLst>
                  <a:ext uri="{0D108BD9-81ED-4DB2-BD59-A6C34878D82A}">
                    <a16:rowId xmlns:a16="http://schemas.microsoft.com/office/drawing/2014/main" val="2895169317"/>
                  </a:ext>
                </a:extLst>
              </a:tr>
              <a:tr h="756308">
                <a:tc>
                  <a:txBody>
                    <a:bodyPr/>
                    <a:lstStyle/>
                    <a:p>
                      <a:pPr algn="ctr">
                        <a:buNone/>
                      </a:pPr>
                      <a:r>
                        <a:rPr lang="en-IN" sz="1400" dirty="0">
                          <a:effectLst/>
                        </a:rPr>
                        <a:t>[8]</a:t>
                      </a:r>
                    </a:p>
                  </a:txBody>
                  <a:tcPr marL="19960" marR="19960" marT="19960" marB="19960" anchor="ctr"/>
                </a:tc>
                <a:tc>
                  <a:txBody>
                    <a:bodyPr/>
                    <a:lstStyle/>
                    <a:p>
                      <a:pPr algn="l">
                        <a:buNone/>
                      </a:pPr>
                      <a:r>
                        <a:rPr lang="en-US" sz="1400">
                          <a:effectLst/>
                        </a:rPr>
                        <a:t>Effective Heart Disease Prediction Using Machine Learning Techniques</a:t>
                      </a:r>
                    </a:p>
                  </a:txBody>
                  <a:tcPr marL="19960" marR="19960" marT="19960" marB="19960" anchor="ctr"/>
                </a:tc>
                <a:tc>
                  <a:txBody>
                    <a:bodyPr/>
                    <a:lstStyle/>
                    <a:p>
                      <a:pPr algn="l">
                        <a:buNone/>
                      </a:pPr>
                      <a:r>
                        <a:rPr lang="en-IN" sz="1400">
                          <a:effectLst/>
                        </a:rPr>
                        <a:t>2023</a:t>
                      </a:r>
                    </a:p>
                  </a:txBody>
                  <a:tcPr marL="19960" marR="19960" marT="19960" marB="19960" anchor="ctr"/>
                </a:tc>
                <a:tc>
                  <a:txBody>
                    <a:bodyPr/>
                    <a:lstStyle/>
                    <a:p>
                      <a:pPr marL="285750" indent="-285750" algn="l">
                        <a:buFont typeface="Arial" panose="020B0604020202020204" pitchFamily="34" charset="0"/>
                        <a:buChar char="•"/>
                      </a:pPr>
                      <a:r>
                        <a:rPr lang="en-US" sz="1400">
                          <a:effectLst/>
                        </a:rPr>
                        <a:t>70,000 instances </a:t>
                      </a:r>
                    </a:p>
                    <a:p>
                      <a:pPr marL="285750" indent="-285750" algn="l">
                        <a:buFont typeface="Arial" panose="020B0604020202020204" pitchFamily="34" charset="0"/>
                        <a:buChar char="•"/>
                      </a:pPr>
                      <a:r>
                        <a:rPr lang="en-US" sz="1400">
                          <a:effectLst/>
                        </a:rPr>
                        <a:t>After clean: 57,155 </a:t>
                      </a:r>
                    </a:p>
                    <a:p>
                      <a:pPr marL="285750" indent="-285750" algn="l">
                        <a:buFont typeface="Arial" panose="020B0604020202020204" pitchFamily="34" charset="0"/>
                        <a:buChar char="•"/>
                      </a:pPr>
                      <a:r>
                        <a:rPr lang="en-US" sz="1400">
                          <a:effectLst/>
                        </a:rPr>
                        <a:t>11-12 features</a:t>
                      </a:r>
                    </a:p>
                  </a:txBody>
                  <a:tcPr marL="19960" marR="19960" marT="19960" marB="19960" anchor="ctr"/>
                </a:tc>
                <a:tc>
                  <a:txBody>
                    <a:bodyPr/>
                    <a:lstStyle/>
                    <a:p>
                      <a:pPr marL="285750" indent="-285750" algn="l">
                        <a:buFont typeface="Arial" panose="020B0604020202020204" pitchFamily="34" charset="0"/>
                        <a:buChar char="•"/>
                      </a:pPr>
                      <a:r>
                        <a:rPr lang="en-IN" sz="1400">
                          <a:effectLst/>
                        </a:rPr>
                        <a:t>Single dataset </a:t>
                      </a:r>
                    </a:p>
                    <a:p>
                      <a:pPr marL="285750" indent="-285750" algn="l">
                        <a:buFont typeface="Arial" panose="020B0604020202020204" pitchFamily="34" charset="0"/>
                        <a:buChar char="•"/>
                      </a:pPr>
                      <a:r>
                        <a:rPr lang="en-IN" sz="1400">
                          <a:effectLst/>
                        </a:rPr>
                        <a:t>No lifestyle data </a:t>
                      </a:r>
                    </a:p>
                    <a:p>
                      <a:pPr marL="285750" indent="-285750" algn="l">
                        <a:buFont typeface="Arial" panose="020B0604020202020204" pitchFamily="34" charset="0"/>
                        <a:buChar char="•"/>
                      </a:pPr>
                      <a:r>
                        <a:rPr lang="en-IN" sz="1400">
                          <a:effectLst/>
                        </a:rPr>
                        <a:t>Limited demographics</a:t>
                      </a:r>
                    </a:p>
                  </a:txBody>
                  <a:tcPr marL="19960" marR="19960" marT="19960" marB="19960" anchor="ctr"/>
                </a:tc>
                <a:tc>
                  <a:txBody>
                    <a:bodyPr/>
                    <a:lstStyle/>
                    <a:p>
                      <a:pPr marL="285750" indent="-285750" algn="l">
                        <a:buFont typeface="Arial" panose="020B0604020202020204" pitchFamily="34" charset="0"/>
                        <a:buChar char="•"/>
                      </a:pPr>
                      <a:r>
                        <a:rPr lang="en-IN" sz="1400" dirty="0">
                          <a:effectLst/>
                        </a:rPr>
                        <a:t>MLP: 87.28%, AUC 0.95 </a:t>
                      </a:r>
                    </a:p>
                    <a:p>
                      <a:pPr marL="285750" indent="-285750" algn="l">
                        <a:buFont typeface="Arial" panose="020B0604020202020204" pitchFamily="34" charset="0"/>
                        <a:buChar char="•"/>
                      </a:pPr>
                      <a:r>
                        <a:rPr lang="en-IN" sz="1400" dirty="0">
                          <a:effectLst/>
                        </a:rPr>
                        <a:t>RF: 87.05% </a:t>
                      </a:r>
                    </a:p>
                    <a:p>
                      <a:pPr marL="285750" indent="-285750" algn="l">
                        <a:buFont typeface="Arial" panose="020B0604020202020204" pitchFamily="34" charset="0"/>
                        <a:buChar char="•"/>
                      </a:pPr>
                      <a:r>
                        <a:rPr lang="en-IN" sz="1400" dirty="0">
                          <a:effectLst/>
                        </a:rPr>
                        <a:t>XGB: 86.87%</a:t>
                      </a:r>
                    </a:p>
                  </a:txBody>
                  <a:tcPr marL="19960" marR="19960" marT="19960" marB="19960" anchor="ctr"/>
                </a:tc>
                <a:extLst>
                  <a:ext uri="{0D108BD9-81ED-4DB2-BD59-A6C34878D82A}">
                    <a16:rowId xmlns:a16="http://schemas.microsoft.com/office/drawing/2014/main" val="2785885402"/>
                  </a:ext>
                </a:extLst>
              </a:tr>
            </a:tbl>
          </a:graphicData>
        </a:graphic>
      </p:graphicFrame>
    </p:spTree>
    <p:extLst>
      <p:ext uri="{BB962C8B-B14F-4D97-AF65-F5344CB8AC3E}">
        <p14:creationId xmlns:p14="http://schemas.microsoft.com/office/powerpoint/2010/main" val="2552513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93350469-D948-D202-0E4E-988483E8A7B1}"/>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F1D34B31-F4FF-5679-991A-2A8F8502918B}"/>
              </a:ext>
            </a:extLst>
          </p:cNvPr>
          <p:cNvSpPr txBox="1">
            <a:spLocks noGrp="1"/>
          </p:cNvSpPr>
          <p:nvPr>
            <p:ph type="title"/>
          </p:nvPr>
        </p:nvSpPr>
        <p:spPr>
          <a:xfrm>
            <a:off x="534259" y="309562"/>
            <a:ext cx="308270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a:solidFill>
                  <a:srgbClr val="04A2B9"/>
                </a:solidFill>
                <a:latin typeface="Proxima Nova"/>
                <a:ea typeface="Proxima Nova"/>
                <a:cs typeface="Proxima Nova"/>
                <a:sym typeface="Proxima Nova"/>
              </a:rPr>
              <a:t>LITERATURE REVIEW </a:t>
            </a:r>
            <a:endParaRPr lang="en-US" sz="2400" b="1">
              <a:latin typeface="Proxima Nova"/>
              <a:ea typeface="Proxima Nova"/>
              <a:cs typeface="Proxima Nova"/>
              <a:sym typeface="Proxima Nova"/>
            </a:endParaRPr>
          </a:p>
        </p:txBody>
      </p:sp>
      <p:graphicFrame>
        <p:nvGraphicFramePr>
          <p:cNvPr id="5" name="Table 4">
            <a:extLst>
              <a:ext uri="{FF2B5EF4-FFF2-40B4-BE49-F238E27FC236}">
                <a16:creationId xmlns:a16="http://schemas.microsoft.com/office/drawing/2014/main" id="{BA41DBCE-7E5F-382C-A5EB-28E231753479}"/>
              </a:ext>
            </a:extLst>
          </p:cNvPr>
          <p:cNvGraphicFramePr>
            <a:graphicFrameLocks noGrp="1"/>
          </p:cNvGraphicFramePr>
          <p:nvPr>
            <p:extLst>
              <p:ext uri="{D42A27DB-BD31-4B8C-83A1-F6EECF244321}">
                <p14:modId xmlns:p14="http://schemas.microsoft.com/office/powerpoint/2010/main" val="2540549465"/>
              </p:ext>
            </p:extLst>
          </p:nvPr>
        </p:nvGraphicFramePr>
        <p:xfrm>
          <a:off x="439614" y="1160586"/>
          <a:ext cx="11148648" cy="2040000"/>
        </p:xfrm>
        <a:graphic>
          <a:graphicData uri="http://schemas.openxmlformats.org/drawingml/2006/table">
            <a:tbl>
              <a:tblPr firstRow="1">
                <a:tableStyleId>{5C22544A-7EE6-4342-B048-85BDC9FD1C3A}</a:tableStyleId>
              </a:tblPr>
              <a:tblGrid>
                <a:gridCol w="844063">
                  <a:extLst>
                    <a:ext uri="{9D8B030D-6E8A-4147-A177-3AD203B41FA5}">
                      <a16:colId xmlns:a16="http://schemas.microsoft.com/office/drawing/2014/main" val="809916479"/>
                    </a:ext>
                  </a:extLst>
                </a:gridCol>
                <a:gridCol w="2872153">
                  <a:extLst>
                    <a:ext uri="{9D8B030D-6E8A-4147-A177-3AD203B41FA5}">
                      <a16:colId xmlns:a16="http://schemas.microsoft.com/office/drawing/2014/main" val="1542296834"/>
                    </a:ext>
                  </a:extLst>
                </a:gridCol>
                <a:gridCol w="1858108">
                  <a:extLst>
                    <a:ext uri="{9D8B030D-6E8A-4147-A177-3AD203B41FA5}">
                      <a16:colId xmlns:a16="http://schemas.microsoft.com/office/drawing/2014/main" val="2918962844"/>
                    </a:ext>
                  </a:extLst>
                </a:gridCol>
                <a:gridCol w="1858108">
                  <a:extLst>
                    <a:ext uri="{9D8B030D-6E8A-4147-A177-3AD203B41FA5}">
                      <a16:colId xmlns:a16="http://schemas.microsoft.com/office/drawing/2014/main" val="2654146245"/>
                    </a:ext>
                  </a:extLst>
                </a:gridCol>
                <a:gridCol w="1858108">
                  <a:extLst>
                    <a:ext uri="{9D8B030D-6E8A-4147-A177-3AD203B41FA5}">
                      <a16:colId xmlns:a16="http://schemas.microsoft.com/office/drawing/2014/main" val="2202501965"/>
                    </a:ext>
                  </a:extLst>
                </a:gridCol>
                <a:gridCol w="1858108">
                  <a:extLst>
                    <a:ext uri="{9D8B030D-6E8A-4147-A177-3AD203B41FA5}">
                      <a16:colId xmlns:a16="http://schemas.microsoft.com/office/drawing/2014/main" val="432451838"/>
                    </a:ext>
                  </a:extLst>
                </a:gridCol>
              </a:tblGrid>
              <a:tr h="121015">
                <a:tc>
                  <a:txBody>
                    <a:bodyPr/>
                    <a:lstStyle/>
                    <a:p>
                      <a:pPr algn="ctr">
                        <a:buNone/>
                      </a:pPr>
                      <a:r>
                        <a:rPr lang="en-IN" sz="1400" b="1">
                          <a:effectLst/>
                        </a:rPr>
                        <a:t>Ref. No.</a:t>
                      </a:r>
                    </a:p>
                  </a:txBody>
                  <a:tcPr marL="19960" marR="19960" marT="19960" marB="19960" anchor="ctr"/>
                </a:tc>
                <a:tc>
                  <a:txBody>
                    <a:bodyPr/>
                    <a:lstStyle/>
                    <a:p>
                      <a:pPr algn="ctr">
                        <a:buNone/>
                      </a:pPr>
                      <a:r>
                        <a:rPr lang="en-IN" sz="1400" b="1">
                          <a:effectLst/>
                        </a:rPr>
                        <a:t>Title</a:t>
                      </a:r>
                    </a:p>
                  </a:txBody>
                  <a:tcPr marL="19960" marR="19960" marT="19960" marB="19960" anchor="ctr"/>
                </a:tc>
                <a:tc>
                  <a:txBody>
                    <a:bodyPr/>
                    <a:lstStyle/>
                    <a:p>
                      <a:pPr algn="ctr">
                        <a:buNone/>
                      </a:pPr>
                      <a:r>
                        <a:rPr lang="en-IN" sz="1400" b="1">
                          <a:effectLst/>
                        </a:rPr>
                        <a:t>Year</a:t>
                      </a:r>
                    </a:p>
                  </a:txBody>
                  <a:tcPr marL="19960" marR="19960" marT="19960" marB="19960" anchor="ctr"/>
                </a:tc>
                <a:tc>
                  <a:txBody>
                    <a:bodyPr/>
                    <a:lstStyle/>
                    <a:p>
                      <a:pPr algn="ctr">
                        <a:buNone/>
                      </a:pPr>
                      <a:r>
                        <a:rPr lang="en-IN" sz="1400" b="1">
                          <a:effectLst/>
                        </a:rPr>
                        <a:t>Dataset</a:t>
                      </a:r>
                    </a:p>
                  </a:txBody>
                  <a:tcPr marL="19960" marR="19960" marT="19960" marB="19960" anchor="ctr"/>
                </a:tc>
                <a:tc>
                  <a:txBody>
                    <a:bodyPr/>
                    <a:lstStyle/>
                    <a:p>
                      <a:pPr algn="ctr">
                        <a:buNone/>
                      </a:pPr>
                      <a:r>
                        <a:rPr lang="en-IN" sz="1400" b="1">
                          <a:effectLst/>
                        </a:rPr>
                        <a:t>Limitations</a:t>
                      </a:r>
                    </a:p>
                  </a:txBody>
                  <a:tcPr marL="19960" marR="19960" marT="19960" marB="19960" anchor="ctr"/>
                </a:tc>
                <a:tc>
                  <a:txBody>
                    <a:bodyPr/>
                    <a:lstStyle/>
                    <a:p>
                      <a:pPr algn="ctr">
                        <a:buNone/>
                      </a:pPr>
                      <a:r>
                        <a:rPr lang="en-IN" sz="1400" b="1" dirty="0">
                          <a:effectLst/>
                        </a:rPr>
                        <a:t>Results</a:t>
                      </a:r>
                    </a:p>
                  </a:txBody>
                  <a:tcPr marL="19960" marR="19960" marT="19960" marB="19960" anchor="ctr"/>
                </a:tc>
                <a:extLst>
                  <a:ext uri="{0D108BD9-81ED-4DB2-BD59-A6C34878D82A}">
                    <a16:rowId xmlns:a16="http://schemas.microsoft.com/office/drawing/2014/main" val="326773917"/>
                  </a:ext>
                </a:extLst>
              </a:tr>
              <a:tr h="518074">
                <a:tc>
                  <a:txBody>
                    <a:bodyPr/>
                    <a:lstStyle/>
                    <a:p>
                      <a:pPr algn="ctr">
                        <a:buNone/>
                      </a:pPr>
                      <a:r>
                        <a:rPr lang="en-IN" sz="1400" dirty="0">
                          <a:effectLst/>
                        </a:rPr>
                        <a:t>[9]</a:t>
                      </a:r>
                    </a:p>
                  </a:txBody>
                  <a:tcPr marL="19960" marR="19960" marT="19960" marB="19960" anchor="ctr"/>
                </a:tc>
                <a:tc>
                  <a:txBody>
                    <a:bodyPr/>
                    <a:lstStyle/>
                    <a:p>
                      <a:pPr algn="l">
                        <a:buNone/>
                      </a:pPr>
                      <a:r>
                        <a:rPr lang="en-US" sz="1400">
                          <a:effectLst/>
                        </a:rPr>
                        <a:t>Enhancing Heart Disease Prediction Accuracy through Machine Learning Techniques and Optimization</a:t>
                      </a:r>
                    </a:p>
                  </a:txBody>
                  <a:tcPr marL="19960" marR="19960" marT="19960" marB="19960" anchor="ctr"/>
                </a:tc>
                <a:tc>
                  <a:txBody>
                    <a:bodyPr/>
                    <a:lstStyle/>
                    <a:p>
                      <a:pPr algn="l">
                        <a:buNone/>
                      </a:pPr>
                      <a:r>
                        <a:rPr lang="en-IN" sz="1400">
                          <a:effectLst/>
                        </a:rPr>
                        <a:t>2023</a:t>
                      </a:r>
                    </a:p>
                  </a:txBody>
                  <a:tcPr marL="19960" marR="19960" marT="19960" marB="19960" anchor="ctr"/>
                </a:tc>
                <a:tc>
                  <a:txBody>
                    <a:bodyPr/>
                    <a:lstStyle/>
                    <a:p>
                      <a:pPr marL="285750" indent="-285750" algn="l">
                        <a:buFont typeface="Arial" panose="020B0604020202020204" pitchFamily="34" charset="0"/>
                        <a:buChar char="•"/>
                      </a:pPr>
                      <a:r>
                        <a:rPr lang="en-IN" sz="1400">
                          <a:effectLst/>
                        </a:rPr>
                        <a:t>Cleveland: 303→302 </a:t>
                      </a:r>
                    </a:p>
                    <a:p>
                      <a:pPr marL="285750" indent="-285750" algn="l">
                        <a:buFont typeface="Arial" panose="020B0604020202020204" pitchFamily="34" charset="0"/>
                        <a:buChar char="•"/>
                      </a:pPr>
                      <a:r>
                        <a:rPr lang="en-IN" sz="1400">
                          <a:effectLst/>
                        </a:rPr>
                        <a:t>IEEE: 1,190→918</a:t>
                      </a:r>
                    </a:p>
                  </a:txBody>
                  <a:tcPr marL="19960" marR="19960" marT="19960" marB="19960" anchor="ctr"/>
                </a:tc>
                <a:tc>
                  <a:txBody>
                    <a:bodyPr/>
                    <a:lstStyle/>
                    <a:p>
                      <a:pPr marL="285750" indent="-285750" algn="l">
                        <a:buFont typeface="Arial" panose="020B0604020202020204" pitchFamily="34" charset="0"/>
                        <a:buChar char="•"/>
                      </a:pPr>
                      <a:r>
                        <a:rPr lang="en-US" sz="1400">
                          <a:effectLst/>
                        </a:rPr>
                        <a:t>Limited data </a:t>
                      </a:r>
                    </a:p>
                    <a:p>
                      <a:pPr marL="285750" indent="-285750" algn="l">
                        <a:buFont typeface="Arial" panose="020B0604020202020204" pitchFamily="34" charset="0"/>
                        <a:buChar char="•"/>
                      </a:pPr>
                      <a:r>
                        <a:rPr lang="en-US" sz="1400">
                          <a:effectLst/>
                        </a:rPr>
                        <a:t>Single/small sets </a:t>
                      </a:r>
                    </a:p>
                    <a:p>
                      <a:pPr marL="285750" indent="-285750" algn="l">
                        <a:buFont typeface="Arial" panose="020B0604020202020204" pitchFamily="34" charset="0"/>
                        <a:buChar char="•"/>
                      </a:pPr>
                      <a:r>
                        <a:rPr lang="en-US" sz="1400">
                          <a:effectLst/>
                        </a:rPr>
                        <a:t>Missing/duplicates</a:t>
                      </a:r>
                    </a:p>
                  </a:txBody>
                  <a:tcPr marL="19960" marR="19960" marT="19960" marB="19960" anchor="ctr"/>
                </a:tc>
                <a:tc>
                  <a:txBody>
                    <a:bodyPr/>
                    <a:lstStyle/>
                    <a:p>
                      <a:pPr marL="285750" indent="-285750" algn="l">
                        <a:buFont typeface="Arial" panose="020B0604020202020204" pitchFamily="34" charset="0"/>
                        <a:buChar char="•"/>
                      </a:pPr>
                      <a:r>
                        <a:rPr lang="en-IN" sz="1400">
                          <a:effectLst/>
                        </a:rPr>
                        <a:t>Cleveland: LR 90.16%, Ensemble 93.44% </a:t>
                      </a:r>
                    </a:p>
                    <a:p>
                      <a:pPr marL="285750" indent="-285750" algn="l">
                        <a:buFont typeface="Arial" panose="020B0604020202020204" pitchFamily="34" charset="0"/>
                        <a:buChar char="•"/>
                      </a:pPr>
                      <a:r>
                        <a:rPr lang="en-IN" sz="1400">
                          <a:effectLst/>
                        </a:rPr>
                        <a:t>IEEE: AB 90%, Ensemble 95%</a:t>
                      </a:r>
                    </a:p>
                  </a:txBody>
                  <a:tcPr marL="19960" marR="19960" marT="19960" marB="19960" anchor="ctr"/>
                </a:tc>
                <a:extLst>
                  <a:ext uri="{0D108BD9-81ED-4DB2-BD59-A6C34878D82A}">
                    <a16:rowId xmlns:a16="http://schemas.microsoft.com/office/drawing/2014/main" val="2283329350"/>
                  </a:ext>
                </a:extLst>
              </a:tr>
              <a:tr h="518074">
                <a:tc>
                  <a:txBody>
                    <a:bodyPr/>
                    <a:lstStyle/>
                    <a:p>
                      <a:pPr algn="ctr">
                        <a:buNone/>
                      </a:pPr>
                      <a:r>
                        <a:rPr lang="en-IN" sz="1400" dirty="0">
                          <a:effectLst/>
                        </a:rPr>
                        <a:t>[10]</a:t>
                      </a:r>
                    </a:p>
                  </a:txBody>
                  <a:tcPr marL="19960" marR="19960" marT="19960" marB="19960" anchor="ctr"/>
                </a:tc>
                <a:tc>
                  <a:txBody>
                    <a:bodyPr/>
                    <a:lstStyle/>
                    <a:p>
                      <a:pPr algn="l">
                        <a:buNone/>
                      </a:pPr>
                      <a:r>
                        <a:rPr lang="en-US" sz="1400">
                          <a:effectLst/>
                        </a:rPr>
                        <a:t>Heart Disease Prediction Using Machine Learning Techniques</a:t>
                      </a:r>
                    </a:p>
                  </a:txBody>
                  <a:tcPr marL="19960" marR="19960" marT="19960" marB="19960" anchor="ctr"/>
                </a:tc>
                <a:tc>
                  <a:txBody>
                    <a:bodyPr/>
                    <a:lstStyle/>
                    <a:p>
                      <a:pPr algn="l">
                        <a:buNone/>
                      </a:pPr>
                      <a:r>
                        <a:rPr lang="en-IN" sz="1400">
                          <a:effectLst/>
                        </a:rPr>
                        <a:t>2021</a:t>
                      </a:r>
                    </a:p>
                  </a:txBody>
                  <a:tcPr marL="19960" marR="19960" marT="19960" marB="19960" anchor="ctr"/>
                </a:tc>
                <a:tc>
                  <a:txBody>
                    <a:bodyPr/>
                    <a:lstStyle/>
                    <a:p>
                      <a:pPr marL="285750" indent="-285750" algn="l">
                        <a:buFont typeface="Arial" panose="020B0604020202020204" pitchFamily="34" charset="0"/>
                        <a:buChar char="•"/>
                      </a:pPr>
                      <a:r>
                        <a:rPr lang="en-IN" sz="1400">
                          <a:effectLst/>
                        </a:rPr>
                        <a:t>Kaggle UCI </a:t>
                      </a:r>
                    </a:p>
                    <a:p>
                      <a:pPr marL="285750" indent="-285750" algn="l">
                        <a:buFont typeface="Arial" panose="020B0604020202020204" pitchFamily="34" charset="0"/>
                        <a:buChar char="•"/>
                      </a:pPr>
                      <a:r>
                        <a:rPr lang="en-IN" sz="1400">
                          <a:effectLst/>
                        </a:rPr>
                        <a:t>13 attributes </a:t>
                      </a:r>
                    </a:p>
                    <a:p>
                      <a:pPr marL="285750" indent="-285750" algn="l">
                        <a:buFont typeface="Arial" panose="020B0604020202020204" pitchFamily="34" charset="0"/>
                        <a:buChar char="•"/>
                      </a:pPr>
                      <a:r>
                        <a:rPr lang="en-IN" sz="1400">
                          <a:effectLst/>
                        </a:rPr>
                        <a:t>Balanced dataset</a:t>
                      </a:r>
                    </a:p>
                  </a:txBody>
                  <a:tcPr marL="19960" marR="19960" marT="19960" marB="19960" anchor="ctr"/>
                </a:tc>
                <a:tc>
                  <a:txBody>
                    <a:bodyPr/>
                    <a:lstStyle/>
                    <a:p>
                      <a:pPr marL="285750" indent="-285750" algn="l">
                        <a:buFont typeface="Arial" panose="020B0604020202020204" pitchFamily="34" charset="0"/>
                        <a:buChar char="•"/>
                      </a:pPr>
                      <a:r>
                        <a:rPr lang="en-US" sz="1400">
                          <a:effectLst/>
                        </a:rPr>
                        <a:t>Single dataset </a:t>
                      </a:r>
                    </a:p>
                    <a:p>
                      <a:pPr marL="285750" indent="-285750" algn="l">
                        <a:buFont typeface="Arial" panose="020B0604020202020204" pitchFamily="34" charset="0"/>
                        <a:buChar char="•"/>
                      </a:pPr>
                      <a:r>
                        <a:rPr lang="en-US" sz="1400">
                          <a:effectLst/>
                        </a:rPr>
                        <a:t>Basic features </a:t>
                      </a:r>
                    </a:p>
                    <a:p>
                      <a:pPr marL="285750" indent="-285750" algn="l">
                        <a:buFont typeface="Arial" panose="020B0604020202020204" pitchFamily="34" charset="0"/>
                        <a:buChar char="•"/>
                      </a:pPr>
                      <a:r>
                        <a:rPr lang="en-US" sz="1400">
                          <a:effectLst/>
                        </a:rPr>
                        <a:t>Limited prep</a:t>
                      </a:r>
                    </a:p>
                  </a:txBody>
                  <a:tcPr marL="19960" marR="19960" marT="19960" marB="19960" anchor="ctr"/>
                </a:tc>
                <a:tc>
                  <a:txBody>
                    <a:bodyPr/>
                    <a:lstStyle/>
                    <a:p>
                      <a:pPr marL="285750" indent="-285750" algn="l">
                        <a:buFont typeface="Arial" panose="020B0604020202020204" pitchFamily="34" charset="0"/>
                        <a:buChar char="•"/>
                      </a:pPr>
                      <a:r>
                        <a:rPr lang="en-IN" sz="1400" dirty="0">
                          <a:effectLst/>
                        </a:rPr>
                        <a:t>K-NN: 86.885% </a:t>
                      </a:r>
                    </a:p>
                    <a:p>
                      <a:pPr marL="285750" indent="-285750" algn="l">
                        <a:buFont typeface="Arial" panose="020B0604020202020204" pitchFamily="34" charset="0"/>
                        <a:buChar char="•"/>
                      </a:pPr>
                      <a:r>
                        <a:rPr lang="en-IN" sz="1400" dirty="0">
                          <a:effectLst/>
                        </a:rPr>
                        <a:t>Random Forest: 81.967%</a:t>
                      </a:r>
                    </a:p>
                  </a:txBody>
                  <a:tcPr marL="19960" marR="19960" marT="19960" marB="19960" anchor="ctr"/>
                </a:tc>
                <a:extLst>
                  <a:ext uri="{0D108BD9-81ED-4DB2-BD59-A6C34878D82A}">
                    <a16:rowId xmlns:a16="http://schemas.microsoft.com/office/drawing/2014/main" val="935684333"/>
                  </a:ext>
                </a:extLst>
              </a:tr>
            </a:tbl>
          </a:graphicData>
        </a:graphic>
      </p:graphicFrame>
    </p:spTree>
    <p:extLst>
      <p:ext uri="{BB962C8B-B14F-4D97-AF65-F5344CB8AC3E}">
        <p14:creationId xmlns:p14="http://schemas.microsoft.com/office/powerpoint/2010/main" val="3768620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493E2E0F-A250-FC8B-B9D7-798CA1BCE21E}"/>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4E6E0C8A-FC83-C458-78E6-E78A7D0AD763}"/>
              </a:ext>
            </a:extLst>
          </p:cNvPr>
          <p:cNvSpPr txBox="1">
            <a:spLocks noGrp="1"/>
          </p:cNvSpPr>
          <p:nvPr>
            <p:ph type="title"/>
          </p:nvPr>
        </p:nvSpPr>
        <p:spPr>
          <a:xfrm>
            <a:off x="534259" y="309562"/>
            <a:ext cx="308270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KEY LIMITATIONS</a:t>
            </a:r>
            <a:endParaRPr lang="en-US" sz="2400" b="1" dirty="0">
              <a:latin typeface="Proxima Nova"/>
              <a:ea typeface="Proxima Nova"/>
              <a:cs typeface="Proxima Nova"/>
              <a:sym typeface="Proxima Nova"/>
            </a:endParaRPr>
          </a:p>
        </p:txBody>
      </p:sp>
      <p:graphicFrame>
        <p:nvGraphicFramePr>
          <p:cNvPr id="6" name="Diagram 5">
            <a:extLst>
              <a:ext uri="{FF2B5EF4-FFF2-40B4-BE49-F238E27FC236}">
                <a16:creationId xmlns:a16="http://schemas.microsoft.com/office/drawing/2014/main" id="{0D406D1C-4925-0414-E5F1-1ADB9587180D}"/>
              </a:ext>
            </a:extLst>
          </p:cNvPr>
          <p:cNvGraphicFramePr/>
          <p:nvPr>
            <p:extLst>
              <p:ext uri="{D42A27DB-BD31-4B8C-83A1-F6EECF244321}">
                <p14:modId xmlns:p14="http://schemas.microsoft.com/office/powerpoint/2010/main" val="1019634203"/>
              </p:ext>
            </p:extLst>
          </p:nvPr>
        </p:nvGraphicFramePr>
        <p:xfrm>
          <a:off x="660718" y="1254839"/>
          <a:ext cx="10870564" cy="51899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18423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40AE8DC5-8B0B-E7DF-3BAB-01EB9554B9A3}"/>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E41C3448-8862-9728-7DAB-1B666AE880D6}"/>
              </a:ext>
            </a:extLst>
          </p:cNvPr>
          <p:cNvSpPr txBox="1">
            <a:spLocks noGrp="1"/>
          </p:cNvSpPr>
          <p:nvPr>
            <p:ph type="title"/>
          </p:nvPr>
        </p:nvSpPr>
        <p:spPr>
          <a:xfrm>
            <a:off x="534259" y="309562"/>
            <a:ext cx="308270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WORK FLOW</a:t>
            </a:r>
            <a:endParaRPr lang="en-US" sz="2400" b="1" dirty="0">
              <a:latin typeface="Proxima Nova"/>
              <a:ea typeface="Proxima Nova"/>
              <a:cs typeface="Proxima Nova"/>
              <a:sym typeface="Proxima Nova"/>
            </a:endParaRPr>
          </a:p>
        </p:txBody>
      </p:sp>
      <p:pic>
        <p:nvPicPr>
          <p:cNvPr id="3" name="Picture 2">
            <a:extLst>
              <a:ext uri="{FF2B5EF4-FFF2-40B4-BE49-F238E27FC236}">
                <a16:creationId xmlns:a16="http://schemas.microsoft.com/office/drawing/2014/main" id="{16D23448-5DC9-BB1A-9209-89FC3AA8F89A}"/>
              </a:ext>
            </a:extLst>
          </p:cNvPr>
          <p:cNvPicPr>
            <a:picLocks noChangeAspect="1"/>
          </p:cNvPicPr>
          <p:nvPr/>
        </p:nvPicPr>
        <p:blipFill>
          <a:blip r:embed="rId4"/>
          <a:stretch>
            <a:fillRect/>
          </a:stretch>
        </p:blipFill>
        <p:spPr>
          <a:xfrm>
            <a:off x="371733" y="1547446"/>
            <a:ext cx="11448534" cy="4440116"/>
          </a:xfrm>
          <a:prstGeom prst="rect">
            <a:avLst/>
          </a:prstGeom>
        </p:spPr>
      </p:pic>
    </p:spTree>
    <p:extLst>
      <p:ext uri="{BB962C8B-B14F-4D97-AF65-F5344CB8AC3E}">
        <p14:creationId xmlns:p14="http://schemas.microsoft.com/office/powerpoint/2010/main" val="322586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6301FF70-0C00-BBB5-521A-9CDA6556595D}"/>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A0513C86-D44E-C651-EE0B-328E51D128E8}"/>
              </a:ext>
            </a:extLst>
          </p:cNvPr>
          <p:cNvSpPr txBox="1">
            <a:spLocks noGrp="1"/>
          </p:cNvSpPr>
          <p:nvPr>
            <p:ph type="title"/>
          </p:nvPr>
        </p:nvSpPr>
        <p:spPr>
          <a:xfrm>
            <a:off x="534259" y="309562"/>
            <a:ext cx="308270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METHODOLOGY</a:t>
            </a:r>
            <a:endParaRPr lang="en-US" sz="2400" b="1" dirty="0">
              <a:latin typeface="Proxima Nova"/>
              <a:ea typeface="Proxima Nova"/>
              <a:cs typeface="Proxima Nova"/>
              <a:sym typeface="Proxima Nova"/>
            </a:endParaRPr>
          </a:p>
        </p:txBody>
      </p:sp>
      <p:pic>
        <p:nvPicPr>
          <p:cNvPr id="5" name="Picture 4">
            <a:extLst>
              <a:ext uri="{FF2B5EF4-FFF2-40B4-BE49-F238E27FC236}">
                <a16:creationId xmlns:a16="http://schemas.microsoft.com/office/drawing/2014/main" id="{B56FE108-94A4-309F-B90F-A7A32E9891D3}"/>
              </a:ext>
            </a:extLst>
          </p:cNvPr>
          <p:cNvPicPr>
            <a:picLocks noChangeAspect="1"/>
          </p:cNvPicPr>
          <p:nvPr/>
        </p:nvPicPr>
        <p:blipFill>
          <a:blip r:embed="rId4"/>
          <a:srcRect l="1052" t="19769" r="8017" b="10616"/>
          <a:stretch>
            <a:fillRect/>
          </a:stretch>
        </p:blipFill>
        <p:spPr>
          <a:xfrm>
            <a:off x="143608" y="1041888"/>
            <a:ext cx="11324492" cy="5506550"/>
          </a:xfrm>
          <a:prstGeom prst="rect">
            <a:avLst/>
          </a:prstGeom>
        </p:spPr>
      </p:pic>
    </p:spTree>
    <p:extLst>
      <p:ext uri="{BB962C8B-B14F-4D97-AF65-F5344CB8AC3E}">
        <p14:creationId xmlns:p14="http://schemas.microsoft.com/office/powerpoint/2010/main" val="3069539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83070235-E38B-810B-26B2-FF7E77083152}"/>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A18E2CFB-C953-F248-50F5-48FD1233F613}"/>
              </a:ext>
            </a:extLst>
          </p:cNvPr>
          <p:cNvSpPr txBox="1">
            <a:spLocks noGrp="1"/>
          </p:cNvSpPr>
          <p:nvPr>
            <p:ph type="title"/>
          </p:nvPr>
        </p:nvSpPr>
        <p:spPr>
          <a:xfrm>
            <a:off x="534259" y="124896"/>
            <a:ext cx="3601720" cy="751488"/>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rPr>
              <a:t>DATASET INFORMATION</a:t>
            </a:r>
            <a:br>
              <a:rPr lang="en-US" sz="2400" b="1" dirty="0">
                <a:solidFill>
                  <a:srgbClr val="04A2B9"/>
                </a:solidFill>
                <a:latin typeface="Proxima Nova"/>
                <a:ea typeface="Proxima Nova"/>
                <a:cs typeface="Proxima Nova"/>
              </a:rPr>
            </a:br>
            <a:r>
              <a:rPr lang="en-US" sz="2400" b="1" dirty="0">
                <a:solidFill>
                  <a:srgbClr val="04A2B9"/>
                </a:solidFill>
                <a:latin typeface="Proxima Nova"/>
                <a:ea typeface="Proxima Nova"/>
                <a:cs typeface="Proxima Nova"/>
              </a:rPr>
              <a:t>Clinical Dataset</a:t>
            </a:r>
            <a:endParaRPr lang="en-US" sz="2400" b="1" dirty="0">
              <a:latin typeface="Proxima Nova"/>
              <a:ea typeface="Proxima Nova"/>
              <a:cs typeface="Proxima Nova"/>
              <a:sym typeface="Proxima Nova"/>
            </a:endParaRPr>
          </a:p>
        </p:txBody>
      </p:sp>
      <p:graphicFrame>
        <p:nvGraphicFramePr>
          <p:cNvPr id="2" name="Table 1">
            <a:extLst>
              <a:ext uri="{FF2B5EF4-FFF2-40B4-BE49-F238E27FC236}">
                <a16:creationId xmlns:a16="http://schemas.microsoft.com/office/drawing/2014/main" id="{8DFFCC87-80E0-CDCA-19FE-5F616DD3AAB8}"/>
              </a:ext>
            </a:extLst>
          </p:cNvPr>
          <p:cNvGraphicFramePr>
            <a:graphicFrameLocks noGrp="1"/>
          </p:cNvGraphicFramePr>
          <p:nvPr>
            <p:extLst>
              <p:ext uri="{D42A27DB-BD31-4B8C-83A1-F6EECF244321}">
                <p14:modId xmlns:p14="http://schemas.microsoft.com/office/powerpoint/2010/main" val="1355512382"/>
              </p:ext>
            </p:extLst>
          </p:nvPr>
        </p:nvGraphicFramePr>
        <p:xfrm>
          <a:off x="2049780" y="1513843"/>
          <a:ext cx="8092440" cy="4003037"/>
        </p:xfrm>
        <a:graphic>
          <a:graphicData uri="http://schemas.openxmlformats.org/drawingml/2006/table">
            <a:tbl>
              <a:tblPr firstRow="1" firstCol="1">
                <a:tableStyleId>{69CF1AB2-1976-4502-BF36-3FF5EA218861}</a:tableStyleId>
              </a:tblPr>
              <a:tblGrid>
                <a:gridCol w="2075181">
                  <a:extLst>
                    <a:ext uri="{9D8B030D-6E8A-4147-A177-3AD203B41FA5}">
                      <a16:colId xmlns:a16="http://schemas.microsoft.com/office/drawing/2014/main" val="2577170177"/>
                    </a:ext>
                  </a:extLst>
                </a:gridCol>
                <a:gridCol w="6017259">
                  <a:extLst>
                    <a:ext uri="{9D8B030D-6E8A-4147-A177-3AD203B41FA5}">
                      <a16:colId xmlns:a16="http://schemas.microsoft.com/office/drawing/2014/main" val="1474878553"/>
                    </a:ext>
                  </a:extLst>
                </a:gridCol>
              </a:tblGrid>
              <a:tr h="576751">
                <a:tc>
                  <a:txBody>
                    <a:bodyPr/>
                    <a:lstStyle/>
                    <a:p>
                      <a:pPr algn="l">
                        <a:buNone/>
                      </a:pPr>
                      <a:r>
                        <a:rPr lang="en-IN" b="1">
                          <a:effectLst/>
                        </a:rPr>
                        <a:t>Item</a:t>
                      </a:r>
                    </a:p>
                  </a:txBody>
                  <a:tcPr marL="60960" marR="60960" marT="60960" marB="60960" anchor="ctr"/>
                </a:tc>
                <a:tc>
                  <a:txBody>
                    <a:bodyPr/>
                    <a:lstStyle/>
                    <a:p>
                      <a:pPr algn="l">
                        <a:buNone/>
                      </a:pPr>
                      <a:r>
                        <a:rPr lang="en-IN" b="1">
                          <a:effectLst/>
                        </a:rPr>
                        <a:t>Value / Description</a:t>
                      </a:r>
                    </a:p>
                  </a:txBody>
                  <a:tcPr marL="60960" marR="60960" marT="60960" marB="60960" anchor="ctr"/>
                </a:tc>
                <a:extLst>
                  <a:ext uri="{0D108BD9-81ED-4DB2-BD59-A6C34878D82A}">
                    <a16:rowId xmlns:a16="http://schemas.microsoft.com/office/drawing/2014/main" val="2994006787"/>
                  </a:ext>
                </a:extLst>
              </a:tr>
              <a:tr h="943775">
                <a:tc>
                  <a:txBody>
                    <a:bodyPr/>
                    <a:lstStyle/>
                    <a:p>
                      <a:pPr algn="l">
                        <a:buNone/>
                      </a:pPr>
                      <a:r>
                        <a:rPr lang="en-IN" b="1">
                          <a:effectLst/>
                        </a:rPr>
                        <a:t>Attribute</a:t>
                      </a:r>
                    </a:p>
                  </a:txBody>
                  <a:tcPr marL="60960" marR="60960" marT="60960" marB="60960" anchor="ctr"/>
                </a:tc>
                <a:tc>
                  <a:txBody>
                    <a:bodyPr/>
                    <a:lstStyle/>
                    <a:p>
                      <a:pPr algn="l">
                        <a:buNone/>
                      </a:pPr>
                      <a:r>
                        <a:rPr lang="en-US">
                          <a:effectLst/>
                        </a:rPr>
                        <a:t>Patient health and lifestyle data collected during medical examination</a:t>
                      </a:r>
                    </a:p>
                  </a:txBody>
                  <a:tcPr marL="60960" marR="60960" marT="60960" marB="60960" anchor="ctr"/>
                </a:tc>
                <a:extLst>
                  <a:ext uri="{0D108BD9-81ED-4DB2-BD59-A6C34878D82A}">
                    <a16:rowId xmlns:a16="http://schemas.microsoft.com/office/drawing/2014/main" val="2046518846"/>
                  </a:ext>
                </a:extLst>
              </a:tr>
              <a:tr h="943775">
                <a:tc>
                  <a:txBody>
                    <a:bodyPr/>
                    <a:lstStyle/>
                    <a:p>
                      <a:pPr algn="l">
                        <a:buNone/>
                      </a:pPr>
                      <a:r>
                        <a:rPr lang="en-IN" b="1">
                          <a:effectLst/>
                        </a:rPr>
                        <a:t>Source</a:t>
                      </a:r>
                    </a:p>
                  </a:txBody>
                  <a:tcPr marL="60960" marR="60960" marT="60960" marB="60960" anchor="ctr"/>
                </a:tc>
                <a:tc>
                  <a:txBody>
                    <a:bodyPr/>
                    <a:lstStyle/>
                    <a:p>
                      <a:pPr algn="l">
                        <a:buNone/>
                      </a:pPr>
                      <a:r>
                        <a:rPr lang="en-US">
                          <a:effectLst/>
                        </a:rPr>
                        <a:t>Kaggle, originally from medical records and examinations</a:t>
                      </a:r>
                    </a:p>
                  </a:txBody>
                  <a:tcPr marL="60960" marR="60960" marT="60960" marB="60960" anchor="ctr"/>
                </a:tc>
                <a:extLst>
                  <a:ext uri="{0D108BD9-81ED-4DB2-BD59-A6C34878D82A}">
                    <a16:rowId xmlns:a16="http://schemas.microsoft.com/office/drawing/2014/main" val="3896717675"/>
                  </a:ext>
                </a:extLst>
              </a:tr>
              <a:tr h="943775">
                <a:tc>
                  <a:txBody>
                    <a:bodyPr/>
                    <a:lstStyle/>
                    <a:p>
                      <a:pPr algn="l">
                        <a:buNone/>
                      </a:pPr>
                      <a:r>
                        <a:rPr lang="en-IN" b="1">
                          <a:effectLst/>
                        </a:rPr>
                        <a:t>Total Records</a:t>
                      </a:r>
                    </a:p>
                  </a:txBody>
                  <a:tcPr marL="60960" marR="60960" marT="60960" marB="60960" anchor="ctr"/>
                </a:tc>
                <a:tc>
                  <a:txBody>
                    <a:bodyPr/>
                    <a:lstStyle/>
                    <a:p>
                      <a:pPr algn="l">
                        <a:buNone/>
                      </a:pPr>
                      <a:r>
                        <a:rPr lang="en-US">
                          <a:effectLst/>
                        </a:rPr>
                        <a:t>70,000 instances; post-cleaning, approx. 62,267 (after removing duplicates/outliers)</a:t>
                      </a:r>
                    </a:p>
                  </a:txBody>
                  <a:tcPr marL="60960" marR="60960" marT="60960" marB="60960" anchor="ctr"/>
                </a:tc>
                <a:extLst>
                  <a:ext uri="{0D108BD9-81ED-4DB2-BD59-A6C34878D82A}">
                    <a16:rowId xmlns:a16="http://schemas.microsoft.com/office/drawing/2014/main" val="25187796"/>
                  </a:ext>
                </a:extLst>
              </a:tr>
              <a:tr h="594961">
                <a:tc>
                  <a:txBody>
                    <a:bodyPr/>
                    <a:lstStyle/>
                    <a:p>
                      <a:pPr algn="l">
                        <a:buNone/>
                      </a:pPr>
                      <a:r>
                        <a:rPr lang="en-IN" b="1">
                          <a:effectLst/>
                        </a:rPr>
                        <a:t>Features</a:t>
                      </a:r>
                    </a:p>
                  </a:txBody>
                  <a:tcPr marL="60960" marR="60960" marT="60960" marB="60960" anchor="ctr"/>
                </a:tc>
                <a:tc>
                  <a:txBody>
                    <a:bodyPr/>
                    <a:lstStyle/>
                    <a:p>
                      <a:pPr algn="l">
                        <a:buNone/>
                      </a:pPr>
                      <a:r>
                        <a:rPr lang="en-US">
                          <a:effectLst/>
                        </a:rPr>
                        <a:t>11 input features + 1 target (disease presence)</a:t>
                      </a:r>
                    </a:p>
                  </a:txBody>
                  <a:tcPr marL="60960" marR="60960" marT="60960" marB="60960" anchor="ctr"/>
                </a:tc>
                <a:extLst>
                  <a:ext uri="{0D108BD9-81ED-4DB2-BD59-A6C34878D82A}">
                    <a16:rowId xmlns:a16="http://schemas.microsoft.com/office/drawing/2014/main" val="68897456"/>
                  </a:ext>
                </a:extLst>
              </a:tr>
            </a:tbl>
          </a:graphicData>
        </a:graphic>
      </p:graphicFrame>
      <p:sp>
        <p:nvSpPr>
          <p:cNvPr id="6" name="TextBox 5">
            <a:extLst>
              <a:ext uri="{FF2B5EF4-FFF2-40B4-BE49-F238E27FC236}">
                <a16:creationId xmlns:a16="http://schemas.microsoft.com/office/drawing/2014/main" id="{46F3031C-1961-2EA4-C5F1-A5FF5F03ABDD}"/>
              </a:ext>
            </a:extLst>
          </p:cNvPr>
          <p:cNvSpPr txBox="1"/>
          <p:nvPr/>
        </p:nvSpPr>
        <p:spPr>
          <a:xfrm>
            <a:off x="2526030" y="5846562"/>
            <a:ext cx="7139940" cy="307777"/>
          </a:xfrm>
          <a:prstGeom prst="rect">
            <a:avLst/>
          </a:prstGeom>
          <a:noFill/>
        </p:spPr>
        <p:txBody>
          <a:bodyPr wrap="square" rtlCol="0">
            <a:spAutoFit/>
          </a:bodyPr>
          <a:lstStyle/>
          <a:p>
            <a:r>
              <a:rPr lang="en-IN">
                <a:latin typeface="Proxima Nova" panose="020B0604020202020204" charset="0"/>
              </a:rPr>
              <a:t>Dataset Link : </a:t>
            </a:r>
            <a:r>
              <a:rPr lang="en-IN">
                <a:latin typeface="Proxima Nova" panose="020B0604020202020204" charset="0"/>
                <a:hlinkClick r:id="rId4"/>
              </a:rPr>
              <a:t>https://www.kaggle.com/datasets/sulianova/cardiovascular-disease-dataset</a:t>
            </a:r>
            <a:endParaRPr lang="en-IN">
              <a:latin typeface="Proxima Nova" panose="020B0604020202020204" charset="0"/>
            </a:endParaRPr>
          </a:p>
        </p:txBody>
      </p:sp>
    </p:spTree>
    <p:extLst>
      <p:ext uri="{BB962C8B-B14F-4D97-AF65-F5344CB8AC3E}">
        <p14:creationId xmlns:p14="http://schemas.microsoft.com/office/powerpoint/2010/main" val="1317895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9FEB312E-885A-6308-D909-F3732CD012DC}"/>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56C20F94-7E7D-CDEE-3AA6-41438535CF5B}"/>
              </a:ext>
            </a:extLst>
          </p:cNvPr>
          <p:cNvSpPr txBox="1">
            <a:spLocks noGrp="1"/>
          </p:cNvSpPr>
          <p:nvPr>
            <p:ph type="title"/>
          </p:nvPr>
        </p:nvSpPr>
        <p:spPr>
          <a:xfrm>
            <a:off x="534259" y="124896"/>
            <a:ext cx="3601720" cy="751488"/>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rPr>
              <a:t>DATASET INFORMATION</a:t>
            </a:r>
            <a:br>
              <a:rPr lang="en-US" sz="2400" b="1" dirty="0">
                <a:solidFill>
                  <a:srgbClr val="04A2B9"/>
                </a:solidFill>
                <a:latin typeface="Proxima Nova"/>
                <a:ea typeface="Proxima Nova"/>
                <a:cs typeface="Proxima Nova"/>
              </a:rPr>
            </a:br>
            <a:r>
              <a:rPr lang="en-US" sz="2400" b="1" dirty="0">
                <a:solidFill>
                  <a:srgbClr val="04A2B9"/>
                </a:solidFill>
                <a:latin typeface="Proxima Nova"/>
                <a:ea typeface="Proxima Nova"/>
                <a:cs typeface="Proxima Nova"/>
              </a:rPr>
              <a:t>Clinical Dataset</a:t>
            </a:r>
            <a:endParaRPr lang="en-US" sz="2400" b="1" dirty="0">
              <a:latin typeface="Proxima Nova"/>
              <a:ea typeface="Proxima Nova"/>
              <a:cs typeface="Proxima Nova"/>
              <a:sym typeface="Proxima Nova"/>
            </a:endParaRPr>
          </a:p>
        </p:txBody>
      </p:sp>
      <p:graphicFrame>
        <p:nvGraphicFramePr>
          <p:cNvPr id="3" name="Table 2">
            <a:extLst>
              <a:ext uri="{FF2B5EF4-FFF2-40B4-BE49-F238E27FC236}">
                <a16:creationId xmlns:a16="http://schemas.microsoft.com/office/drawing/2014/main" id="{8C88294D-F690-E68C-5471-AEB6F8AD53C3}"/>
              </a:ext>
            </a:extLst>
          </p:cNvPr>
          <p:cNvGraphicFramePr>
            <a:graphicFrameLocks noGrp="1"/>
          </p:cNvGraphicFramePr>
          <p:nvPr>
            <p:extLst>
              <p:ext uri="{D42A27DB-BD31-4B8C-83A1-F6EECF244321}">
                <p14:modId xmlns:p14="http://schemas.microsoft.com/office/powerpoint/2010/main" val="1843062745"/>
              </p:ext>
            </p:extLst>
          </p:nvPr>
        </p:nvGraphicFramePr>
        <p:xfrm>
          <a:off x="2067560" y="1178560"/>
          <a:ext cx="8056880" cy="5347316"/>
        </p:xfrm>
        <a:graphic>
          <a:graphicData uri="http://schemas.openxmlformats.org/drawingml/2006/table">
            <a:tbl>
              <a:tblPr firstRow="1" firstCol="1">
                <a:tableStyleId>{69CF1AB2-1976-4502-BF36-3FF5EA218861}</a:tableStyleId>
              </a:tblPr>
              <a:tblGrid>
                <a:gridCol w="2014220">
                  <a:extLst>
                    <a:ext uri="{9D8B030D-6E8A-4147-A177-3AD203B41FA5}">
                      <a16:colId xmlns:a16="http://schemas.microsoft.com/office/drawing/2014/main" val="2438286712"/>
                    </a:ext>
                  </a:extLst>
                </a:gridCol>
                <a:gridCol w="2014220">
                  <a:extLst>
                    <a:ext uri="{9D8B030D-6E8A-4147-A177-3AD203B41FA5}">
                      <a16:colId xmlns:a16="http://schemas.microsoft.com/office/drawing/2014/main" val="4005909253"/>
                    </a:ext>
                  </a:extLst>
                </a:gridCol>
                <a:gridCol w="2014220">
                  <a:extLst>
                    <a:ext uri="{9D8B030D-6E8A-4147-A177-3AD203B41FA5}">
                      <a16:colId xmlns:a16="http://schemas.microsoft.com/office/drawing/2014/main" val="2750084049"/>
                    </a:ext>
                  </a:extLst>
                </a:gridCol>
                <a:gridCol w="2014220">
                  <a:extLst>
                    <a:ext uri="{9D8B030D-6E8A-4147-A177-3AD203B41FA5}">
                      <a16:colId xmlns:a16="http://schemas.microsoft.com/office/drawing/2014/main" val="4187393878"/>
                    </a:ext>
                  </a:extLst>
                </a:gridCol>
              </a:tblGrid>
              <a:tr h="382698">
                <a:tc>
                  <a:txBody>
                    <a:bodyPr/>
                    <a:lstStyle/>
                    <a:p>
                      <a:pPr algn="l">
                        <a:buNone/>
                      </a:pPr>
                      <a:r>
                        <a:rPr lang="en-IN" sz="1200" b="1">
                          <a:effectLst/>
                        </a:rPr>
                        <a:t>Feature Name</a:t>
                      </a:r>
                    </a:p>
                  </a:txBody>
                  <a:tcPr marL="48891" marR="48891" marT="48891" marB="48891" anchor="ctr"/>
                </a:tc>
                <a:tc>
                  <a:txBody>
                    <a:bodyPr/>
                    <a:lstStyle/>
                    <a:p>
                      <a:pPr algn="l">
                        <a:buNone/>
                      </a:pPr>
                      <a:r>
                        <a:rPr lang="en-IN" sz="1200" b="1">
                          <a:effectLst/>
                        </a:rPr>
                        <a:t>Type</a:t>
                      </a:r>
                    </a:p>
                  </a:txBody>
                  <a:tcPr marL="48891" marR="48891" marT="48891" marB="48891" anchor="ctr"/>
                </a:tc>
                <a:tc>
                  <a:txBody>
                    <a:bodyPr/>
                    <a:lstStyle/>
                    <a:p>
                      <a:pPr algn="l">
                        <a:buNone/>
                      </a:pPr>
                      <a:r>
                        <a:rPr lang="en-IN" sz="1200" b="1">
                          <a:effectLst/>
                        </a:rPr>
                        <a:t>Example Value Range</a:t>
                      </a:r>
                    </a:p>
                  </a:txBody>
                  <a:tcPr marL="48891" marR="48891" marT="48891" marB="48891" anchor="ctr"/>
                </a:tc>
                <a:tc>
                  <a:txBody>
                    <a:bodyPr/>
                    <a:lstStyle/>
                    <a:p>
                      <a:pPr algn="l">
                        <a:buNone/>
                      </a:pPr>
                      <a:r>
                        <a:rPr lang="en-IN" sz="1200" b="1">
                          <a:effectLst/>
                        </a:rPr>
                        <a:t>Description</a:t>
                      </a:r>
                    </a:p>
                  </a:txBody>
                  <a:tcPr marL="48891" marR="48891" marT="48891" marB="48891" anchor="ctr"/>
                </a:tc>
                <a:extLst>
                  <a:ext uri="{0D108BD9-81ED-4DB2-BD59-A6C34878D82A}">
                    <a16:rowId xmlns:a16="http://schemas.microsoft.com/office/drawing/2014/main" val="415471015"/>
                  </a:ext>
                </a:extLst>
              </a:tr>
              <a:tr h="272597">
                <a:tc>
                  <a:txBody>
                    <a:bodyPr/>
                    <a:lstStyle/>
                    <a:p>
                      <a:pPr algn="l">
                        <a:buNone/>
                      </a:pPr>
                      <a:r>
                        <a:rPr lang="en-IN" sz="1200" b="1">
                          <a:effectLst/>
                        </a:rPr>
                        <a:t>Age</a:t>
                      </a:r>
                    </a:p>
                  </a:txBody>
                  <a:tcPr marL="48891" marR="48891" marT="48891" marB="48891" anchor="ctr"/>
                </a:tc>
                <a:tc>
                  <a:txBody>
                    <a:bodyPr/>
                    <a:lstStyle/>
                    <a:p>
                      <a:pPr algn="l">
                        <a:buNone/>
                      </a:pPr>
                      <a:r>
                        <a:rPr lang="en-IN" sz="1200">
                          <a:effectLst/>
                        </a:rPr>
                        <a:t>Numerical</a:t>
                      </a:r>
                    </a:p>
                  </a:txBody>
                  <a:tcPr marL="48891" marR="48891" marT="48891" marB="48891" anchor="ctr"/>
                </a:tc>
                <a:tc>
                  <a:txBody>
                    <a:bodyPr/>
                    <a:lstStyle/>
                    <a:p>
                      <a:pPr algn="l">
                        <a:buNone/>
                      </a:pPr>
                      <a:r>
                        <a:rPr lang="en-IN" sz="1200">
                          <a:effectLst/>
                        </a:rPr>
                        <a:t>29–64 (years)</a:t>
                      </a:r>
                    </a:p>
                  </a:txBody>
                  <a:tcPr marL="48891" marR="48891" marT="48891" marB="48891" anchor="ctr"/>
                </a:tc>
                <a:tc>
                  <a:txBody>
                    <a:bodyPr/>
                    <a:lstStyle/>
                    <a:p>
                      <a:pPr algn="l">
                        <a:buNone/>
                      </a:pPr>
                      <a:r>
                        <a:rPr lang="en-IN" sz="1200">
                          <a:effectLst/>
                        </a:rPr>
                        <a:t>Age in years</a:t>
                      </a:r>
                    </a:p>
                  </a:txBody>
                  <a:tcPr marL="48891" marR="48891" marT="48891" marB="48891" anchor="ctr"/>
                </a:tc>
                <a:extLst>
                  <a:ext uri="{0D108BD9-81ED-4DB2-BD59-A6C34878D82A}">
                    <a16:rowId xmlns:a16="http://schemas.microsoft.com/office/drawing/2014/main" val="2150609215"/>
                  </a:ext>
                </a:extLst>
              </a:tr>
              <a:tr h="272597">
                <a:tc>
                  <a:txBody>
                    <a:bodyPr/>
                    <a:lstStyle/>
                    <a:p>
                      <a:pPr algn="l">
                        <a:buNone/>
                      </a:pPr>
                      <a:r>
                        <a:rPr lang="en-IN" sz="1200" b="1">
                          <a:effectLst/>
                        </a:rPr>
                        <a:t>Gender</a:t>
                      </a:r>
                    </a:p>
                  </a:txBody>
                  <a:tcPr marL="48891" marR="48891" marT="48891" marB="48891" anchor="ctr"/>
                </a:tc>
                <a:tc>
                  <a:txBody>
                    <a:bodyPr/>
                    <a:lstStyle/>
                    <a:p>
                      <a:pPr algn="l">
                        <a:buNone/>
                      </a:pPr>
                      <a:r>
                        <a:rPr lang="en-IN" sz="1200">
                          <a:effectLst/>
                        </a:rPr>
                        <a:t>Categorical (binom.)</a:t>
                      </a:r>
                    </a:p>
                  </a:txBody>
                  <a:tcPr marL="48891" marR="48891" marT="48891" marB="48891" anchor="ctr"/>
                </a:tc>
                <a:tc>
                  <a:txBody>
                    <a:bodyPr/>
                    <a:lstStyle/>
                    <a:p>
                      <a:pPr algn="l">
                        <a:buNone/>
                      </a:pPr>
                      <a:r>
                        <a:rPr lang="en-IN" sz="1200">
                          <a:effectLst/>
                        </a:rPr>
                        <a:t>1: Female, 2: Male</a:t>
                      </a:r>
                    </a:p>
                  </a:txBody>
                  <a:tcPr marL="48891" marR="48891" marT="48891" marB="48891" anchor="ctr"/>
                </a:tc>
                <a:tc>
                  <a:txBody>
                    <a:bodyPr/>
                    <a:lstStyle/>
                    <a:p>
                      <a:pPr algn="l">
                        <a:buNone/>
                      </a:pPr>
                      <a:r>
                        <a:rPr lang="en-IN" sz="1200">
                          <a:effectLst/>
                        </a:rPr>
                        <a:t>Patient sex</a:t>
                      </a:r>
                    </a:p>
                  </a:txBody>
                  <a:tcPr marL="48891" marR="48891" marT="48891" marB="48891" anchor="ctr"/>
                </a:tc>
                <a:extLst>
                  <a:ext uri="{0D108BD9-81ED-4DB2-BD59-A6C34878D82A}">
                    <a16:rowId xmlns:a16="http://schemas.microsoft.com/office/drawing/2014/main" val="2199828782"/>
                  </a:ext>
                </a:extLst>
              </a:tr>
              <a:tr h="272597">
                <a:tc>
                  <a:txBody>
                    <a:bodyPr/>
                    <a:lstStyle/>
                    <a:p>
                      <a:pPr algn="l">
                        <a:buNone/>
                      </a:pPr>
                      <a:r>
                        <a:rPr lang="en-IN" sz="1200" b="1">
                          <a:effectLst/>
                        </a:rPr>
                        <a:t>Height</a:t>
                      </a:r>
                    </a:p>
                  </a:txBody>
                  <a:tcPr marL="48891" marR="48891" marT="48891" marB="48891" anchor="ctr"/>
                </a:tc>
                <a:tc>
                  <a:txBody>
                    <a:bodyPr/>
                    <a:lstStyle/>
                    <a:p>
                      <a:pPr algn="l">
                        <a:buNone/>
                      </a:pPr>
                      <a:r>
                        <a:rPr lang="en-IN" sz="1200">
                          <a:effectLst/>
                        </a:rPr>
                        <a:t>Numerical</a:t>
                      </a:r>
                    </a:p>
                  </a:txBody>
                  <a:tcPr marL="48891" marR="48891" marT="48891" marB="48891" anchor="ctr"/>
                </a:tc>
                <a:tc>
                  <a:txBody>
                    <a:bodyPr/>
                    <a:lstStyle/>
                    <a:p>
                      <a:pPr algn="l">
                        <a:buNone/>
                      </a:pPr>
                      <a:r>
                        <a:rPr lang="en-IN" sz="1200">
                          <a:effectLst/>
                        </a:rPr>
                        <a:t>55–250 cm</a:t>
                      </a:r>
                    </a:p>
                  </a:txBody>
                  <a:tcPr marL="48891" marR="48891" marT="48891" marB="48891" anchor="ctr"/>
                </a:tc>
                <a:tc>
                  <a:txBody>
                    <a:bodyPr/>
                    <a:lstStyle/>
                    <a:p>
                      <a:pPr algn="l">
                        <a:buNone/>
                      </a:pPr>
                      <a:r>
                        <a:rPr lang="en-IN" sz="1200">
                          <a:effectLst/>
                        </a:rPr>
                        <a:t>Patient height</a:t>
                      </a:r>
                    </a:p>
                  </a:txBody>
                  <a:tcPr marL="48891" marR="48891" marT="48891" marB="48891" anchor="ctr"/>
                </a:tc>
                <a:extLst>
                  <a:ext uri="{0D108BD9-81ED-4DB2-BD59-A6C34878D82A}">
                    <a16:rowId xmlns:a16="http://schemas.microsoft.com/office/drawing/2014/main" val="686819626"/>
                  </a:ext>
                </a:extLst>
              </a:tr>
              <a:tr h="272597">
                <a:tc>
                  <a:txBody>
                    <a:bodyPr/>
                    <a:lstStyle/>
                    <a:p>
                      <a:pPr algn="l">
                        <a:buNone/>
                      </a:pPr>
                      <a:r>
                        <a:rPr lang="en-IN" sz="1200" b="1">
                          <a:effectLst/>
                        </a:rPr>
                        <a:t>Weight</a:t>
                      </a:r>
                    </a:p>
                  </a:txBody>
                  <a:tcPr marL="48891" marR="48891" marT="48891" marB="48891" anchor="ctr"/>
                </a:tc>
                <a:tc>
                  <a:txBody>
                    <a:bodyPr/>
                    <a:lstStyle/>
                    <a:p>
                      <a:pPr algn="l">
                        <a:buNone/>
                      </a:pPr>
                      <a:r>
                        <a:rPr lang="en-IN" sz="1200">
                          <a:effectLst/>
                        </a:rPr>
                        <a:t>Numerical</a:t>
                      </a:r>
                    </a:p>
                  </a:txBody>
                  <a:tcPr marL="48891" marR="48891" marT="48891" marB="48891" anchor="ctr"/>
                </a:tc>
                <a:tc>
                  <a:txBody>
                    <a:bodyPr/>
                    <a:lstStyle/>
                    <a:p>
                      <a:pPr algn="l">
                        <a:buNone/>
                      </a:pPr>
                      <a:r>
                        <a:rPr lang="en-IN" sz="1200">
                          <a:effectLst/>
                        </a:rPr>
                        <a:t>11–200 kg</a:t>
                      </a:r>
                    </a:p>
                  </a:txBody>
                  <a:tcPr marL="48891" marR="48891" marT="48891" marB="48891" anchor="ctr"/>
                </a:tc>
                <a:tc>
                  <a:txBody>
                    <a:bodyPr/>
                    <a:lstStyle/>
                    <a:p>
                      <a:pPr algn="l">
                        <a:buNone/>
                      </a:pPr>
                      <a:r>
                        <a:rPr lang="en-IN" sz="1200">
                          <a:effectLst/>
                        </a:rPr>
                        <a:t>Patient weight</a:t>
                      </a:r>
                    </a:p>
                  </a:txBody>
                  <a:tcPr marL="48891" marR="48891" marT="48891" marB="48891" anchor="ctr"/>
                </a:tc>
                <a:extLst>
                  <a:ext uri="{0D108BD9-81ED-4DB2-BD59-A6C34878D82A}">
                    <a16:rowId xmlns:a16="http://schemas.microsoft.com/office/drawing/2014/main" val="1942991610"/>
                  </a:ext>
                </a:extLst>
              </a:tr>
              <a:tr h="593079">
                <a:tc>
                  <a:txBody>
                    <a:bodyPr/>
                    <a:lstStyle/>
                    <a:p>
                      <a:pPr algn="l">
                        <a:buNone/>
                      </a:pPr>
                      <a:r>
                        <a:rPr lang="en-IN" sz="1200" b="1">
                          <a:effectLst/>
                        </a:rPr>
                        <a:t>Systolic BP</a:t>
                      </a:r>
                    </a:p>
                  </a:txBody>
                  <a:tcPr marL="48891" marR="48891" marT="48891" marB="48891" anchor="ctr"/>
                </a:tc>
                <a:tc>
                  <a:txBody>
                    <a:bodyPr/>
                    <a:lstStyle/>
                    <a:p>
                      <a:pPr algn="l">
                        <a:buNone/>
                      </a:pPr>
                      <a:r>
                        <a:rPr lang="en-IN" sz="1200">
                          <a:effectLst/>
                        </a:rPr>
                        <a:t>Nominal/Binary</a:t>
                      </a:r>
                    </a:p>
                  </a:txBody>
                  <a:tcPr marL="48891" marR="48891" marT="48891" marB="48891" anchor="ctr"/>
                </a:tc>
                <a:tc>
                  <a:txBody>
                    <a:bodyPr/>
                    <a:lstStyle/>
                    <a:p>
                      <a:pPr algn="l">
                        <a:buNone/>
                      </a:pPr>
                      <a:r>
                        <a:rPr lang="en-IN" sz="1200">
                          <a:effectLst/>
                        </a:rPr>
                        <a:t>0: Normal, 1: High</a:t>
                      </a:r>
                    </a:p>
                  </a:txBody>
                  <a:tcPr marL="48891" marR="48891" marT="48891" marB="48891" anchor="ctr"/>
                </a:tc>
                <a:tc>
                  <a:txBody>
                    <a:bodyPr/>
                    <a:lstStyle/>
                    <a:p>
                      <a:pPr algn="l">
                        <a:buNone/>
                      </a:pPr>
                      <a:r>
                        <a:rPr lang="en-US" sz="1200">
                          <a:effectLst/>
                        </a:rPr>
                        <a:t>Systolic blood pressure, coded after preprocessing</a:t>
                      </a:r>
                    </a:p>
                  </a:txBody>
                  <a:tcPr marL="48891" marR="48891" marT="48891" marB="48891" anchor="ctr"/>
                </a:tc>
                <a:extLst>
                  <a:ext uri="{0D108BD9-81ED-4DB2-BD59-A6C34878D82A}">
                    <a16:rowId xmlns:a16="http://schemas.microsoft.com/office/drawing/2014/main" val="4213321387"/>
                  </a:ext>
                </a:extLst>
              </a:tr>
              <a:tr h="593079">
                <a:tc>
                  <a:txBody>
                    <a:bodyPr/>
                    <a:lstStyle/>
                    <a:p>
                      <a:pPr algn="l">
                        <a:buNone/>
                      </a:pPr>
                      <a:r>
                        <a:rPr lang="en-IN" sz="1200" b="1">
                          <a:effectLst/>
                        </a:rPr>
                        <a:t>Diastolic BP</a:t>
                      </a:r>
                    </a:p>
                  </a:txBody>
                  <a:tcPr marL="48891" marR="48891" marT="48891" marB="48891" anchor="ctr"/>
                </a:tc>
                <a:tc>
                  <a:txBody>
                    <a:bodyPr/>
                    <a:lstStyle/>
                    <a:p>
                      <a:pPr algn="l">
                        <a:buNone/>
                      </a:pPr>
                      <a:r>
                        <a:rPr lang="en-IN" sz="1200">
                          <a:effectLst/>
                        </a:rPr>
                        <a:t>Nominal/Binary</a:t>
                      </a:r>
                    </a:p>
                  </a:txBody>
                  <a:tcPr marL="48891" marR="48891" marT="48891" marB="48891" anchor="ctr"/>
                </a:tc>
                <a:tc>
                  <a:txBody>
                    <a:bodyPr/>
                    <a:lstStyle/>
                    <a:p>
                      <a:pPr algn="l">
                        <a:buNone/>
                      </a:pPr>
                      <a:r>
                        <a:rPr lang="en-IN" sz="1200">
                          <a:effectLst/>
                        </a:rPr>
                        <a:t>0: Normal, 1: High</a:t>
                      </a:r>
                    </a:p>
                  </a:txBody>
                  <a:tcPr marL="48891" marR="48891" marT="48891" marB="48891" anchor="ctr"/>
                </a:tc>
                <a:tc>
                  <a:txBody>
                    <a:bodyPr/>
                    <a:lstStyle/>
                    <a:p>
                      <a:pPr algn="l">
                        <a:buNone/>
                      </a:pPr>
                      <a:r>
                        <a:rPr lang="en-US" sz="1200">
                          <a:effectLst/>
                        </a:rPr>
                        <a:t>Diastolic blood pressure, coded after preprocessing</a:t>
                      </a:r>
                    </a:p>
                  </a:txBody>
                  <a:tcPr marL="48891" marR="48891" marT="48891" marB="48891" anchor="ctr"/>
                </a:tc>
                <a:extLst>
                  <a:ext uri="{0D108BD9-81ED-4DB2-BD59-A6C34878D82A}">
                    <a16:rowId xmlns:a16="http://schemas.microsoft.com/office/drawing/2014/main" val="3267401200"/>
                  </a:ext>
                </a:extLst>
              </a:tr>
              <a:tr h="627846">
                <a:tc>
                  <a:txBody>
                    <a:bodyPr/>
                    <a:lstStyle/>
                    <a:p>
                      <a:pPr algn="l">
                        <a:buNone/>
                      </a:pPr>
                      <a:r>
                        <a:rPr lang="en-IN" sz="1200" b="1">
                          <a:effectLst/>
                        </a:rPr>
                        <a:t>Cholesterol</a:t>
                      </a:r>
                    </a:p>
                  </a:txBody>
                  <a:tcPr marL="48891" marR="48891" marT="48891" marB="48891" anchor="ctr"/>
                </a:tc>
                <a:tc>
                  <a:txBody>
                    <a:bodyPr/>
                    <a:lstStyle/>
                    <a:p>
                      <a:pPr algn="l">
                        <a:buNone/>
                      </a:pPr>
                      <a:r>
                        <a:rPr lang="en-IN" sz="1200">
                          <a:effectLst/>
                        </a:rPr>
                        <a:t>Categorical</a:t>
                      </a:r>
                    </a:p>
                  </a:txBody>
                  <a:tcPr marL="48891" marR="48891" marT="48891" marB="48891" anchor="ctr"/>
                </a:tc>
                <a:tc>
                  <a:txBody>
                    <a:bodyPr/>
                    <a:lstStyle/>
                    <a:p>
                      <a:pPr algn="l">
                        <a:buNone/>
                      </a:pPr>
                      <a:r>
                        <a:rPr lang="en-IN" sz="1200">
                          <a:effectLst/>
                        </a:rPr>
                        <a:t>1–3</a:t>
                      </a:r>
                    </a:p>
                  </a:txBody>
                  <a:tcPr marL="48891" marR="48891" marT="48891" marB="48891" anchor="ctr"/>
                </a:tc>
                <a:tc>
                  <a:txBody>
                    <a:bodyPr/>
                    <a:lstStyle/>
                    <a:p>
                      <a:pPr algn="l">
                        <a:buNone/>
                      </a:pPr>
                      <a:r>
                        <a:rPr lang="en-US" sz="1200">
                          <a:effectLst/>
                        </a:rPr>
                        <a:t>1: Normal, 2: Above normal, 3: Well above normal</a:t>
                      </a:r>
                    </a:p>
                  </a:txBody>
                  <a:tcPr marL="48891" marR="48891" marT="48891" marB="48891" anchor="ctr"/>
                </a:tc>
                <a:extLst>
                  <a:ext uri="{0D108BD9-81ED-4DB2-BD59-A6C34878D82A}">
                    <a16:rowId xmlns:a16="http://schemas.microsoft.com/office/drawing/2014/main" val="3618558519"/>
                  </a:ext>
                </a:extLst>
              </a:tr>
              <a:tr h="627846">
                <a:tc>
                  <a:txBody>
                    <a:bodyPr/>
                    <a:lstStyle/>
                    <a:p>
                      <a:pPr algn="l">
                        <a:buNone/>
                      </a:pPr>
                      <a:r>
                        <a:rPr lang="en-IN" sz="1200" b="1">
                          <a:effectLst/>
                        </a:rPr>
                        <a:t>Glucose</a:t>
                      </a:r>
                    </a:p>
                  </a:txBody>
                  <a:tcPr marL="48891" marR="48891" marT="48891" marB="48891" anchor="ctr"/>
                </a:tc>
                <a:tc>
                  <a:txBody>
                    <a:bodyPr/>
                    <a:lstStyle/>
                    <a:p>
                      <a:pPr algn="l">
                        <a:buNone/>
                      </a:pPr>
                      <a:r>
                        <a:rPr lang="en-IN" sz="1200">
                          <a:effectLst/>
                        </a:rPr>
                        <a:t>Categorical</a:t>
                      </a:r>
                    </a:p>
                  </a:txBody>
                  <a:tcPr marL="48891" marR="48891" marT="48891" marB="48891" anchor="ctr"/>
                </a:tc>
                <a:tc>
                  <a:txBody>
                    <a:bodyPr/>
                    <a:lstStyle/>
                    <a:p>
                      <a:pPr algn="l">
                        <a:buNone/>
                      </a:pPr>
                      <a:r>
                        <a:rPr lang="en-IN" sz="1200">
                          <a:effectLst/>
                        </a:rPr>
                        <a:t>1–3</a:t>
                      </a:r>
                    </a:p>
                  </a:txBody>
                  <a:tcPr marL="48891" marR="48891" marT="48891" marB="48891" anchor="ctr"/>
                </a:tc>
                <a:tc>
                  <a:txBody>
                    <a:bodyPr/>
                    <a:lstStyle/>
                    <a:p>
                      <a:pPr algn="l">
                        <a:buNone/>
                      </a:pPr>
                      <a:r>
                        <a:rPr lang="en-US" sz="1200">
                          <a:effectLst/>
                        </a:rPr>
                        <a:t>1: Normal, 2: Above normal, 3: Well above normal</a:t>
                      </a:r>
                    </a:p>
                  </a:txBody>
                  <a:tcPr marL="48891" marR="48891" marT="48891" marB="48891" anchor="ctr"/>
                </a:tc>
                <a:extLst>
                  <a:ext uri="{0D108BD9-81ED-4DB2-BD59-A6C34878D82A}">
                    <a16:rowId xmlns:a16="http://schemas.microsoft.com/office/drawing/2014/main" val="2634195668"/>
                  </a:ext>
                </a:extLst>
              </a:tr>
              <a:tr h="272597">
                <a:tc>
                  <a:txBody>
                    <a:bodyPr/>
                    <a:lstStyle/>
                    <a:p>
                      <a:pPr algn="l">
                        <a:buNone/>
                      </a:pPr>
                      <a:r>
                        <a:rPr lang="en-IN" sz="1200" b="1">
                          <a:effectLst/>
                        </a:rPr>
                        <a:t>Smoking</a:t>
                      </a:r>
                    </a:p>
                  </a:txBody>
                  <a:tcPr marL="48891" marR="48891" marT="48891" marB="48891" anchor="ctr"/>
                </a:tc>
                <a:tc>
                  <a:txBody>
                    <a:bodyPr/>
                    <a:lstStyle/>
                    <a:p>
                      <a:pPr algn="l">
                        <a:buNone/>
                      </a:pPr>
                      <a:r>
                        <a:rPr lang="en-IN" sz="1200">
                          <a:effectLst/>
                        </a:rPr>
                        <a:t>Binary</a:t>
                      </a:r>
                    </a:p>
                  </a:txBody>
                  <a:tcPr marL="48891" marR="48891" marT="48891" marB="48891" anchor="ctr"/>
                </a:tc>
                <a:tc>
                  <a:txBody>
                    <a:bodyPr/>
                    <a:lstStyle/>
                    <a:p>
                      <a:pPr algn="l">
                        <a:buNone/>
                      </a:pPr>
                      <a:r>
                        <a:rPr lang="en-IN" sz="1200">
                          <a:effectLst/>
                        </a:rPr>
                        <a:t>0/1</a:t>
                      </a:r>
                    </a:p>
                  </a:txBody>
                  <a:tcPr marL="48891" marR="48891" marT="48891" marB="48891" anchor="ctr"/>
                </a:tc>
                <a:tc>
                  <a:txBody>
                    <a:bodyPr/>
                    <a:lstStyle/>
                    <a:p>
                      <a:pPr algn="l">
                        <a:buNone/>
                      </a:pPr>
                      <a:r>
                        <a:rPr lang="en-IN" sz="1200">
                          <a:effectLst/>
                        </a:rPr>
                        <a:t>0: No, 1: Yes</a:t>
                      </a:r>
                    </a:p>
                  </a:txBody>
                  <a:tcPr marL="48891" marR="48891" marT="48891" marB="48891" anchor="ctr"/>
                </a:tc>
                <a:extLst>
                  <a:ext uri="{0D108BD9-81ED-4DB2-BD59-A6C34878D82A}">
                    <a16:rowId xmlns:a16="http://schemas.microsoft.com/office/drawing/2014/main" val="3867264341"/>
                  </a:ext>
                </a:extLst>
              </a:tr>
              <a:tr h="272597">
                <a:tc>
                  <a:txBody>
                    <a:bodyPr/>
                    <a:lstStyle/>
                    <a:p>
                      <a:pPr algn="l">
                        <a:buNone/>
                      </a:pPr>
                      <a:r>
                        <a:rPr lang="en-IN" sz="1200" b="1">
                          <a:effectLst/>
                        </a:rPr>
                        <a:t>Alcohol Intake</a:t>
                      </a:r>
                    </a:p>
                  </a:txBody>
                  <a:tcPr marL="48891" marR="48891" marT="48891" marB="48891" anchor="ctr"/>
                </a:tc>
                <a:tc>
                  <a:txBody>
                    <a:bodyPr/>
                    <a:lstStyle/>
                    <a:p>
                      <a:pPr algn="l">
                        <a:buNone/>
                      </a:pPr>
                      <a:r>
                        <a:rPr lang="en-IN" sz="1200">
                          <a:effectLst/>
                        </a:rPr>
                        <a:t>Binary</a:t>
                      </a:r>
                    </a:p>
                  </a:txBody>
                  <a:tcPr marL="48891" marR="48891" marT="48891" marB="48891" anchor="ctr"/>
                </a:tc>
                <a:tc>
                  <a:txBody>
                    <a:bodyPr/>
                    <a:lstStyle/>
                    <a:p>
                      <a:pPr algn="l">
                        <a:buNone/>
                      </a:pPr>
                      <a:r>
                        <a:rPr lang="en-IN" sz="1200">
                          <a:effectLst/>
                        </a:rPr>
                        <a:t>0/1</a:t>
                      </a:r>
                    </a:p>
                  </a:txBody>
                  <a:tcPr marL="48891" marR="48891" marT="48891" marB="48891" anchor="ctr"/>
                </a:tc>
                <a:tc>
                  <a:txBody>
                    <a:bodyPr/>
                    <a:lstStyle/>
                    <a:p>
                      <a:pPr algn="l">
                        <a:buNone/>
                      </a:pPr>
                      <a:r>
                        <a:rPr lang="en-IN" sz="1200">
                          <a:effectLst/>
                        </a:rPr>
                        <a:t>0: No, 1: Yes</a:t>
                      </a:r>
                    </a:p>
                  </a:txBody>
                  <a:tcPr marL="48891" marR="48891" marT="48891" marB="48891" anchor="ctr"/>
                </a:tc>
                <a:extLst>
                  <a:ext uri="{0D108BD9-81ED-4DB2-BD59-A6C34878D82A}">
                    <a16:rowId xmlns:a16="http://schemas.microsoft.com/office/drawing/2014/main" val="3424142373"/>
                  </a:ext>
                </a:extLst>
              </a:tr>
              <a:tr h="272597">
                <a:tc>
                  <a:txBody>
                    <a:bodyPr/>
                    <a:lstStyle/>
                    <a:p>
                      <a:pPr algn="l">
                        <a:buNone/>
                      </a:pPr>
                      <a:r>
                        <a:rPr lang="en-IN" sz="1200" b="1">
                          <a:effectLst/>
                        </a:rPr>
                        <a:t>Physical Activity</a:t>
                      </a:r>
                    </a:p>
                  </a:txBody>
                  <a:tcPr marL="48891" marR="48891" marT="48891" marB="48891" anchor="ctr"/>
                </a:tc>
                <a:tc>
                  <a:txBody>
                    <a:bodyPr/>
                    <a:lstStyle/>
                    <a:p>
                      <a:pPr algn="l">
                        <a:buNone/>
                      </a:pPr>
                      <a:r>
                        <a:rPr lang="en-IN" sz="1200">
                          <a:effectLst/>
                        </a:rPr>
                        <a:t>Binary</a:t>
                      </a:r>
                    </a:p>
                  </a:txBody>
                  <a:tcPr marL="48891" marR="48891" marT="48891" marB="48891" anchor="ctr"/>
                </a:tc>
                <a:tc>
                  <a:txBody>
                    <a:bodyPr/>
                    <a:lstStyle/>
                    <a:p>
                      <a:pPr algn="l">
                        <a:buNone/>
                      </a:pPr>
                      <a:r>
                        <a:rPr lang="en-IN" sz="1200">
                          <a:effectLst/>
                        </a:rPr>
                        <a:t>0/1</a:t>
                      </a:r>
                    </a:p>
                  </a:txBody>
                  <a:tcPr marL="48891" marR="48891" marT="48891" marB="48891" anchor="ctr"/>
                </a:tc>
                <a:tc>
                  <a:txBody>
                    <a:bodyPr/>
                    <a:lstStyle/>
                    <a:p>
                      <a:pPr algn="l">
                        <a:buNone/>
                      </a:pPr>
                      <a:r>
                        <a:rPr lang="en-IN" sz="1200">
                          <a:effectLst/>
                        </a:rPr>
                        <a:t>0: No, 1: Yes</a:t>
                      </a:r>
                    </a:p>
                  </a:txBody>
                  <a:tcPr marL="48891" marR="48891" marT="48891" marB="48891" anchor="ctr"/>
                </a:tc>
                <a:extLst>
                  <a:ext uri="{0D108BD9-81ED-4DB2-BD59-A6C34878D82A}">
                    <a16:rowId xmlns:a16="http://schemas.microsoft.com/office/drawing/2014/main" val="1065801000"/>
                  </a:ext>
                </a:extLst>
              </a:tr>
              <a:tr h="558134">
                <a:tc>
                  <a:txBody>
                    <a:bodyPr/>
                    <a:lstStyle/>
                    <a:p>
                      <a:pPr algn="l">
                        <a:buNone/>
                      </a:pPr>
                      <a:r>
                        <a:rPr lang="en-IN" sz="1200" b="1">
                          <a:effectLst/>
                        </a:rPr>
                        <a:t>Cardiovascular Disease</a:t>
                      </a:r>
                    </a:p>
                  </a:txBody>
                  <a:tcPr marL="48891" marR="48891" marT="48891" marB="48891" anchor="ctr"/>
                </a:tc>
                <a:tc>
                  <a:txBody>
                    <a:bodyPr/>
                    <a:lstStyle/>
                    <a:p>
                      <a:pPr algn="l">
                        <a:buNone/>
                      </a:pPr>
                      <a:r>
                        <a:rPr lang="en-IN" sz="1200">
                          <a:effectLst/>
                        </a:rPr>
                        <a:t>Binary (Target)</a:t>
                      </a:r>
                    </a:p>
                  </a:txBody>
                  <a:tcPr marL="48891" marR="48891" marT="48891" marB="48891" anchor="ctr"/>
                </a:tc>
                <a:tc>
                  <a:txBody>
                    <a:bodyPr/>
                    <a:lstStyle/>
                    <a:p>
                      <a:pPr algn="l">
                        <a:buNone/>
                      </a:pPr>
                      <a:r>
                        <a:rPr lang="en-IN" sz="1200">
                          <a:effectLst/>
                        </a:rPr>
                        <a:t>0/1</a:t>
                      </a:r>
                    </a:p>
                  </a:txBody>
                  <a:tcPr marL="48891" marR="48891" marT="48891" marB="48891" anchor="ctr"/>
                </a:tc>
                <a:tc>
                  <a:txBody>
                    <a:bodyPr/>
                    <a:lstStyle/>
                    <a:p>
                      <a:pPr algn="l">
                        <a:buNone/>
                      </a:pPr>
                      <a:r>
                        <a:rPr lang="en-IN" sz="1200">
                          <a:effectLst/>
                        </a:rPr>
                        <a:t>0: Absence, 1: Presence (target variable)</a:t>
                      </a:r>
                    </a:p>
                  </a:txBody>
                  <a:tcPr marL="48891" marR="48891" marT="48891" marB="48891" anchor="ctr"/>
                </a:tc>
                <a:extLst>
                  <a:ext uri="{0D108BD9-81ED-4DB2-BD59-A6C34878D82A}">
                    <a16:rowId xmlns:a16="http://schemas.microsoft.com/office/drawing/2014/main" val="4166619150"/>
                  </a:ext>
                </a:extLst>
              </a:tr>
            </a:tbl>
          </a:graphicData>
        </a:graphic>
      </p:graphicFrame>
    </p:spTree>
    <p:extLst>
      <p:ext uri="{BB962C8B-B14F-4D97-AF65-F5344CB8AC3E}">
        <p14:creationId xmlns:p14="http://schemas.microsoft.com/office/powerpoint/2010/main" val="2543241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BD9FBFFE-C255-0EB4-F57E-B3CC95EE245E}"/>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4C80EEB5-28BC-DC95-E3C9-F9380F8A6094}"/>
              </a:ext>
            </a:extLst>
          </p:cNvPr>
          <p:cNvSpPr txBox="1">
            <a:spLocks noGrp="1"/>
          </p:cNvSpPr>
          <p:nvPr>
            <p:ph type="title"/>
          </p:nvPr>
        </p:nvSpPr>
        <p:spPr>
          <a:xfrm>
            <a:off x="534259" y="124896"/>
            <a:ext cx="3601720" cy="751488"/>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rPr>
              <a:t>DATASET VISUALIZATION Clinical Dataset</a:t>
            </a:r>
            <a:endParaRPr lang="en-US" sz="2400" b="1" dirty="0">
              <a:latin typeface="Proxima Nova"/>
              <a:ea typeface="Proxima Nova"/>
              <a:cs typeface="Proxima Nova"/>
              <a:sym typeface="Proxima Nova"/>
            </a:endParaRPr>
          </a:p>
        </p:txBody>
      </p:sp>
      <p:pic>
        <p:nvPicPr>
          <p:cNvPr id="5" name="Picture 4">
            <a:extLst>
              <a:ext uri="{FF2B5EF4-FFF2-40B4-BE49-F238E27FC236}">
                <a16:creationId xmlns:a16="http://schemas.microsoft.com/office/drawing/2014/main" id="{4EE4E5D3-9FB8-4496-B7F0-1241AE276394}"/>
              </a:ext>
            </a:extLst>
          </p:cNvPr>
          <p:cNvPicPr>
            <a:picLocks noChangeAspect="1"/>
          </p:cNvPicPr>
          <p:nvPr/>
        </p:nvPicPr>
        <p:blipFill>
          <a:blip r:embed="rId4"/>
          <a:stretch>
            <a:fillRect/>
          </a:stretch>
        </p:blipFill>
        <p:spPr>
          <a:xfrm>
            <a:off x="792221" y="1389922"/>
            <a:ext cx="6130033" cy="4858478"/>
          </a:xfrm>
          <a:prstGeom prst="rect">
            <a:avLst/>
          </a:prstGeom>
        </p:spPr>
      </p:pic>
      <p:sp>
        <p:nvSpPr>
          <p:cNvPr id="13" name="TextBox 12">
            <a:extLst>
              <a:ext uri="{FF2B5EF4-FFF2-40B4-BE49-F238E27FC236}">
                <a16:creationId xmlns:a16="http://schemas.microsoft.com/office/drawing/2014/main" id="{5E8D938A-0CAB-3F00-3C54-6A2D7CF97339}"/>
              </a:ext>
            </a:extLst>
          </p:cNvPr>
          <p:cNvSpPr txBox="1"/>
          <p:nvPr/>
        </p:nvSpPr>
        <p:spPr>
          <a:xfrm>
            <a:off x="7284720" y="2468880"/>
            <a:ext cx="4378960" cy="2575947"/>
          </a:xfrm>
          <a:prstGeom prst="rect">
            <a:avLst/>
          </a:prstGeom>
          <a:noFill/>
        </p:spPr>
        <p:txBody>
          <a:bodyPr wrap="square">
            <a:spAutoFit/>
          </a:bodyPr>
          <a:lstStyle/>
          <a:p>
            <a:r>
              <a:rPr lang="en-US" b="1"/>
              <a:t>Key Points:</a:t>
            </a:r>
          </a:p>
          <a:p>
            <a:pPr marL="285750" indent="-285750">
              <a:buFont typeface="Wingdings" panose="05000000000000000000" pitchFamily="2" charset="2"/>
              <a:buChar char="Ø"/>
            </a:pPr>
            <a:r>
              <a:rPr lang="en-US" sz="1600"/>
              <a:t>Shows </a:t>
            </a:r>
            <a:r>
              <a:rPr lang="en-US" sz="1600" b="1"/>
              <a:t>distribution of cardiovascular disease cases</a:t>
            </a:r>
            <a:r>
              <a:rPr lang="en-US" sz="1600"/>
              <a:t>.</a:t>
            </a:r>
          </a:p>
          <a:p>
            <a:pPr marL="285750" indent="-285750">
              <a:buFont typeface="Wingdings" panose="05000000000000000000" pitchFamily="2" charset="2"/>
              <a:buChar char="Ø"/>
            </a:pPr>
            <a:r>
              <a:rPr lang="en-US" sz="1600"/>
              <a:t>Dataset is </a:t>
            </a:r>
            <a:r>
              <a:rPr lang="en-US" sz="1600" b="1"/>
              <a:t>nearly balanced</a:t>
            </a:r>
            <a:r>
              <a:rPr lang="en-US" sz="1600"/>
              <a:t> between both classes.</a:t>
            </a:r>
          </a:p>
          <a:p>
            <a:pPr marL="285750" indent="-285750">
              <a:buFont typeface="Wingdings" panose="05000000000000000000" pitchFamily="2" charset="2"/>
              <a:buChar char="Ø"/>
            </a:pPr>
            <a:r>
              <a:rPr lang="en-US" sz="1600" b="1"/>
              <a:t>35,021</a:t>
            </a:r>
            <a:r>
              <a:rPr lang="en-US" sz="1600"/>
              <a:t> individuals: No Disease.</a:t>
            </a:r>
          </a:p>
          <a:p>
            <a:pPr marL="285750" indent="-285750">
              <a:buFont typeface="Wingdings" panose="05000000000000000000" pitchFamily="2" charset="2"/>
              <a:buChar char="Ø"/>
            </a:pPr>
            <a:r>
              <a:rPr lang="en-US" sz="1600" b="1"/>
              <a:t>34,979</a:t>
            </a:r>
            <a:r>
              <a:rPr lang="en-US" sz="1600"/>
              <a:t> individuals: Has Disease.</a:t>
            </a:r>
          </a:p>
          <a:p>
            <a:pPr marL="285750" indent="-285750">
              <a:buFont typeface="Wingdings" panose="05000000000000000000" pitchFamily="2" charset="2"/>
              <a:buChar char="Ø"/>
            </a:pPr>
            <a:r>
              <a:rPr lang="en-US" sz="1600"/>
              <a:t>Balanced data helps </a:t>
            </a:r>
            <a:r>
              <a:rPr lang="en-US" sz="1600" b="1"/>
              <a:t>reduce model bias</a:t>
            </a:r>
            <a:r>
              <a:rPr lang="en-US" sz="1600"/>
              <a:t>.</a:t>
            </a:r>
          </a:p>
          <a:p>
            <a:pPr marL="285750" indent="-285750">
              <a:buFont typeface="Wingdings" panose="05000000000000000000" pitchFamily="2" charset="2"/>
              <a:buChar char="Ø"/>
            </a:pPr>
            <a:r>
              <a:rPr lang="en-US" sz="1600"/>
              <a:t>Ensures </a:t>
            </a:r>
            <a:r>
              <a:rPr lang="en-US" sz="1600" b="1"/>
              <a:t>reliable and accurate predictions</a:t>
            </a:r>
            <a:r>
              <a:rPr lang="en-US"/>
              <a:t>.</a:t>
            </a:r>
          </a:p>
        </p:txBody>
      </p:sp>
    </p:spTree>
    <p:extLst>
      <p:ext uri="{BB962C8B-B14F-4D97-AF65-F5344CB8AC3E}">
        <p14:creationId xmlns:p14="http://schemas.microsoft.com/office/powerpoint/2010/main" val="852832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18E96175-A7D2-480E-A595-35C23AD616C2}"/>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60CC591F-7B74-AF02-DCAF-962273432234}"/>
              </a:ext>
            </a:extLst>
          </p:cNvPr>
          <p:cNvSpPr txBox="1">
            <a:spLocks noGrp="1"/>
          </p:cNvSpPr>
          <p:nvPr>
            <p:ph type="title"/>
          </p:nvPr>
        </p:nvSpPr>
        <p:spPr>
          <a:xfrm>
            <a:off x="534259" y="124896"/>
            <a:ext cx="3601720" cy="751488"/>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rPr>
              <a:t>DATASET VISUALIZATION Clinical Dataset</a:t>
            </a:r>
            <a:endParaRPr lang="en-US" sz="2400" b="1" dirty="0">
              <a:latin typeface="Proxima Nova"/>
              <a:ea typeface="Proxima Nova"/>
              <a:cs typeface="Proxima Nova"/>
              <a:sym typeface="Proxima Nova"/>
            </a:endParaRPr>
          </a:p>
        </p:txBody>
      </p:sp>
      <p:pic>
        <p:nvPicPr>
          <p:cNvPr id="7" name="Picture 6">
            <a:extLst>
              <a:ext uri="{FF2B5EF4-FFF2-40B4-BE49-F238E27FC236}">
                <a16:creationId xmlns:a16="http://schemas.microsoft.com/office/drawing/2014/main" id="{E5DDCE4A-9564-D945-F52C-50AF7E3EFD40}"/>
              </a:ext>
            </a:extLst>
          </p:cNvPr>
          <p:cNvPicPr>
            <a:picLocks noChangeAspect="1"/>
          </p:cNvPicPr>
          <p:nvPr/>
        </p:nvPicPr>
        <p:blipFill>
          <a:blip r:embed="rId4"/>
          <a:stretch>
            <a:fillRect/>
          </a:stretch>
        </p:blipFill>
        <p:spPr>
          <a:xfrm>
            <a:off x="3149600" y="1493298"/>
            <a:ext cx="5892800" cy="3871403"/>
          </a:xfrm>
          <a:prstGeom prst="rect">
            <a:avLst/>
          </a:prstGeom>
        </p:spPr>
      </p:pic>
      <p:sp>
        <p:nvSpPr>
          <p:cNvPr id="3" name="TextBox 2">
            <a:extLst>
              <a:ext uri="{FF2B5EF4-FFF2-40B4-BE49-F238E27FC236}">
                <a16:creationId xmlns:a16="http://schemas.microsoft.com/office/drawing/2014/main" id="{EC8DA7C3-629F-269C-B6C6-FAD5C8C64010}"/>
              </a:ext>
            </a:extLst>
          </p:cNvPr>
          <p:cNvSpPr txBox="1"/>
          <p:nvPr/>
        </p:nvSpPr>
        <p:spPr>
          <a:xfrm>
            <a:off x="1473200" y="5418332"/>
            <a:ext cx="6096000" cy="1292662"/>
          </a:xfrm>
          <a:prstGeom prst="rect">
            <a:avLst/>
          </a:prstGeom>
          <a:noFill/>
        </p:spPr>
        <p:txBody>
          <a:bodyPr wrap="square">
            <a:spAutoFit/>
          </a:bodyPr>
          <a:lstStyle/>
          <a:p>
            <a:pPr>
              <a:buNone/>
            </a:pPr>
            <a:r>
              <a:rPr lang="en-US" b="1"/>
              <a:t>Key Points:</a:t>
            </a:r>
          </a:p>
          <a:p>
            <a:pPr marL="285750" indent="-285750">
              <a:buFont typeface="Wingdings" panose="05000000000000000000" pitchFamily="2" charset="2"/>
              <a:buChar char="Ø"/>
            </a:pPr>
            <a:r>
              <a:rPr lang="en-US" sz="1600"/>
              <a:t>Most people are aged </a:t>
            </a:r>
            <a:r>
              <a:rPr lang="en-US" sz="1600" b="1"/>
              <a:t>45–65 years</a:t>
            </a:r>
            <a:r>
              <a:rPr lang="en-US" sz="1600"/>
              <a:t>.</a:t>
            </a:r>
          </a:p>
          <a:p>
            <a:pPr marL="285750" indent="-285750">
              <a:buFont typeface="Wingdings" panose="05000000000000000000" pitchFamily="2" charset="2"/>
              <a:buChar char="Ø"/>
            </a:pPr>
            <a:r>
              <a:rPr lang="en-US" sz="1600" b="1"/>
              <a:t>Heart disease</a:t>
            </a:r>
            <a:r>
              <a:rPr lang="en-US" sz="1600"/>
              <a:t> is more common after </a:t>
            </a:r>
            <a:r>
              <a:rPr lang="en-US" sz="1600" b="1"/>
              <a:t>age 50</a:t>
            </a:r>
            <a:r>
              <a:rPr lang="en-US" sz="1600"/>
              <a:t>.</a:t>
            </a:r>
          </a:p>
          <a:p>
            <a:pPr marL="285750" indent="-285750">
              <a:buFont typeface="Wingdings" panose="05000000000000000000" pitchFamily="2" charset="2"/>
              <a:buChar char="Ø"/>
            </a:pPr>
            <a:r>
              <a:rPr lang="en-US" sz="1600" b="1"/>
              <a:t>Younger individuals</a:t>
            </a:r>
            <a:r>
              <a:rPr lang="en-US" sz="1600"/>
              <a:t> have lower risk.</a:t>
            </a:r>
          </a:p>
          <a:p>
            <a:pPr marL="285750" indent="-285750">
              <a:buFont typeface="Wingdings" panose="05000000000000000000" pitchFamily="2" charset="2"/>
              <a:buChar char="Ø"/>
            </a:pPr>
            <a:r>
              <a:rPr lang="en-US" sz="1600" b="1"/>
              <a:t>Age</a:t>
            </a:r>
            <a:r>
              <a:rPr lang="en-US" sz="1600"/>
              <a:t> is a key risk factor for heart disease.</a:t>
            </a:r>
          </a:p>
        </p:txBody>
      </p:sp>
    </p:spTree>
    <p:extLst>
      <p:ext uri="{BB962C8B-B14F-4D97-AF65-F5344CB8AC3E}">
        <p14:creationId xmlns:p14="http://schemas.microsoft.com/office/powerpoint/2010/main" val="48923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824DF1C1-540E-B69B-8D60-0F91DDF7640C}"/>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2E52A030-83DC-D0D8-9E61-698364C3E4A4}"/>
              </a:ext>
            </a:extLst>
          </p:cNvPr>
          <p:cNvSpPr txBox="1">
            <a:spLocks noGrp="1"/>
          </p:cNvSpPr>
          <p:nvPr>
            <p:ph type="title"/>
          </p:nvPr>
        </p:nvSpPr>
        <p:spPr>
          <a:xfrm>
            <a:off x="534259" y="124896"/>
            <a:ext cx="3601720" cy="751488"/>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rPr>
              <a:t>DATASET VISUALIZATION Clinical Dataset</a:t>
            </a:r>
            <a:endParaRPr lang="en-US" sz="2400" b="1" dirty="0">
              <a:latin typeface="Proxima Nova"/>
              <a:ea typeface="Proxima Nova"/>
              <a:cs typeface="Proxima Nova"/>
              <a:sym typeface="Proxima Nova"/>
            </a:endParaRPr>
          </a:p>
        </p:txBody>
      </p:sp>
      <p:pic>
        <p:nvPicPr>
          <p:cNvPr id="10" name="Picture 9">
            <a:extLst>
              <a:ext uri="{FF2B5EF4-FFF2-40B4-BE49-F238E27FC236}">
                <a16:creationId xmlns:a16="http://schemas.microsoft.com/office/drawing/2014/main" id="{C6498516-5F47-6712-2D75-F95CCE817E83}"/>
              </a:ext>
            </a:extLst>
          </p:cNvPr>
          <p:cNvPicPr>
            <a:picLocks noChangeAspect="1"/>
          </p:cNvPicPr>
          <p:nvPr/>
        </p:nvPicPr>
        <p:blipFill>
          <a:blip r:embed="rId4"/>
          <a:stretch>
            <a:fillRect/>
          </a:stretch>
        </p:blipFill>
        <p:spPr>
          <a:xfrm>
            <a:off x="646019" y="1201189"/>
            <a:ext cx="5726176" cy="4931794"/>
          </a:xfrm>
          <a:prstGeom prst="rect">
            <a:avLst/>
          </a:prstGeom>
        </p:spPr>
      </p:pic>
      <p:sp>
        <p:nvSpPr>
          <p:cNvPr id="3" name="TextBox 2">
            <a:extLst>
              <a:ext uri="{FF2B5EF4-FFF2-40B4-BE49-F238E27FC236}">
                <a16:creationId xmlns:a16="http://schemas.microsoft.com/office/drawing/2014/main" id="{8F8C4004-3136-5FA6-4936-7A9B8638C955}"/>
              </a:ext>
            </a:extLst>
          </p:cNvPr>
          <p:cNvSpPr txBox="1"/>
          <p:nvPr/>
        </p:nvSpPr>
        <p:spPr>
          <a:xfrm>
            <a:off x="6372195" y="2528312"/>
            <a:ext cx="5490357" cy="2277547"/>
          </a:xfrm>
          <a:prstGeom prst="rect">
            <a:avLst/>
          </a:prstGeom>
          <a:noFill/>
        </p:spPr>
        <p:txBody>
          <a:bodyPr wrap="square">
            <a:spAutoFit/>
          </a:bodyPr>
          <a:lstStyle/>
          <a:p>
            <a:pPr>
              <a:buNone/>
            </a:pPr>
            <a:r>
              <a:rPr lang="en-US" b="1"/>
              <a:t>Key Points:</a:t>
            </a:r>
          </a:p>
          <a:p>
            <a:pPr marL="285750" indent="-285750">
              <a:buFont typeface="Wingdings" panose="05000000000000000000" pitchFamily="2" charset="2"/>
              <a:buChar char="Ø"/>
            </a:pPr>
            <a:r>
              <a:rPr lang="en-US" sz="1600"/>
              <a:t>Shows </a:t>
            </a:r>
            <a:r>
              <a:rPr lang="en-US" sz="1600" b="1"/>
              <a:t>relationships between continuous features</a:t>
            </a:r>
            <a:r>
              <a:rPr lang="en-US" sz="1600"/>
              <a:t>.</a:t>
            </a:r>
          </a:p>
          <a:p>
            <a:pPr marL="285750" indent="-285750">
              <a:buFont typeface="Wingdings" panose="05000000000000000000" pitchFamily="2" charset="2"/>
              <a:buChar char="Ø"/>
            </a:pPr>
            <a:r>
              <a:rPr lang="en-US" sz="1600" b="1"/>
              <a:t>Weight</a:t>
            </a:r>
            <a:r>
              <a:rPr lang="en-US" sz="1600"/>
              <a:t> and </a:t>
            </a:r>
            <a:r>
              <a:rPr lang="en-US" sz="1600" b="1"/>
              <a:t>BMI</a:t>
            </a:r>
            <a:r>
              <a:rPr lang="en-US" sz="1600"/>
              <a:t> have a </a:t>
            </a:r>
            <a:r>
              <a:rPr lang="en-US" sz="1600" b="1"/>
              <a:t>strong positive correlation (0.76)</a:t>
            </a:r>
            <a:r>
              <a:rPr lang="en-US" sz="1600"/>
              <a:t>.</a:t>
            </a:r>
          </a:p>
          <a:p>
            <a:pPr marL="285750" indent="-285750">
              <a:buFont typeface="Wingdings" panose="05000000000000000000" pitchFamily="2" charset="2"/>
              <a:buChar char="Ø"/>
            </a:pPr>
            <a:r>
              <a:rPr lang="en-US" sz="1600" b="1"/>
              <a:t>Height</a:t>
            </a:r>
            <a:r>
              <a:rPr lang="en-US" sz="1600"/>
              <a:t> is </a:t>
            </a:r>
            <a:r>
              <a:rPr lang="en-US" sz="1600" b="1"/>
              <a:t>negatively correlated</a:t>
            </a:r>
            <a:r>
              <a:rPr lang="en-US" sz="1600"/>
              <a:t> with </a:t>
            </a:r>
            <a:r>
              <a:rPr lang="en-US" sz="1600" b="1"/>
              <a:t>BMI (-0.29)</a:t>
            </a:r>
            <a:r>
              <a:rPr lang="en-US" sz="1600"/>
              <a:t>.</a:t>
            </a:r>
          </a:p>
          <a:p>
            <a:pPr marL="285750" indent="-285750">
              <a:buFont typeface="Wingdings" panose="05000000000000000000" pitchFamily="2" charset="2"/>
              <a:buChar char="Ø"/>
            </a:pPr>
            <a:r>
              <a:rPr lang="en-US" sz="1600" b="1"/>
              <a:t>Age, blood pressure (</a:t>
            </a:r>
            <a:r>
              <a:rPr lang="en-US" sz="1600" b="1" err="1"/>
              <a:t>ap_hi</a:t>
            </a:r>
            <a:r>
              <a:rPr lang="en-US" sz="1600" b="1"/>
              <a:t>, </a:t>
            </a:r>
            <a:r>
              <a:rPr lang="en-US" sz="1600" b="1" err="1"/>
              <a:t>ap_lo</a:t>
            </a:r>
            <a:r>
              <a:rPr lang="en-US" sz="1600" b="1"/>
              <a:t>)</a:t>
            </a:r>
            <a:r>
              <a:rPr lang="en-US" sz="1600"/>
              <a:t> show </a:t>
            </a:r>
            <a:r>
              <a:rPr lang="en-US" sz="1600" b="1"/>
              <a:t>weak correlations</a:t>
            </a:r>
            <a:r>
              <a:rPr lang="en-US" sz="1600"/>
              <a:t> with other features.</a:t>
            </a:r>
          </a:p>
          <a:p>
            <a:pPr marL="285750" indent="-285750">
              <a:buFont typeface="Wingdings" panose="05000000000000000000" pitchFamily="2" charset="2"/>
              <a:buChar char="Ø"/>
            </a:pPr>
            <a:r>
              <a:rPr lang="en-US" sz="1600"/>
              <a:t>Helps identify </a:t>
            </a:r>
            <a:r>
              <a:rPr lang="en-US" sz="1600" b="1"/>
              <a:t>important and redundant variables</a:t>
            </a:r>
            <a:r>
              <a:rPr lang="en-US" sz="1600"/>
              <a:t> for model training.</a:t>
            </a:r>
          </a:p>
        </p:txBody>
      </p:sp>
    </p:spTree>
    <p:extLst>
      <p:ext uri="{BB962C8B-B14F-4D97-AF65-F5344CB8AC3E}">
        <p14:creationId xmlns:p14="http://schemas.microsoft.com/office/powerpoint/2010/main" val="615184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283D05AC-7887-74BF-283E-21E93AC13189}"/>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EEA7AD32-EACB-88AB-39E8-67B731673253}"/>
              </a:ext>
            </a:extLst>
          </p:cNvPr>
          <p:cNvSpPr txBox="1">
            <a:spLocks noGrp="1"/>
          </p:cNvSpPr>
          <p:nvPr>
            <p:ph type="title"/>
          </p:nvPr>
        </p:nvSpPr>
        <p:spPr>
          <a:xfrm>
            <a:off x="534259" y="309562"/>
            <a:ext cx="3601720"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a:solidFill>
                  <a:srgbClr val="04A2B9"/>
                </a:solidFill>
                <a:latin typeface="Proxima Nova"/>
                <a:ea typeface="Proxima Nova"/>
                <a:cs typeface="Proxima Nova"/>
              </a:rPr>
              <a:t>RESULTS</a:t>
            </a:r>
            <a:endParaRPr lang="en-US" sz="2400" b="1">
              <a:latin typeface="Proxima Nova"/>
              <a:ea typeface="Proxima Nova"/>
              <a:cs typeface="Proxima Nova"/>
              <a:sym typeface="Proxima Nova"/>
            </a:endParaRPr>
          </a:p>
        </p:txBody>
      </p:sp>
      <p:graphicFrame>
        <p:nvGraphicFramePr>
          <p:cNvPr id="2" name="Table 1">
            <a:extLst>
              <a:ext uri="{FF2B5EF4-FFF2-40B4-BE49-F238E27FC236}">
                <a16:creationId xmlns:a16="http://schemas.microsoft.com/office/drawing/2014/main" id="{A99C7D89-BF31-39A7-4AA8-63448E5756C4}"/>
              </a:ext>
            </a:extLst>
          </p:cNvPr>
          <p:cNvGraphicFramePr>
            <a:graphicFrameLocks noGrp="1"/>
          </p:cNvGraphicFramePr>
          <p:nvPr>
            <p:extLst>
              <p:ext uri="{D42A27DB-BD31-4B8C-83A1-F6EECF244321}">
                <p14:modId xmlns:p14="http://schemas.microsoft.com/office/powerpoint/2010/main" val="2701387823"/>
              </p:ext>
            </p:extLst>
          </p:nvPr>
        </p:nvGraphicFramePr>
        <p:xfrm>
          <a:off x="1026160" y="1320800"/>
          <a:ext cx="10129518" cy="4551683"/>
        </p:xfrm>
        <a:graphic>
          <a:graphicData uri="http://schemas.openxmlformats.org/drawingml/2006/table">
            <a:tbl>
              <a:tblPr firstRow="1">
                <a:tableStyleId>{5C22544A-7EE6-4342-B048-85BDC9FD1C3A}</a:tableStyleId>
              </a:tblPr>
              <a:tblGrid>
                <a:gridCol w="1688253">
                  <a:extLst>
                    <a:ext uri="{9D8B030D-6E8A-4147-A177-3AD203B41FA5}">
                      <a16:colId xmlns:a16="http://schemas.microsoft.com/office/drawing/2014/main" val="1488812034"/>
                    </a:ext>
                  </a:extLst>
                </a:gridCol>
                <a:gridCol w="1688253">
                  <a:extLst>
                    <a:ext uri="{9D8B030D-6E8A-4147-A177-3AD203B41FA5}">
                      <a16:colId xmlns:a16="http://schemas.microsoft.com/office/drawing/2014/main" val="158229122"/>
                    </a:ext>
                  </a:extLst>
                </a:gridCol>
                <a:gridCol w="1688253">
                  <a:extLst>
                    <a:ext uri="{9D8B030D-6E8A-4147-A177-3AD203B41FA5}">
                      <a16:colId xmlns:a16="http://schemas.microsoft.com/office/drawing/2014/main" val="721256351"/>
                    </a:ext>
                  </a:extLst>
                </a:gridCol>
                <a:gridCol w="1688253">
                  <a:extLst>
                    <a:ext uri="{9D8B030D-6E8A-4147-A177-3AD203B41FA5}">
                      <a16:colId xmlns:a16="http://schemas.microsoft.com/office/drawing/2014/main" val="3124413717"/>
                    </a:ext>
                  </a:extLst>
                </a:gridCol>
                <a:gridCol w="1688253">
                  <a:extLst>
                    <a:ext uri="{9D8B030D-6E8A-4147-A177-3AD203B41FA5}">
                      <a16:colId xmlns:a16="http://schemas.microsoft.com/office/drawing/2014/main" val="1669691158"/>
                    </a:ext>
                  </a:extLst>
                </a:gridCol>
                <a:gridCol w="1688253">
                  <a:extLst>
                    <a:ext uri="{9D8B030D-6E8A-4147-A177-3AD203B41FA5}">
                      <a16:colId xmlns:a16="http://schemas.microsoft.com/office/drawing/2014/main" val="1325760916"/>
                    </a:ext>
                  </a:extLst>
                </a:gridCol>
              </a:tblGrid>
              <a:tr h="541867">
                <a:tc>
                  <a:txBody>
                    <a:bodyPr/>
                    <a:lstStyle/>
                    <a:p>
                      <a:pPr algn="ctr">
                        <a:buNone/>
                      </a:pPr>
                      <a:r>
                        <a:rPr lang="en-IN" b="1"/>
                        <a:t>Model</a:t>
                      </a:r>
                      <a:endParaRPr lang="en-IN"/>
                    </a:p>
                  </a:txBody>
                  <a:tcPr anchor="ctr"/>
                </a:tc>
                <a:tc>
                  <a:txBody>
                    <a:bodyPr/>
                    <a:lstStyle/>
                    <a:p>
                      <a:pPr algn="ctr">
                        <a:buNone/>
                      </a:pPr>
                      <a:r>
                        <a:rPr lang="en-IN" b="1"/>
                        <a:t>Accuracy (%)</a:t>
                      </a:r>
                      <a:endParaRPr lang="en-IN"/>
                    </a:p>
                  </a:txBody>
                  <a:tcPr anchor="ctr"/>
                </a:tc>
                <a:tc>
                  <a:txBody>
                    <a:bodyPr/>
                    <a:lstStyle/>
                    <a:p>
                      <a:pPr algn="ctr">
                        <a:buNone/>
                      </a:pPr>
                      <a:r>
                        <a:rPr lang="en-IN" b="1"/>
                        <a:t>Precision (%)</a:t>
                      </a:r>
                      <a:endParaRPr lang="en-IN"/>
                    </a:p>
                  </a:txBody>
                  <a:tcPr anchor="ctr"/>
                </a:tc>
                <a:tc>
                  <a:txBody>
                    <a:bodyPr/>
                    <a:lstStyle/>
                    <a:p>
                      <a:pPr algn="ctr">
                        <a:buNone/>
                      </a:pPr>
                      <a:r>
                        <a:rPr lang="en-IN" b="1"/>
                        <a:t>Recall (%)</a:t>
                      </a:r>
                      <a:endParaRPr lang="en-IN"/>
                    </a:p>
                  </a:txBody>
                  <a:tcPr anchor="ctr"/>
                </a:tc>
                <a:tc>
                  <a:txBody>
                    <a:bodyPr/>
                    <a:lstStyle/>
                    <a:p>
                      <a:pPr algn="ctr">
                        <a:buNone/>
                      </a:pPr>
                      <a:r>
                        <a:rPr lang="en-IN" b="1"/>
                        <a:t>F1-Score (%)</a:t>
                      </a:r>
                      <a:endParaRPr lang="en-IN"/>
                    </a:p>
                  </a:txBody>
                  <a:tcPr anchor="ctr"/>
                </a:tc>
                <a:tc>
                  <a:txBody>
                    <a:bodyPr/>
                    <a:lstStyle/>
                    <a:p>
                      <a:pPr algn="ctr">
                        <a:buNone/>
                      </a:pPr>
                      <a:r>
                        <a:rPr lang="en-IN" b="1" dirty="0"/>
                        <a:t>ROC-AUC (%)</a:t>
                      </a:r>
                      <a:endParaRPr lang="en-IN" dirty="0"/>
                    </a:p>
                  </a:txBody>
                  <a:tcPr anchor="ctr"/>
                </a:tc>
                <a:extLst>
                  <a:ext uri="{0D108BD9-81ED-4DB2-BD59-A6C34878D82A}">
                    <a16:rowId xmlns:a16="http://schemas.microsoft.com/office/drawing/2014/main" val="3854754540"/>
                  </a:ext>
                </a:extLst>
              </a:tr>
              <a:tr h="541867">
                <a:tc>
                  <a:txBody>
                    <a:bodyPr/>
                    <a:lstStyle/>
                    <a:p>
                      <a:pPr algn="ctr">
                        <a:buNone/>
                      </a:pPr>
                      <a:r>
                        <a:rPr lang="en-IN" b="1"/>
                        <a:t>CatBoost</a:t>
                      </a:r>
                      <a:endParaRPr lang="en-IN"/>
                    </a:p>
                  </a:txBody>
                  <a:tcPr anchor="ctr">
                    <a:solidFill>
                      <a:schemeClr val="accent1">
                        <a:lumMod val="40000"/>
                        <a:lumOff val="60000"/>
                      </a:schemeClr>
                    </a:solidFill>
                  </a:tcPr>
                </a:tc>
                <a:tc>
                  <a:txBody>
                    <a:bodyPr/>
                    <a:lstStyle/>
                    <a:p>
                      <a:pPr algn="ctr">
                        <a:buNone/>
                      </a:pPr>
                      <a:r>
                        <a:rPr lang="en-IN" b="1"/>
                        <a:t>73.55</a:t>
                      </a:r>
                      <a:endParaRPr lang="en-IN"/>
                    </a:p>
                  </a:txBody>
                  <a:tcPr anchor="ctr">
                    <a:solidFill>
                      <a:schemeClr val="accent1">
                        <a:lumMod val="40000"/>
                        <a:lumOff val="60000"/>
                      </a:schemeClr>
                    </a:solidFill>
                  </a:tcPr>
                </a:tc>
                <a:tc>
                  <a:txBody>
                    <a:bodyPr/>
                    <a:lstStyle/>
                    <a:p>
                      <a:pPr algn="ctr">
                        <a:buNone/>
                      </a:pPr>
                      <a:r>
                        <a:rPr lang="en-IN" b="1"/>
                        <a:t>75.42</a:t>
                      </a:r>
                      <a:endParaRPr lang="en-IN"/>
                    </a:p>
                  </a:txBody>
                  <a:tcPr anchor="ctr">
                    <a:solidFill>
                      <a:schemeClr val="accent1">
                        <a:lumMod val="40000"/>
                        <a:lumOff val="60000"/>
                      </a:schemeClr>
                    </a:solidFill>
                  </a:tcPr>
                </a:tc>
                <a:tc>
                  <a:txBody>
                    <a:bodyPr/>
                    <a:lstStyle/>
                    <a:p>
                      <a:pPr algn="ctr">
                        <a:buNone/>
                      </a:pPr>
                      <a:r>
                        <a:rPr lang="en-IN" b="1"/>
                        <a:t>69.83</a:t>
                      </a:r>
                      <a:endParaRPr lang="en-IN"/>
                    </a:p>
                  </a:txBody>
                  <a:tcPr anchor="ctr">
                    <a:solidFill>
                      <a:schemeClr val="accent1">
                        <a:lumMod val="40000"/>
                        <a:lumOff val="60000"/>
                      </a:schemeClr>
                    </a:solidFill>
                  </a:tcPr>
                </a:tc>
                <a:tc>
                  <a:txBody>
                    <a:bodyPr/>
                    <a:lstStyle/>
                    <a:p>
                      <a:pPr algn="ctr">
                        <a:buNone/>
                      </a:pPr>
                      <a:r>
                        <a:rPr lang="en-IN" b="1"/>
                        <a:t>72.52</a:t>
                      </a:r>
                      <a:endParaRPr lang="en-IN"/>
                    </a:p>
                  </a:txBody>
                  <a:tcPr anchor="ctr">
                    <a:solidFill>
                      <a:schemeClr val="accent1">
                        <a:lumMod val="40000"/>
                        <a:lumOff val="60000"/>
                      </a:schemeClr>
                    </a:solidFill>
                  </a:tcPr>
                </a:tc>
                <a:tc>
                  <a:txBody>
                    <a:bodyPr/>
                    <a:lstStyle/>
                    <a:p>
                      <a:pPr algn="ctr">
                        <a:buNone/>
                      </a:pPr>
                      <a:r>
                        <a:rPr lang="en-IN" b="1"/>
                        <a:t>80.12</a:t>
                      </a:r>
                      <a:endParaRPr lang="en-IN"/>
                    </a:p>
                  </a:txBody>
                  <a:tcPr anchor="ctr">
                    <a:solidFill>
                      <a:schemeClr val="accent1">
                        <a:lumMod val="40000"/>
                        <a:lumOff val="60000"/>
                      </a:schemeClr>
                    </a:solidFill>
                  </a:tcPr>
                </a:tc>
                <a:extLst>
                  <a:ext uri="{0D108BD9-81ED-4DB2-BD59-A6C34878D82A}">
                    <a16:rowId xmlns:a16="http://schemas.microsoft.com/office/drawing/2014/main" val="3640697401"/>
                  </a:ext>
                </a:extLst>
              </a:tr>
              <a:tr h="541867">
                <a:tc>
                  <a:txBody>
                    <a:bodyPr/>
                    <a:lstStyle/>
                    <a:p>
                      <a:pPr algn="ctr">
                        <a:buNone/>
                      </a:pPr>
                      <a:r>
                        <a:rPr lang="en-IN" b="1" err="1"/>
                        <a:t>LightGBM</a:t>
                      </a:r>
                      <a:endParaRPr lang="en-IN"/>
                    </a:p>
                  </a:txBody>
                  <a:tcPr anchor="ctr"/>
                </a:tc>
                <a:tc>
                  <a:txBody>
                    <a:bodyPr/>
                    <a:lstStyle/>
                    <a:p>
                      <a:pPr algn="ctr">
                        <a:buNone/>
                      </a:pPr>
                      <a:r>
                        <a:rPr lang="en-IN"/>
                        <a:t>73.33</a:t>
                      </a:r>
                    </a:p>
                  </a:txBody>
                  <a:tcPr anchor="ctr"/>
                </a:tc>
                <a:tc>
                  <a:txBody>
                    <a:bodyPr/>
                    <a:lstStyle/>
                    <a:p>
                      <a:pPr algn="ctr">
                        <a:buNone/>
                      </a:pPr>
                      <a:r>
                        <a:rPr lang="en-IN"/>
                        <a:t>75.11</a:t>
                      </a:r>
                    </a:p>
                  </a:txBody>
                  <a:tcPr anchor="ctr"/>
                </a:tc>
                <a:tc>
                  <a:txBody>
                    <a:bodyPr/>
                    <a:lstStyle/>
                    <a:p>
                      <a:pPr algn="ctr">
                        <a:buNone/>
                      </a:pPr>
                      <a:r>
                        <a:rPr lang="en-IN"/>
                        <a:t>69.74</a:t>
                      </a:r>
                    </a:p>
                  </a:txBody>
                  <a:tcPr anchor="ctr"/>
                </a:tc>
                <a:tc>
                  <a:txBody>
                    <a:bodyPr/>
                    <a:lstStyle/>
                    <a:p>
                      <a:pPr algn="ctr">
                        <a:buNone/>
                      </a:pPr>
                      <a:r>
                        <a:rPr lang="en-IN"/>
                        <a:t>72.32</a:t>
                      </a:r>
                    </a:p>
                  </a:txBody>
                  <a:tcPr anchor="ctr"/>
                </a:tc>
                <a:tc>
                  <a:txBody>
                    <a:bodyPr/>
                    <a:lstStyle/>
                    <a:p>
                      <a:pPr algn="ctr">
                        <a:buNone/>
                      </a:pPr>
                      <a:r>
                        <a:rPr lang="en-IN"/>
                        <a:t>80.00</a:t>
                      </a:r>
                    </a:p>
                  </a:txBody>
                  <a:tcPr anchor="ctr"/>
                </a:tc>
                <a:extLst>
                  <a:ext uri="{0D108BD9-81ED-4DB2-BD59-A6C34878D82A}">
                    <a16:rowId xmlns:a16="http://schemas.microsoft.com/office/drawing/2014/main" val="1353422151"/>
                  </a:ext>
                </a:extLst>
              </a:tr>
              <a:tr h="541867">
                <a:tc>
                  <a:txBody>
                    <a:bodyPr/>
                    <a:lstStyle/>
                    <a:p>
                      <a:pPr algn="ctr">
                        <a:buNone/>
                      </a:pPr>
                      <a:r>
                        <a:rPr lang="en-IN" b="1"/>
                        <a:t>Random Forest</a:t>
                      </a:r>
                      <a:endParaRPr lang="en-IN"/>
                    </a:p>
                  </a:txBody>
                  <a:tcPr anchor="ctr"/>
                </a:tc>
                <a:tc>
                  <a:txBody>
                    <a:bodyPr/>
                    <a:lstStyle/>
                    <a:p>
                      <a:pPr algn="ctr">
                        <a:buNone/>
                      </a:pPr>
                      <a:r>
                        <a:rPr lang="en-IN"/>
                        <a:t>73.21</a:t>
                      </a:r>
                    </a:p>
                  </a:txBody>
                  <a:tcPr anchor="ctr"/>
                </a:tc>
                <a:tc>
                  <a:txBody>
                    <a:bodyPr/>
                    <a:lstStyle/>
                    <a:p>
                      <a:pPr algn="ctr">
                        <a:buNone/>
                      </a:pPr>
                      <a:r>
                        <a:rPr lang="en-IN" b="1"/>
                        <a:t>76.00</a:t>
                      </a:r>
                      <a:endParaRPr lang="en-IN"/>
                    </a:p>
                  </a:txBody>
                  <a:tcPr anchor="ctr"/>
                </a:tc>
                <a:tc>
                  <a:txBody>
                    <a:bodyPr/>
                    <a:lstStyle/>
                    <a:p>
                      <a:pPr algn="ctr">
                        <a:buNone/>
                      </a:pPr>
                      <a:r>
                        <a:rPr lang="en-IN"/>
                        <a:t>67.81</a:t>
                      </a:r>
                    </a:p>
                  </a:txBody>
                  <a:tcPr anchor="ctr"/>
                </a:tc>
                <a:tc>
                  <a:txBody>
                    <a:bodyPr/>
                    <a:lstStyle/>
                    <a:p>
                      <a:pPr algn="ctr">
                        <a:buNone/>
                      </a:pPr>
                      <a:r>
                        <a:rPr lang="en-IN"/>
                        <a:t>71.67</a:t>
                      </a:r>
                    </a:p>
                  </a:txBody>
                  <a:tcPr anchor="ctr"/>
                </a:tc>
                <a:tc>
                  <a:txBody>
                    <a:bodyPr/>
                    <a:lstStyle/>
                    <a:p>
                      <a:pPr algn="ctr">
                        <a:buNone/>
                      </a:pPr>
                      <a:r>
                        <a:rPr lang="en-IN"/>
                        <a:t>79.77</a:t>
                      </a:r>
                    </a:p>
                  </a:txBody>
                  <a:tcPr anchor="ctr"/>
                </a:tc>
                <a:extLst>
                  <a:ext uri="{0D108BD9-81ED-4DB2-BD59-A6C34878D82A}">
                    <a16:rowId xmlns:a16="http://schemas.microsoft.com/office/drawing/2014/main" val="4053466525"/>
                  </a:ext>
                </a:extLst>
              </a:tr>
              <a:tr h="541867">
                <a:tc>
                  <a:txBody>
                    <a:bodyPr/>
                    <a:lstStyle/>
                    <a:p>
                      <a:pPr algn="ctr">
                        <a:buNone/>
                      </a:pPr>
                      <a:r>
                        <a:rPr lang="en-IN" b="1"/>
                        <a:t>XGBoost</a:t>
                      </a:r>
                      <a:endParaRPr lang="en-IN"/>
                    </a:p>
                  </a:txBody>
                  <a:tcPr anchor="ctr"/>
                </a:tc>
                <a:tc>
                  <a:txBody>
                    <a:bodyPr/>
                    <a:lstStyle/>
                    <a:p>
                      <a:pPr algn="ctr">
                        <a:buNone/>
                      </a:pPr>
                      <a:r>
                        <a:rPr lang="en-IN"/>
                        <a:t>73.21</a:t>
                      </a:r>
                    </a:p>
                  </a:txBody>
                  <a:tcPr anchor="ctr"/>
                </a:tc>
                <a:tc>
                  <a:txBody>
                    <a:bodyPr/>
                    <a:lstStyle/>
                    <a:p>
                      <a:pPr algn="ctr">
                        <a:buNone/>
                      </a:pPr>
                      <a:r>
                        <a:rPr lang="en-IN"/>
                        <a:t>75.06</a:t>
                      </a:r>
                    </a:p>
                  </a:txBody>
                  <a:tcPr anchor="ctr"/>
                </a:tc>
                <a:tc>
                  <a:txBody>
                    <a:bodyPr/>
                    <a:lstStyle/>
                    <a:p>
                      <a:pPr algn="ctr">
                        <a:buNone/>
                      </a:pPr>
                      <a:r>
                        <a:rPr lang="en-IN"/>
                        <a:t>69.48</a:t>
                      </a:r>
                    </a:p>
                  </a:txBody>
                  <a:tcPr anchor="ctr"/>
                </a:tc>
                <a:tc>
                  <a:txBody>
                    <a:bodyPr/>
                    <a:lstStyle/>
                    <a:p>
                      <a:pPr algn="ctr">
                        <a:buNone/>
                      </a:pPr>
                      <a:r>
                        <a:rPr lang="en-IN"/>
                        <a:t>72.16</a:t>
                      </a:r>
                    </a:p>
                  </a:txBody>
                  <a:tcPr anchor="ctr"/>
                </a:tc>
                <a:tc>
                  <a:txBody>
                    <a:bodyPr/>
                    <a:lstStyle/>
                    <a:p>
                      <a:pPr algn="ctr">
                        <a:buNone/>
                      </a:pPr>
                      <a:r>
                        <a:rPr lang="en-IN"/>
                        <a:t>79.75</a:t>
                      </a:r>
                    </a:p>
                  </a:txBody>
                  <a:tcPr anchor="ctr"/>
                </a:tc>
                <a:extLst>
                  <a:ext uri="{0D108BD9-81ED-4DB2-BD59-A6C34878D82A}">
                    <a16:rowId xmlns:a16="http://schemas.microsoft.com/office/drawing/2014/main" val="1423764876"/>
                  </a:ext>
                </a:extLst>
              </a:tr>
              <a:tr h="921174">
                <a:tc>
                  <a:txBody>
                    <a:bodyPr/>
                    <a:lstStyle/>
                    <a:p>
                      <a:pPr algn="ctr">
                        <a:buNone/>
                      </a:pPr>
                      <a:r>
                        <a:rPr lang="en-IN" b="1"/>
                        <a:t>Deep Neural Network</a:t>
                      </a:r>
                      <a:endParaRPr lang="en-IN"/>
                    </a:p>
                  </a:txBody>
                  <a:tcPr anchor="ctr"/>
                </a:tc>
                <a:tc>
                  <a:txBody>
                    <a:bodyPr/>
                    <a:lstStyle/>
                    <a:p>
                      <a:pPr algn="ctr">
                        <a:buNone/>
                      </a:pPr>
                      <a:r>
                        <a:rPr lang="en-IN"/>
                        <a:t>72.52</a:t>
                      </a:r>
                    </a:p>
                  </a:txBody>
                  <a:tcPr anchor="ctr"/>
                </a:tc>
                <a:tc>
                  <a:txBody>
                    <a:bodyPr/>
                    <a:lstStyle/>
                    <a:p>
                      <a:pPr algn="ctr">
                        <a:buNone/>
                      </a:pPr>
                      <a:r>
                        <a:rPr lang="en-IN"/>
                        <a:t>72.89</a:t>
                      </a:r>
                    </a:p>
                  </a:txBody>
                  <a:tcPr anchor="ctr"/>
                </a:tc>
                <a:tc>
                  <a:txBody>
                    <a:bodyPr/>
                    <a:lstStyle/>
                    <a:p>
                      <a:pPr algn="ctr">
                        <a:buNone/>
                      </a:pPr>
                      <a:r>
                        <a:rPr lang="en-IN"/>
                        <a:t>71.67</a:t>
                      </a:r>
                    </a:p>
                  </a:txBody>
                  <a:tcPr anchor="ctr"/>
                </a:tc>
                <a:tc>
                  <a:txBody>
                    <a:bodyPr/>
                    <a:lstStyle/>
                    <a:p>
                      <a:pPr algn="ctr">
                        <a:buNone/>
                      </a:pPr>
                      <a:r>
                        <a:rPr lang="en-IN"/>
                        <a:t>72.27</a:t>
                      </a:r>
                    </a:p>
                  </a:txBody>
                  <a:tcPr anchor="ctr"/>
                </a:tc>
                <a:tc>
                  <a:txBody>
                    <a:bodyPr/>
                    <a:lstStyle/>
                    <a:p>
                      <a:pPr algn="ctr">
                        <a:buNone/>
                      </a:pPr>
                      <a:r>
                        <a:rPr lang="en-IN"/>
                        <a:t>78.67</a:t>
                      </a:r>
                    </a:p>
                  </a:txBody>
                  <a:tcPr anchor="ctr"/>
                </a:tc>
                <a:extLst>
                  <a:ext uri="{0D108BD9-81ED-4DB2-BD59-A6C34878D82A}">
                    <a16:rowId xmlns:a16="http://schemas.microsoft.com/office/drawing/2014/main" val="2694357775"/>
                  </a:ext>
                </a:extLst>
              </a:tr>
              <a:tr h="921174">
                <a:tc>
                  <a:txBody>
                    <a:bodyPr/>
                    <a:lstStyle/>
                    <a:p>
                      <a:pPr algn="ctr">
                        <a:buNone/>
                      </a:pPr>
                      <a:r>
                        <a:rPr lang="en-IN" b="1" dirty="0"/>
                        <a:t>Logistic Regression</a:t>
                      </a:r>
                      <a:endParaRPr lang="en-IN" dirty="0"/>
                    </a:p>
                  </a:txBody>
                  <a:tcPr anchor="ctr"/>
                </a:tc>
                <a:tc>
                  <a:txBody>
                    <a:bodyPr/>
                    <a:lstStyle/>
                    <a:p>
                      <a:pPr algn="ctr">
                        <a:buNone/>
                      </a:pPr>
                      <a:r>
                        <a:rPr lang="en-IN"/>
                        <a:t>72.09</a:t>
                      </a:r>
                    </a:p>
                  </a:txBody>
                  <a:tcPr anchor="ctr"/>
                </a:tc>
                <a:tc>
                  <a:txBody>
                    <a:bodyPr/>
                    <a:lstStyle/>
                    <a:p>
                      <a:pPr algn="ctr">
                        <a:buNone/>
                      </a:pPr>
                      <a:r>
                        <a:rPr lang="en-IN"/>
                        <a:t>75.82</a:t>
                      </a:r>
                    </a:p>
                  </a:txBody>
                  <a:tcPr anchor="ctr"/>
                </a:tc>
                <a:tc>
                  <a:txBody>
                    <a:bodyPr/>
                    <a:lstStyle/>
                    <a:p>
                      <a:pPr algn="ctr">
                        <a:buNone/>
                      </a:pPr>
                      <a:r>
                        <a:rPr lang="en-IN"/>
                        <a:t>64.82</a:t>
                      </a:r>
                    </a:p>
                  </a:txBody>
                  <a:tcPr anchor="ctr"/>
                </a:tc>
                <a:tc>
                  <a:txBody>
                    <a:bodyPr/>
                    <a:lstStyle/>
                    <a:p>
                      <a:pPr algn="ctr">
                        <a:buNone/>
                      </a:pPr>
                      <a:r>
                        <a:rPr lang="en-IN"/>
                        <a:t>69.89</a:t>
                      </a:r>
                    </a:p>
                  </a:txBody>
                  <a:tcPr anchor="ctr"/>
                </a:tc>
                <a:tc>
                  <a:txBody>
                    <a:bodyPr/>
                    <a:lstStyle/>
                    <a:p>
                      <a:pPr algn="ctr">
                        <a:buNone/>
                      </a:pPr>
                      <a:r>
                        <a:rPr lang="en-IN" dirty="0"/>
                        <a:t>77.72</a:t>
                      </a:r>
                    </a:p>
                  </a:txBody>
                  <a:tcPr anchor="ctr"/>
                </a:tc>
                <a:extLst>
                  <a:ext uri="{0D108BD9-81ED-4DB2-BD59-A6C34878D82A}">
                    <a16:rowId xmlns:a16="http://schemas.microsoft.com/office/drawing/2014/main" val="2851410887"/>
                  </a:ext>
                </a:extLst>
              </a:tr>
            </a:tbl>
          </a:graphicData>
        </a:graphic>
      </p:graphicFrame>
    </p:spTree>
    <p:extLst>
      <p:ext uri="{BB962C8B-B14F-4D97-AF65-F5344CB8AC3E}">
        <p14:creationId xmlns:p14="http://schemas.microsoft.com/office/powerpoint/2010/main" val="1692435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69946243-5088-F770-3D8D-869D303E4896}"/>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29D65097-36AE-EB33-C4A4-C6F4702A2456}"/>
              </a:ext>
            </a:extLst>
          </p:cNvPr>
          <p:cNvSpPr txBox="1">
            <a:spLocks noGrp="1"/>
          </p:cNvSpPr>
          <p:nvPr>
            <p:ph type="title"/>
          </p:nvPr>
        </p:nvSpPr>
        <p:spPr>
          <a:xfrm>
            <a:off x="534259" y="309562"/>
            <a:ext cx="3601720"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a:solidFill>
                  <a:srgbClr val="04A2B9"/>
                </a:solidFill>
                <a:latin typeface="Proxima Nova"/>
                <a:ea typeface="Proxima Nova"/>
                <a:cs typeface="Proxima Nova"/>
              </a:rPr>
              <a:t>RESULTS</a:t>
            </a:r>
            <a:endParaRPr lang="en-US" sz="2400" b="1">
              <a:latin typeface="Proxima Nova"/>
              <a:ea typeface="Proxima Nova"/>
              <a:cs typeface="Proxima Nova"/>
              <a:sym typeface="Proxima Nova"/>
            </a:endParaRPr>
          </a:p>
        </p:txBody>
      </p:sp>
      <p:pic>
        <p:nvPicPr>
          <p:cNvPr id="4098" name="Picture 2">
            <a:extLst>
              <a:ext uri="{FF2B5EF4-FFF2-40B4-BE49-F238E27FC236}">
                <a16:creationId xmlns:a16="http://schemas.microsoft.com/office/drawing/2014/main" id="{CFB5D3B7-B2DA-B1C8-A11A-A01881AB12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4950" y="1098971"/>
            <a:ext cx="9182100" cy="5449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0130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05430372-3A38-BA38-3ADD-A12794A10D6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DFCBC5F9-13EC-F7E6-DF80-5429AC2DD571}"/>
              </a:ext>
            </a:extLst>
          </p:cNvPr>
          <p:cNvPicPr>
            <a:picLocks noChangeAspect="1"/>
          </p:cNvPicPr>
          <p:nvPr/>
        </p:nvPicPr>
        <p:blipFill>
          <a:blip r:embed="rId4"/>
          <a:stretch>
            <a:fillRect/>
          </a:stretch>
        </p:blipFill>
        <p:spPr>
          <a:xfrm>
            <a:off x="368728" y="1459498"/>
            <a:ext cx="4917440" cy="4917440"/>
          </a:xfrm>
          <a:prstGeom prst="ellipse">
            <a:avLst/>
          </a:prstGeom>
          <a:ln>
            <a:noFill/>
          </a:ln>
          <a:effectLst>
            <a:softEdge rad="112500"/>
          </a:effectLst>
        </p:spPr>
      </p:pic>
      <p:sp>
        <p:nvSpPr>
          <p:cNvPr id="8" name="Google Shape;105;p4">
            <a:extLst>
              <a:ext uri="{FF2B5EF4-FFF2-40B4-BE49-F238E27FC236}">
                <a16:creationId xmlns:a16="http://schemas.microsoft.com/office/drawing/2014/main" id="{5CB7B844-B6EF-5640-4CB2-90D3E656067A}"/>
              </a:ext>
            </a:extLst>
          </p:cNvPr>
          <p:cNvSpPr txBox="1">
            <a:spLocks noGrp="1"/>
          </p:cNvSpPr>
          <p:nvPr>
            <p:ph type="title"/>
          </p:nvPr>
        </p:nvSpPr>
        <p:spPr>
          <a:xfrm>
            <a:off x="534259" y="124896"/>
            <a:ext cx="3905661" cy="751488"/>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a:solidFill>
                  <a:srgbClr val="04A2B9"/>
                </a:solidFill>
                <a:latin typeface="Proxima Nova"/>
                <a:ea typeface="Proxima Nova"/>
                <a:cs typeface="Proxima Nova"/>
                <a:sym typeface="Proxima Nova"/>
              </a:rPr>
              <a:t>TOOLS AND TECHNOLOGIES USED</a:t>
            </a:r>
            <a:endParaRPr lang="en-US" sz="2400" b="1">
              <a:latin typeface="Proxima Nova"/>
              <a:ea typeface="Proxima Nova"/>
              <a:cs typeface="Proxima Nova"/>
              <a:sym typeface="Proxima Nova"/>
            </a:endParaRPr>
          </a:p>
        </p:txBody>
      </p:sp>
      <p:graphicFrame>
        <p:nvGraphicFramePr>
          <p:cNvPr id="7" name="Diagram 6">
            <a:extLst>
              <a:ext uri="{FF2B5EF4-FFF2-40B4-BE49-F238E27FC236}">
                <a16:creationId xmlns:a16="http://schemas.microsoft.com/office/drawing/2014/main" id="{E056F860-7A43-1214-67B1-7134B52B5422}"/>
              </a:ext>
            </a:extLst>
          </p:cNvPr>
          <p:cNvGraphicFramePr/>
          <p:nvPr>
            <p:extLst>
              <p:ext uri="{D42A27DB-BD31-4B8C-83A1-F6EECF244321}">
                <p14:modId xmlns:p14="http://schemas.microsoft.com/office/powerpoint/2010/main" val="1290541552"/>
              </p:ext>
            </p:extLst>
          </p:nvPr>
        </p:nvGraphicFramePr>
        <p:xfrm>
          <a:off x="4069938" y="1242596"/>
          <a:ext cx="6984141" cy="535124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536456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711BDF4B-EB3B-131F-B935-D719EDC835E3}"/>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55054C4D-C404-4174-A9E7-B49C2983E28D}"/>
              </a:ext>
            </a:extLst>
          </p:cNvPr>
          <p:cNvSpPr txBox="1">
            <a:spLocks noGrp="1"/>
          </p:cNvSpPr>
          <p:nvPr>
            <p:ph type="title"/>
          </p:nvPr>
        </p:nvSpPr>
        <p:spPr>
          <a:xfrm>
            <a:off x="534259" y="309562"/>
            <a:ext cx="390566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a:solidFill>
                  <a:srgbClr val="04A2B9"/>
                </a:solidFill>
                <a:latin typeface="Proxima Nova"/>
                <a:ea typeface="Proxima Nova"/>
                <a:cs typeface="Proxima Nova"/>
                <a:sym typeface="Proxima Nova"/>
              </a:rPr>
              <a:t>GANTT CHART</a:t>
            </a:r>
            <a:endParaRPr lang="en-US" sz="2400" b="1">
              <a:latin typeface="Proxima Nova"/>
              <a:ea typeface="Proxima Nova"/>
              <a:cs typeface="Proxima Nova"/>
              <a:sym typeface="Proxima Nova"/>
            </a:endParaRPr>
          </a:p>
        </p:txBody>
      </p:sp>
      <p:pic>
        <p:nvPicPr>
          <p:cNvPr id="1026" name="Picture 2">
            <a:extLst>
              <a:ext uri="{FF2B5EF4-FFF2-40B4-BE49-F238E27FC236}">
                <a16:creationId xmlns:a16="http://schemas.microsoft.com/office/drawing/2014/main" id="{D3053E3E-A3FF-C91D-3785-B03ECE9299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324058"/>
            <a:ext cx="11369040" cy="4711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5894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21378A24-2D0D-9083-BAC6-0336C3EC92C4}"/>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12B5B2F0-91AA-8BB6-80A6-BA6E2315E03F}"/>
              </a:ext>
            </a:extLst>
          </p:cNvPr>
          <p:cNvSpPr txBox="1">
            <a:spLocks noGrp="1"/>
          </p:cNvSpPr>
          <p:nvPr>
            <p:ph type="title"/>
          </p:nvPr>
        </p:nvSpPr>
        <p:spPr>
          <a:xfrm>
            <a:off x="534259" y="309562"/>
            <a:ext cx="308270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a:solidFill>
                  <a:srgbClr val="04A2B9"/>
                </a:solidFill>
                <a:latin typeface="Proxima Nova"/>
                <a:ea typeface="Proxima Nova"/>
                <a:cs typeface="Proxima Nova"/>
                <a:sym typeface="Proxima Nova"/>
              </a:rPr>
              <a:t>FUTURE SCOPE</a:t>
            </a:r>
            <a:endParaRPr lang="en-US" sz="2400" b="1">
              <a:latin typeface="Proxima Nova"/>
              <a:ea typeface="Proxima Nova"/>
              <a:cs typeface="Proxima Nova"/>
              <a:sym typeface="Proxima Nova"/>
            </a:endParaRPr>
          </a:p>
        </p:txBody>
      </p:sp>
      <p:graphicFrame>
        <p:nvGraphicFramePr>
          <p:cNvPr id="9" name="Diagram 8">
            <a:extLst>
              <a:ext uri="{FF2B5EF4-FFF2-40B4-BE49-F238E27FC236}">
                <a16:creationId xmlns:a16="http://schemas.microsoft.com/office/drawing/2014/main" id="{50054303-3F96-941E-1C6F-5DEAC9B7677C}"/>
              </a:ext>
            </a:extLst>
          </p:cNvPr>
          <p:cNvGraphicFramePr/>
          <p:nvPr>
            <p:extLst>
              <p:ext uri="{D42A27DB-BD31-4B8C-83A1-F6EECF244321}">
                <p14:modId xmlns:p14="http://schemas.microsoft.com/office/powerpoint/2010/main" val="2341100282"/>
              </p:ext>
            </p:extLst>
          </p:nvPr>
        </p:nvGraphicFramePr>
        <p:xfrm>
          <a:off x="1584960" y="1229360"/>
          <a:ext cx="8869680" cy="531907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08616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98434E7A-A022-CA79-285F-EA85A6A37A21}"/>
            </a:ext>
          </a:extLst>
        </p:cNvPr>
        <p:cNvGrpSpPr/>
        <p:nvPr/>
      </p:nvGrpSpPr>
      <p:grpSpPr>
        <a:xfrm>
          <a:off x="0" y="0"/>
          <a:ext cx="0" cy="0"/>
          <a:chOff x="0" y="0"/>
          <a:chExt cx="0" cy="0"/>
        </a:xfrm>
      </p:grpSpPr>
      <p:sp>
        <p:nvSpPr>
          <p:cNvPr id="8" name="Google Shape;105;p4">
            <a:extLst>
              <a:ext uri="{FF2B5EF4-FFF2-40B4-BE49-F238E27FC236}">
                <a16:creationId xmlns:a16="http://schemas.microsoft.com/office/drawing/2014/main" id="{CB433825-570E-49DF-F0A4-6F1256194D4B}"/>
              </a:ext>
            </a:extLst>
          </p:cNvPr>
          <p:cNvSpPr txBox="1">
            <a:spLocks noGrp="1"/>
          </p:cNvSpPr>
          <p:nvPr>
            <p:ph type="title"/>
          </p:nvPr>
        </p:nvSpPr>
        <p:spPr>
          <a:xfrm>
            <a:off x="534259" y="309562"/>
            <a:ext cx="3082701"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a:solidFill>
                  <a:srgbClr val="04A2B9"/>
                </a:solidFill>
                <a:latin typeface="Proxima Nova"/>
                <a:ea typeface="Proxima Nova"/>
                <a:cs typeface="Proxima Nova"/>
                <a:sym typeface="Proxima Nova"/>
              </a:rPr>
              <a:t>CONCLUSION</a:t>
            </a:r>
            <a:endParaRPr lang="en-US" sz="2400" b="1">
              <a:latin typeface="Proxima Nova"/>
              <a:ea typeface="Proxima Nova"/>
              <a:cs typeface="Proxima Nova"/>
              <a:sym typeface="Proxima Nova"/>
            </a:endParaRPr>
          </a:p>
        </p:txBody>
      </p:sp>
      <p:sp>
        <p:nvSpPr>
          <p:cNvPr id="3" name="TextBox 2">
            <a:extLst>
              <a:ext uri="{FF2B5EF4-FFF2-40B4-BE49-F238E27FC236}">
                <a16:creationId xmlns:a16="http://schemas.microsoft.com/office/drawing/2014/main" id="{8A2F8046-5CC1-2B61-0D8E-5DAE07F9508A}"/>
              </a:ext>
            </a:extLst>
          </p:cNvPr>
          <p:cNvSpPr txBox="1"/>
          <p:nvPr/>
        </p:nvSpPr>
        <p:spPr>
          <a:xfrm>
            <a:off x="788259" y="1931779"/>
            <a:ext cx="10225181" cy="3046988"/>
          </a:xfrm>
          <a:prstGeom prst="rect">
            <a:avLst/>
          </a:prstGeom>
          <a:noFill/>
        </p:spPr>
        <p:txBody>
          <a:bodyPr wrap="square">
            <a:spAutoFit/>
          </a:bodyPr>
          <a:lstStyle/>
          <a:p>
            <a:r>
              <a:rPr lang="en-US" sz="2400"/>
              <a:t>This work focuses on developing a machine learning-based system for heart disease prediction using clinical data. Various classification algorithms were trained and evaluated, achieving an accuracy of around 73%. The results show that machine learning models can effectively identify heart disease risk from clinical features. In the next phase, the system will be enhanced by integrating medical image data to build a complete multimodal prediction framework for improved diagnostic accuracy.</a:t>
            </a:r>
            <a:endParaRPr lang="en-IN" sz="2400"/>
          </a:p>
        </p:txBody>
      </p:sp>
    </p:spTree>
    <p:extLst>
      <p:ext uri="{BB962C8B-B14F-4D97-AF65-F5344CB8AC3E}">
        <p14:creationId xmlns:p14="http://schemas.microsoft.com/office/powerpoint/2010/main" val="1415339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a:solidFill>
                  <a:srgbClr val="04A2B9"/>
                </a:solidFill>
                <a:latin typeface="Proxima Nova"/>
                <a:ea typeface="Proxima Nova"/>
                <a:cs typeface="Proxima Nova"/>
                <a:sym typeface="Proxima Nova"/>
              </a:rPr>
              <a:t>REFERENCES</a:t>
            </a:r>
            <a:endParaRPr lang="en-US" sz="2400" b="1">
              <a:latin typeface="Proxima Nova" panose="02000506030000020004"/>
              <a:ea typeface="Proxima Nova" panose="02000506030000020004"/>
              <a:cs typeface="Proxima Nova" panose="02000506030000020004"/>
              <a:sym typeface="Proxima Nova" panose="02000506030000020004"/>
            </a:endParaRPr>
          </a:p>
        </p:txBody>
      </p:sp>
      <p:sp>
        <p:nvSpPr>
          <p:cNvPr id="3" name="TextBox 2">
            <a:extLst>
              <a:ext uri="{FF2B5EF4-FFF2-40B4-BE49-F238E27FC236}">
                <a16:creationId xmlns:a16="http://schemas.microsoft.com/office/drawing/2014/main" id="{4A5532C0-0CDE-5B29-BE24-EB75896B3361}"/>
              </a:ext>
            </a:extLst>
          </p:cNvPr>
          <p:cNvSpPr txBox="1"/>
          <p:nvPr/>
        </p:nvSpPr>
        <p:spPr>
          <a:xfrm>
            <a:off x="534259" y="1451122"/>
            <a:ext cx="10867292" cy="5355312"/>
          </a:xfrm>
          <a:prstGeom prst="rect">
            <a:avLst/>
          </a:prstGeom>
          <a:noFill/>
        </p:spPr>
        <p:txBody>
          <a:bodyPr wrap="square">
            <a:spAutoFit/>
          </a:bodyPr>
          <a:lstStyle/>
          <a:p>
            <a:r>
              <a:rPr lang="en-IN" sz="1800" dirty="0"/>
              <a:t>[1] F. </a:t>
            </a:r>
            <a:r>
              <a:rPr lang="en-IN" sz="1800" dirty="0" err="1"/>
              <a:t>Girlanda</a:t>
            </a:r>
            <a:r>
              <a:rPr lang="en-IN" sz="1800" dirty="0"/>
              <a:t>, O. Demler, B. Menze, and N. Davoudi, “Enhancing Cardiovascular Disease Prediction through Multi-Modal Self-Supervised Learning,” Nov. 2024, [Online]. Available: </a:t>
            </a:r>
            <a:r>
              <a:rPr lang="en-IN" sz="1800" dirty="0">
                <a:hlinkClick r:id="rId4"/>
              </a:rPr>
              <a:t>http://arxiv.org/abs/2411.05900</a:t>
            </a:r>
            <a:endParaRPr lang="en-IN" sz="1800" dirty="0"/>
          </a:p>
          <a:p>
            <a:endParaRPr lang="en-IN" sz="1800" dirty="0"/>
          </a:p>
          <a:p>
            <a:r>
              <a:rPr lang="en-IN" sz="1800" dirty="0"/>
              <a:t>[2] A. Tiwari, A. Chugh, and A. Sharma, "Ensemble framework for cardiovascular disease prediction," </a:t>
            </a:r>
            <a:r>
              <a:rPr lang="en-IN" sz="1800" dirty="0" err="1"/>
              <a:t>arXiv</a:t>
            </a:r>
            <a:r>
              <a:rPr lang="en-IN" sz="1800" dirty="0"/>
              <a:t> preprint arXiv:2306.09989, Jun. 2023. [Online]. </a:t>
            </a:r>
          </a:p>
          <a:p>
            <a:r>
              <a:rPr lang="en-IN" sz="1800" dirty="0"/>
              <a:t>Available: https://doi.org/10.48550/arXiv.2306.09989</a:t>
            </a:r>
          </a:p>
          <a:p>
            <a:endParaRPr lang="en-IN" sz="1800" dirty="0"/>
          </a:p>
          <a:p>
            <a:r>
              <a:rPr lang="en-IN" sz="1800" dirty="0"/>
              <a:t>[3] E. I. </a:t>
            </a:r>
            <a:r>
              <a:rPr lang="en-IN" sz="1800" dirty="0" err="1"/>
              <a:t>Elsedimy</a:t>
            </a:r>
            <a:r>
              <a:rPr lang="en-IN" sz="1800" dirty="0"/>
              <a:t>, S. M. M. </a:t>
            </a:r>
            <a:r>
              <a:rPr lang="en-IN" sz="1800" dirty="0" err="1"/>
              <a:t>AboHashish</a:t>
            </a:r>
            <a:r>
              <a:rPr lang="en-IN" sz="1800" dirty="0"/>
              <a:t>, and F. </a:t>
            </a:r>
            <a:r>
              <a:rPr lang="en-IN" sz="1800" dirty="0" err="1"/>
              <a:t>Algarni</a:t>
            </a:r>
            <a:r>
              <a:rPr lang="en-IN" sz="1800" dirty="0"/>
              <a:t>, “New cardiovascular disease prediction approach using support vector machine and quantum-behaved particle swarm optimization,” </a:t>
            </a:r>
            <a:r>
              <a:rPr lang="en-IN" sz="1800" dirty="0" err="1"/>
              <a:t>Multimed</a:t>
            </a:r>
            <a:r>
              <a:rPr lang="en-IN" sz="1800" dirty="0"/>
              <a:t> Tools Appl, vol. 83, no. 8, pp. 23901–23928, Mar. 2024, </a:t>
            </a:r>
            <a:r>
              <a:rPr lang="en-IN" sz="1800" dirty="0" err="1"/>
              <a:t>doi</a:t>
            </a:r>
            <a:r>
              <a:rPr lang="en-IN" sz="1800" dirty="0"/>
              <a:t>: 10.1007/s11042-023-16194-z.</a:t>
            </a:r>
          </a:p>
          <a:p>
            <a:endParaRPr lang="en-IN" sz="1800" dirty="0"/>
          </a:p>
          <a:p>
            <a:r>
              <a:rPr lang="en-IN" sz="1800" dirty="0"/>
              <a:t>[4] A. Rahim, Y. Rasheed, F. Azam, M. W. Anwar, M. A. Rahim, and A. W. Muzaffar, “An Integrated Machine Learning Framework for Effective Prediction of Cardiovascular Diseases,” IEEE Access, vol. 9, pp. 106575–106588, 2021, </a:t>
            </a:r>
            <a:r>
              <a:rPr lang="en-IN" sz="1800" dirty="0" err="1"/>
              <a:t>doi</a:t>
            </a:r>
            <a:r>
              <a:rPr lang="en-IN" sz="1800" dirty="0"/>
              <a:t>: 10.1109/ACCESS.2021.3098688.</a:t>
            </a:r>
          </a:p>
          <a:p>
            <a:endParaRPr lang="en-IN" sz="1800" dirty="0"/>
          </a:p>
          <a:p>
            <a:r>
              <a:rPr lang="en-IN" sz="1800" dirty="0"/>
              <a:t>[5] A. </a:t>
            </a:r>
            <a:r>
              <a:rPr lang="en-IN" sz="1800" dirty="0" err="1"/>
              <a:t>Ogunpola</a:t>
            </a:r>
            <a:r>
              <a:rPr lang="en-IN" sz="1800" dirty="0"/>
              <a:t>, F. Saeed, S. </a:t>
            </a:r>
            <a:r>
              <a:rPr lang="en-IN" sz="1800" dirty="0" err="1"/>
              <a:t>Basurra</a:t>
            </a:r>
            <a:r>
              <a:rPr lang="en-IN" sz="1800" dirty="0"/>
              <a:t>, A. M. Albarrak, and S. N. Qasem, “Machine Learning-Based Predictive Models for Detection of Cardiovascular Diseases,” Diagnostics, vol. 14, no. 2, Jan. 2024, </a:t>
            </a:r>
            <a:r>
              <a:rPr lang="en-IN" sz="1800" dirty="0" err="1"/>
              <a:t>doi</a:t>
            </a:r>
            <a:r>
              <a:rPr lang="en-IN" sz="1800" dirty="0"/>
              <a:t>: 10.3390/diagnostics14020144.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5820B194-2628-47E8-72C4-FCC2D38AEF97}"/>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5A569F5E-384F-B741-B8FD-32CFEC11F57F}"/>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a:solidFill>
                  <a:srgbClr val="04A2B9"/>
                </a:solidFill>
                <a:latin typeface="Proxima Nova"/>
                <a:ea typeface="Proxima Nova"/>
                <a:cs typeface="Proxima Nova"/>
                <a:sym typeface="Proxima Nova"/>
              </a:rPr>
              <a:t>REFERENCES</a:t>
            </a:r>
            <a:endParaRPr sz="2400" b="1">
              <a:latin typeface="Proxima Nova" panose="02000506030000020004"/>
              <a:ea typeface="Proxima Nova" panose="02000506030000020004"/>
              <a:cs typeface="Proxima Nova" panose="02000506030000020004"/>
              <a:sym typeface="Proxima Nova" panose="02000506030000020004"/>
            </a:endParaRPr>
          </a:p>
        </p:txBody>
      </p:sp>
      <p:sp>
        <p:nvSpPr>
          <p:cNvPr id="3" name="TextBox 2">
            <a:extLst>
              <a:ext uri="{FF2B5EF4-FFF2-40B4-BE49-F238E27FC236}">
                <a16:creationId xmlns:a16="http://schemas.microsoft.com/office/drawing/2014/main" id="{D96B226D-1D7C-7300-CDB0-B707150D2C55}"/>
              </a:ext>
            </a:extLst>
          </p:cNvPr>
          <p:cNvSpPr txBox="1"/>
          <p:nvPr/>
        </p:nvSpPr>
        <p:spPr>
          <a:xfrm>
            <a:off x="534259" y="1470125"/>
            <a:ext cx="10867292" cy="5078313"/>
          </a:xfrm>
          <a:prstGeom prst="rect">
            <a:avLst/>
          </a:prstGeom>
          <a:noFill/>
        </p:spPr>
        <p:txBody>
          <a:bodyPr wrap="square">
            <a:spAutoFit/>
          </a:bodyPr>
          <a:lstStyle/>
          <a:p>
            <a:r>
              <a:rPr lang="en-IN" sz="1800"/>
              <a:t>[6] L. </a:t>
            </a:r>
            <a:r>
              <a:rPr lang="en-IN" sz="1800" err="1"/>
              <a:t>Tokgozoglu</a:t>
            </a:r>
            <a:r>
              <a:rPr lang="en-IN" sz="1800"/>
              <a:t> and C. Torp-Pedersen, “SCORE2 Risk Prediction Algorithms for Cardiovascular Disease,” Jul. 01, 2021, Oxford University Press. </a:t>
            </a:r>
            <a:r>
              <a:rPr lang="en-IN" sz="1800" err="1"/>
              <a:t>doi</a:t>
            </a:r>
            <a:r>
              <a:rPr lang="en-IN" sz="1800"/>
              <a:t>: 10.1093/</a:t>
            </a:r>
            <a:r>
              <a:rPr lang="en-IN" sz="1800" err="1"/>
              <a:t>eurheartj</a:t>
            </a:r>
            <a:r>
              <a:rPr lang="en-IN" sz="1800"/>
              <a:t>/ehab310.</a:t>
            </a:r>
          </a:p>
          <a:p>
            <a:endParaRPr lang="en-IN" sz="1800"/>
          </a:p>
          <a:p>
            <a:r>
              <a:rPr lang="en-IN" sz="1800"/>
              <a:t>[7] P. </a:t>
            </a:r>
            <a:r>
              <a:rPr lang="en-IN" sz="1800" err="1"/>
              <a:t>Guleria</a:t>
            </a:r>
            <a:r>
              <a:rPr lang="en-IN" sz="1800"/>
              <a:t>, P. Naga Srinivasu, S. Ahmed, N. </a:t>
            </a:r>
            <a:r>
              <a:rPr lang="en-IN" sz="1800" err="1"/>
              <a:t>Almusallam</a:t>
            </a:r>
            <a:r>
              <a:rPr lang="en-IN" sz="1800"/>
              <a:t>, and F. K. </a:t>
            </a:r>
            <a:r>
              <a:rPr lang="en-IN" sz="1800" err="1"/>
              <a:t>Alarfaj</a:t>
            </a:r>
            <a:r>
              <a:rPr lang="en-IN" sz="1800"/>
              <a:t>, “XAI Framework for Cardiovascular Disease Prediction Using Classification Techniques,” Electronics (Switzerland), vol. 11, no. 24, Dec. 2022, </a:t>
            </a:r>
            <a:r>
              <a:rPr lang="en-IN" sz="1800" err="1"/>
              <a:t>doi</a:t>
            </a:r>
            <a:r>
              <a:rPr lang="en-IN" sz="1800"/>
              <a:t>: 10.3390/electronics11244086.</a:t>
            </a:r>
          </a:p>
          <a:p>
            <a:endParaRPr lang="en-IN" sz="1800"/>
          </a:p>
          <a:p>
            <a:r>
              <a:rPr lang="en-IN" sz="1800"/>
              <a:t>[8] C. M. Bhatt, P. Patel, T. </a:t>
            </a:r>
            <a:r>
              <a:rPr lang="en-IN" sz="1800" err="1"/>
              <a:t>Ghetia</a:t>
            </a:r>
            <a:r>
              <a:rPr lang="en-IN" sz="1800"/>
              <a:t>, and P. L. Mazzeo, “Effective Heart Disease Prediction Using Machine Learning Techniques,” Algorithms, vol. 16, no. 2, Feb. 2023, </a:t>
            </a:r>
            <a:r>
              <a:rPr lang="en-IN" sz="1800" err="1"/>
              <a:t>doi</a:t>
            </a:r>
            <a:r>
              <a:rPr lang="en-IN" sz="1800"/>
              <a:t>: 10.3390/a16020088.</a:t>
            </a:r>
          </a:p>
          <a:p>
            <a:endParaRPr lang="en-IN" sz="1800"/>
          </a:p>
          <a:p>
            <a:r>
              <a:rPr lang="en-IN" sz="1800"/>
              <a:t>[9] N. Chandrasekhar and S. </a:t>
            </a:r>
            <a:r>
              <a:rPr lang="en-IN" sz="1800" err="1"/>
              <a:t>Peddakrishna</a:t>
            </a:r>
            <a:r>
              <a:rPr lang="en-IN" sz="1800"/>
              <a:t>, “Enhancing Heart Disease Prediction Accuracy through Machine Learning Techniques and Optimization,” Processes, vol. 11, no. 4, Apr. 2023, </a:t>
            </a:r>
            <a:r>
              <a:rPr lang="en-IN" sz="1800" err="1"/>
              <a:t>doi</a:t>
            </a:r>
            <a:r>
              <a:rPr lang="en-IN" sz="1800"/>
              <a:t>: 10.3390/pr11041210.</a:t>
            </a:r>
          </a:p>
          <a:p>
            <a:endParaRPr lang="en-IN" sz="1800"/>
          </a:p>
          <a:p>
            <a:r>
              <a:rPr lang="en-IN" sz="1800"/>
              <a:t>[10] A. Garg, B. Sharma, and R. Khan, “Heart disease prediction using machine learning techniques,” in IOP Conference Series: Materials Science and Engineering, IOP Publishing Ltd, Jan. 2021. </a:t>
            </a:r>
            <a:r>
              <a:rPr lang="en-IN" sz="1800" err="1"/>
              <a:t>doi</a:t>
            </a:r>
            <a:r>
              <a:rPr lang="en-IN" sz="1800"/>
              <a:t>: 10.1088/1757-899X/1022/1/012046.</a:t>
            </a:r>
          </a:p>
          <a:p>
            <a:endParaRPr lang="en-IN" sz="1800"/>
          </a:p>
        </p:txBody>
      </p:sp>
    </p:spTree>
    <p:extLst>
      <p:ext uri="{BB962C8B-B14F-4D97-AF65-F5344CB8AC3E}">
        <p14:creationId xmlns:p14="http://schemas.microsoft.com/office/powerpoint/2010/main" val="885445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6" name="Google Shape;106;p4"/>
          <p:cNvSpPr txBox="1"/>
          <p:nvPr/>
        </p:nvSpPr>
        <p:spPr>
          <a:xfrm>
            <a:off x="4595812" y="2967350"/>
            <a:ext cx="3000375" cy="923299"/>
          </a:xfrm>
          <a:prstGeom prst="rect">
            <a:avLst/>
          </a:prstGeom>
          <a:noFill/>
          <a:ln>
            <a:noFill/>
          </a:ln>
        </p:spPr>
        <p:txBody>
          <a:bodyPr spcFirstLastPara="1" wrap="square" lIns="91425" tIns="91425" rIns="91425" bIns="91425" anchor="t" anchorCtr="0">
            <a:spAutoFit/>
          </a:bodyPr>
          <a:lstStyle/>
          <a:p>
            <a:pPr marR="0" lvl="0" algn="ctr" rtl="0">
              <a:spcBef>
                <a:spcPts val="0"/>
              </a:spcBef>
              <a:spcAft>
                <a:spcPts val="0"/>
              </a:spcAft>
              <a:buClr>
                <a:srgbClr val="000000"/>
              </a:buClr>
              <a:buSzPts val="1700"/>
            </a:pPr>
            <a:r>
              <a:rPr lang="en-IN" sz="4800" b="1">
                <a:solidFill>
                  <a:schemeClr val="tx1"/>
                </a:solidFill>
              </a:rPr>
              <a:t>Q&amp;A</a:t>
            </a:r>
            <a:endParaRPr sz="4800" b="1">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10"/>
        <p:cNvGrpSpPr/>
        <p:nvPr/>
      </p:nvGrpSpPr>
      <p:grpSpPr>
        <a:xfrm>
          <a:off x="0" y="0"/>
          <a:ext cx="0" cy="0"/>
          <a:chOff x="0" y="0"/>
          <a:chExt cx="0" cy="0"/>
        </a:xfrm>
      </p:grpSpPr>
      <p:sp>
        <p:nvSpPr>
          <p:cNvPr id="111" name="Google Shape;111;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2128</Words>
  <Application>Microsoft Office PowerPoint</Application>
  <PresentationFormat>Widescreen</PresentationFormat>
  <Paragraphs>351</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Wingdings</vt:lpstr>
      <vt:lpstr>Calibri</vt:lpstr>
      <vt:lpstr>Arial</vt:lpstr>
      <vt:lpstr>Proxima Nova</vt:lpstr>
      <vt:lpstr>Office Theme</vt:lpstr>
      <vt:lpstr>PowerPoint Presentation</vt:lpstr>
      <vt:lpstr>PowerPoint Presentation</vt:lpstr>
      <vt:lpstr>Outline</vt:lpstr>
      <vt:lpstr>INTRODUCTION</vt:lpstr>
      <vt:lpstr>ABSTRACT</vt:lpstr>
      <vt:lpstr>LITERATURE REVIEW </vt:lpstr>
      <vt:lpstr>LITERATURE REVIEW </vt:lpstr>
      <vt:lpstr>LITERATURE REVIEW </vt:lpstr>
      <vt:lpstr>KEY LIMITATIONS</vt:lpstr>
      <vt:lpstr>WORK FLOW</vt:lpstr>
      <vt:lpstr>METHODOLOGY</vt:lpstr>
      <vt:lpstr>DATASET INFORMATION Clinical Dataset</vt:lpstr>
      <vt:lpstr>DATASET INFORMATION Clinical Dataset</vt:lpstr>
      <vt:lpstr>DATASET VISUALIZATION Clinical Dataset</vt:lpstr>
      <vt:lpstr>DATASET VISUALIZATION Clinical Dataset</vt:lpstr>
      <vt:lpstr>DATASET VISUALIZATION Clinical Dataset</vt:lpstr>
      <vt:lpstr>RESULTS</vt:lpstr>
      <vt:lpstr>RESULTS</vt:lpstr>
      <vt:lpstr>TOOLS AND TECHNOLOGIES USED</vt:lpstr>
      <vt:lpstr>GANTT CHART</vt:lpstr>
      <vt:lpstr>FUTURE SCOPE</vt:lpstr>
      <vt:lpstr>CONCLUSION</vt:lpstr>
      <vt:lpstr>REFERENCES</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Shubham Pandit</cp:lastModifiedBy>
  <cp:revision>2</cp:revision>
  <dcterms:created xsi:type="dcterms:W3CDTF">2023-12-05T07:58:00Z</dcterms:created>
  <dcterms:modified xsi:type="dcterms:W3CDTF">2025-11-07T12:31:36Z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2024-01-10T05:57:01Z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bdeac77a-6f2d-4eed-8d0b-c87a56de673f</vt:lpwstr>
  </property>
  <property fmtid="{D5CDD505-2E9C-101B-9397-08002B2CF9AE}" pid="7" name="MSIP_Label_defa4170-0d19-0005-0004-bc88714345d2_ActionId">
    <vt:lpwstr>2a20089b-7995-43de-aaf1-a4eb65220026</vt:lpwstr>
  </property>
  <property fmtid="{D5CDD505-2E9C-101B-9397-08002B2CF9AE}" pid="8" name="MSIP_Label_defa4170-0d19-0005-0004-bc88714345d2_ContentBits">
    <vt:lpwstr>0</vt:lpwstr>
  </property>
  <property fmtid="{D5CDD505-2E9C-101B-9397-08002B2CF9AE}" pid="9" name="ICV">
    <vt:lpwstr>64191B4E558B4A0A9654A2ABC4C501E4_12</vt:lpwstr>
  </property>
  <property fmtid="{D5CDD505-2E9C-101B-9397-08002B2CF9AE}" pid="10" name="KSOProductBuildVer">
    <vt:lpwstr>1033-12.2.0.22549</vt:lpwstr>
  </property>
</Properties>
</file>